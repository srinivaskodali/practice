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3" r:id="rId9"/>
    <p:sldId id="266" r:id="rId10"/>
    <p:sldId id="264"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303" r:id="rId29"/>
    <p:sldId id="304" r:id="rId30"/>
    <p:sldId id="305" r:id="rId31"/>
    <p:sldId id="283" r:id="rId32"/>
    <p:sldId id="284" r:id="rId33"/>
    <p:sldId id="297" r:id="rId34"/>
    <p:sldId id="285" r:id="rId35"/>
    <p:sldId id="286" r:id="rId36"/>
    <p:sldId id="306" r:id="rId37"/>
    <p:sldId id="287" r:id="rId38"/>
    <p:sldId id="307" r:id="rId39"/>
    <p:sldId id="289" r:id="rId40"/>
    <p:sldId id="308" r:id="rId41"/>
    <p:sldId id="291" r:id="rId42"/>
    <p:sldId id="293" r:id="rId43"/>
    <p:sldId id="294" r:id="rId44"/>
    <p:sldId id="302" r:id="rId45"/>
    <p:sldId id="309" r:id="rId46"/>
    <p:sldId id="310" r:id="rId47"/>
    <p:sldId id="311" r:id="rId48"/>
    <p:sldId id="312" r:id="rId49"/>
    <p:sldId id="313" r:id="rId50"/>
    <p:sldId id="314" r:id="rId51"/>
    <p:sldId id="315" r:id="rId52"/>
    <p:sldId id="316" r:id="rId53"/>
    <p:sldId id="317" r:id="rId54"/>
    <p:sldId id="318" r:id="rId55"/>
    <p:sldId id="319" r:id="rId56"/>
    <p:sldId id="295"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888"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3/11/2013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3/11/2013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3/11/2013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3/11/2013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3/11/2013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3/11/2013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3/11/2013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3/11/2013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3/11/2013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3/11/2013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3/11/2013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3.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762000"/>
            <a:ext cx="7162800" cy="1143000"/>
          </a:xfrm>
        </p:spPr>
        <p:txBody>
          <a:bodyPr>
            <a:normAutofit fontScale="90000"/>
          </a:bodyPr>
          <a:lstStyle/>
          <a:p>
            <a:r>
              <a:rPr lang="en-US" dirty="0" smtClean="0"/>
              <a:t>What are Linked Lists</a:t>
            </a:r>
            <a:br>
              <a:rPr lang="en-US" dirty="0" smtClean="0"/>
            </a:br>
            <a:endParaRPr lang="en-US" dirty="0"/>
          </a:p>
        </p:txBody>
      </p:sp>
      <p:sp>
        <p:nvSpPr>
          <p:cNvPr id="3" name="Subtitle 2"/>
          <p:cNvSpPr>
            <a:spLocks noGrp="1"/>
          </p:cNvSpPr>
          <p:nvPr>
            <p:ph sz="half" idx="1"/>
          </p:nvPr>
        </p:nvSpPr>
        <p:spPr>
          <a:xfrm>
            <a:off x="457200" y="1920084"/>
            <a:ext cx="4953000" cy="4633115"/>
          </a:xfrm>
        </p:spPr>
        <p:txBody>
          <a:bodyPr>
            <a:normAutofit/>
          </a:bodyPr>
          <a:lstStyle/>
          <a:p>
            <a:endParaRPr lang="en-US" dirty="0" smtClean="0"/>
          </a:p>
          <a:p>
            <a:r>
              <a:rPr lang="en-US" altLang="zh-CN" dirty="0" smtClean="0">
                <a:ea typeface="宋体" charset="-122"/>
              </a:rPr>
              <a:t>A linked list is a linear data structure.</a:t>
            </a:r>
          </a:p>
          <a:p>
            <a:r>
              <a:rPr lang="en-US" altLang="zh-CN" dirty="0" smtClean="0">
                <a:ea typeface="宋体" charset="-122"/>
              </a:rPr>
              <a:t>Nodes make up linked lists.</a:t>
            </a:r>
          </a:p>
          <a:p>
            <a:r>
              <a:rPr lang="en-US" altLang="zh-CN" dirty="0" smtClean="0">
                <a:ea typeface="宋体" charset="-122"/>
              </a:rPr>
              <a:t>Nodes are structures made up of data and a pointer to another node.</a:t>
            </a:r>
          </a:p>
          <a:p>
            <a:r>
              <a:rPr lang="en-US" altLang="zh-CN" dirty="0" smtClean="0">
                <a:ea typeface="宋体" charset="-122"/>
              </a:rPr>
              <a:t>Usually the pointer is called next.</a:t>
            </a:r>
          </a:p>
          <a:p>
            <a:pPr lvl="2" algn="l">
              <a:buFont typeface="Wingdings" pitchFamily="2" charset="2"/>
              <a:buChar char="§"/>
            </a:pPr>
            <a:endParaRPr lang="en-US" dirty="0">
              <a:solidFill>
                <a:schemeClr val="tx1"/>
              </a:solidFill>
            </a:endParaRPr>
          </a:p>
        </p:txBody>
      </p:sp>
      <p:pic>
        <p:nvPicPr>
          <p:cNvPr id="14" name="Content Placeholder 13" descr="ImageHandler.gif"/>
          <p:cNvPicPr>
            <a:picLocks noGrp="1" noChangeAspect="1"/>
          </p:cNvPicPr>
          <p:nvPr>
            <p:ph sz="half" idx="2"/>
          </p:nvPr>
        </p:nvPicPr>
        <p:blipFill>
          <a:blip r:embed="rId2" cstate="print"/>
          <a:stretch>
            <a:fillRect/>
          </a:stretch>
        </p:blipFill>
        <p:spPr>
          <a:xfrm>
            <a:off x="5482446" y="2743201"/>
            <a:ext cx="3661553" cy="1828800"/>
          </a:xfr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667512"/>
          </a:xfrm>
        </p:spPr>
        <p:txBody>
          <a:bodyPr>
            <a:normAutofit fontScale="90000"/>
          </a:bodyPr>
          <a:lstStyle/>
          <a:p>
            <a:r>
              <a:rPr lang="en-US" dirty="0" smtClean="0"/>
              <a:t>            Arrays Vs Linked Lists</a:t>
            </a:r>
            <a:endParaRPr lang="en-US" dirty="0"/>
          </a:p>
        </p:txBody>
      </p:sp>
      <p:graphicFrame>
        <p:nvGraphicFramePr>
          <p:cNvPr id="13" name="Group 82"/>
          <p:cNvGraphicFramePr>
            <a:graphicFrameLocks noGrp="1"/>
          </p:cNvGraphicFramePr>
          <p:nvPr/>
        </p:nvGraphicFramePr>
        <p:xfrm>
          <a:off x="304800" y="1447800"/>
          <a:ext cx="8424862" cy="4897439"/>
        </p:xfrm>
        <a:graphic>
          <a:graphicData uri="http://schemas.openxmlformats.org/drawingml/2006/table">
            <a:tbl>
              <a:tblPr/>
              <a:tblGrid>
                <a:gridCol w="4213225"/>
                <a:gridCol w="4211637"/>
              </a:tblGrid>
              <a:tr h="566738">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Arrays</a:t>
                      </a:r>
                      <a:endParaRPr kumimoji="0" lang="en-US" sz="1600" b="1" i="0" u="none" strike="noStrike" cap="none" normalizeH="0" baseline="0" dirty="0" smtClean="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Linked list</a:t>
                      </a:r>
                      <a:endParaRPr kumimoji="0" lang="en-US" sz="1600" b="1" i="0" u="none" strike="noStrike" cap="none" normalizeH="0" baseline="0" dirty="0" smtClean="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5000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Fixed size:  Resizing is expensive</a:t>
                      </a:r>
                      <a:endParaRPr kumimoji="0" lang="en-US" sz="1600" b="0" i="0" u="none" strike="noStrike" cap="none" normalizeH="0" baseline="0" dirty="0" smtClean="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Dynamic size</a:t>
                      </a:r>
                      <a:endParaRPr kumimoji="0" lang="en-US" sz="1600" b="0" i="0" u="none" strike="noStrike" cap="none" normalizeH="0" baseline="0" dirty="0" smtClean="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r>
              <a:tr h="8318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Insertions and Deletions are inefficient: Elements are usually shifted</a:t>
                      </a:r>
                      <a:endParaRPr kumimoji="0" lang="en-US" sz="1600" b="0" i="0" u="none" strike="noStrike" cap="none" normalizeH="0" baseline="0" smtClean="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Insertions and Deletions are efficient: No shifting</a:t>
                      </a:r>
                      <a:endParaRPr kumimoji="0" lang="en-US" sz="1600" b="0" i="0" u="none" strike="noStrike" cap="none" normalizeH="0" baseline="0" smtClean="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r>
              <a:tr h="116522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Random access i.e., efficient indexing</a:t>
                      </a:r>
                      <a:endParaRPr kumimoji="0" lang="en-US" sz="1600" b="0" i="0" u="none" strike="noStrike" cap="none" normalizeH="0" baseline="0" smtClean="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No random access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sym typeface="Wingdings" pitchFamily="2" charset="2"/>
                        </a:rPr>
                        <a:t></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 Not suitable for operations requiring</a:t>
                      </a:r>
                      <a:endParaRPr kumimoji="0" lang="en-US" sz="1600" b="0" i="0" u="none" strike="noStrike" cap="none" normalizeH="0" baseline="0" smtClean="0">
                        <a:ln>
                          <a:noFill/>
                        </a:ln>
                        <a:solidFill>
                          <a:schemeClr val="tx1"/>
                        </a:solidFill>
                        <a:effectLst/>
                        <a:latin typeface="Times New Roman" pitchFamily="18" charset="0"/>
                        <a:cs typeface="Times New Roman" pitchFamily="18" charset="0"/>
                        <a:sym typeface="Wingdings" pitchFamily="2" charset="2"/>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sym typeface="Wingdings" pitchFamily="2" charset="2"/>
                        </a:rPr>
                        <a:t>     accessing elements by index such as sorting</a:t>
                      </a: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r>
              <a:tr h="10017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No memory waste if the array is full or almost full; otherwise may result in much memory waste.</a:t>
                      </a:r>
                      <a:endParaRPr kumimoji="0" lang="en-US" sz="1600" b="0" i="0" u="none" strike="noStrike" cap="none" normalizeH="0" baseline="0" smtClean="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Since memory is allocated dynamically(acc. to our need) there is no waste of memory.</a:t>
                      </a:r>
                      <a:endParaRPr kumimoji="0" lang="en-US" sz="1600" b="0" i="0" u="none" strike="noStrike" cap="none" normalizeH="0" baseline="0" dirty="0" smtClean="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r>
              <a:tr h="8318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Sequential access is faster  [Reason: Elements in contiguous memory locations]</a:t>
                      </a:r>
                      <a:endParaRPr kumimoji="0" lang="en-US" sz="1600" b="0" i="0" u="none" strike="noStrike" cap="none" normalizeH="0" baseline="0" dirty="0" smtClean="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Sequential access </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is slow </a:t>
                      </a: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[Reason: Elements not in contiguous memory locations]</a:t>
                      </a:r>
                      <a:endParaRPr kumimoji="0" lang="en-US" sz="1600" b="0" i="0" u="none" strike="noStrike" cap="none" normalizeH="0" baseline="0" dirty="0" smtClean="0">
                        <a:ln>
                          <a:noFill/>
                        </a:ln>
                        <a:solidFill>
                          <a:schemeClr val="tx1"/>
                        </a:solidFill>
                        <a:effectLst/>
                        <a:latin typeface="Arial" charset="0"/>
                        <a:cs typeface="Arial"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99"/>
                    </a:solidFill>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Types of lists</a:t>
            </a:r>
            <a:endParaRPr lang="en-US" dirty="0"/>
          </a:p>
        </p:txBody>
      </p:sp>
      <p:sp>
        <p:nvSpPr>
          <p:cNvPr id="11" name="Content Placeholder 10"/>
          <p:cNvSpPr>
            <a:spLocks noGrp="1"/>
          </p:cNvSpPr>
          <p:nvPr>
            <p:ph idx="1"/>
          </p:nvPr>
        </p:nvSpPr>
        <p:spPr/>
        <p:txBody>
          <a:bodyPr/>
          <a:lstStyle/>
          <a:p>
            <a:endParaRPr lang="en-US" dirty="0" smtClean="0"/>
          </a:p>
          <a:p>
            <a:r>
              <a:rPr lang="en-US" dirty="0" smtClean="0"/>
              <a:t>There are two basic types of linked list</a:t>
            </a:r>
          </a:p>
          <a:p>
            <a:endParaRPr lang="en-US" sz="3600" dirty="0" smtClean="0"/>
          </a:p>
          <a:p>
            <a:r>
              <a:rPr lang="en-US" sz="3600" dirty="0" smtClean="0"/>
              <a:t>Singly Linked list</a:t>
            </a:r>
          </a:p>
          <a:p>
            <a:endParaRPr lang="en-US" sz="3600" dirty="0" smtClean="0"/>
          </a:p>
          <a:p>
            <a:r>
              <a:rPr lang="en-US" sz="3600" dirty="0" smtClean="0"/>
              <a:t>Doubly linked list</a:t>
            </a:r>
            <a:endParaRPr lang="en-US" sz="36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Singly Linked List</a:t>
            </a:r>
            <a:endParaRPr lang="en-US" dirty="0"/>
          </a:p>
        </p:txBody>
      </p:sp>
      <p:sp>
        <p:nvSpPr>
          <p:cNvPr id="3" name="Content Placeholder 2"/>
          <p:cNvSpPr>
            <a:spLocks noGrp="1"/>
          </p:cNvSpPr>
          <p:nvPr>
            <p:ph idx="1"/>
          </p:nvPr>
        </p:nvSpPr>
        <p:spPr/>
        <p:txBody>
          <a:bodyPr/>
          <a:lstStyle/>
          <a:p>
            <a:endParaRPr lang="en-US" dirty="0" smtClean="0"/>
          </a:p>
          <a:p>
            <a:r>
              <a:rPr lang="en-US" dirty="0" smtClean="0"/>
              <a:t>Each node has only one link part</a:t>
            </a:r>
          </a:p>
          <a:p>
            <a:endParaRPr lang="en-US" dirty="0" smtClean="0"/>
          </a:p>
          <a:p>
            <a:r>
              <a:rPr lang="en-US" dirty="0" smtClean="0"/>
              <a:t>Each link part contains the address of the next node in the list</a:t>
            </a:r>
          </a:p>
          <a:p>
            <a:endParaRPr lang="en-US" dirty="0" smtClean="0"/>
          </a:p>
          <a:p>
            <a:r>
              <a:rPr lang="en-US" dirty="0" smtClean="0"/>
              <a:t>Link part of the last node contains NULL value which signifies the end of the node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67512"/>
          </a:xfrm>
        </p:spPr>
        <p:txBody>
          <a:bodyPr>
            <a:normAutofit fontScale="90000"/>
          </a:bodyPr>
          <a:lstStyle/>
          <a:p>
            <a:r>
              <a:rPr lang="en-US" dirty="0" smtClean="0"/>
              <a:t>Schematic  representation</a:t>
            </a:r>
            <a:endParaRPr lang="en-US" dirty="0"/>
          </a:p>
        </p:txBody>
      </p:sp>
      <p:sp>
        <p:nvSpPr>
          <p:cNvPr id="4" name="Rectangle 3"/>
          <p:cNvSpPr txBox="1">
            <a:spLocks noChangeArrowheads="1"/>
          </p:cNvSpPr>
          <p:nvPr/>
        </p:nvSpPr>
        <p:spPr>
          <a:xfrm>
            <a:off x="228600" y="1219200"/>
            <a:ext cx="8574088" cy="714375"/>
          </a:xfrm>
          <a:prstGeom prst="rect">
            <a:avLst/>
          </a:prstGeom>
        </p:spPr>
        <p:txBody>
          <a:bodyPr vert="horz">
            <a:norm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smtClean="0">
                <a:ln>
                  <a:noFill/>
                </a:ln>
                <a:solidFill>
                  <a:schemeClr val="tx1"/>
                </a:solidFill>
                <a:effectLst/>
                <a:uLnTx/>
                <a:uFillTx/>
                <a:latin typeface="+mn-lt"/>
                <a:ea typeface="+mn-ea"/>
                <a:cs typeface="+mn-cs"/>
              </a:rPr>
              <a:t>Here is a </a:t>
            </a:r>
            <a:r>
              <a:rPr kumimoji="0" lang="en-US" sz="2600" b="0" i="0" u="none" strike="noStrike" kern="1200" cap="none" spc="0" normalizeH="0" baseline="0" noProof="0" dirty="0" smtClean="0">
                <a:ln>
                  <a:noFill/>
                </a:ln>
                <a:solidFill>
                  <a:schemeClr val="tx2"/>
                </a:solidFill>
                <a:effectLst/>
                <a:uLnTx/>
                <a:uFillTx/>
                <a:latin typeface="+mn-lt"/>
                <a:ea typeface="+mn-ea"/>
                <a:cs typeface="+mn-cs"/>
              </a:rPr>
              <a:t>singly-linked list</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2600" b="0" i="0" u="none" strike="noStrike" kern="1200" cap="none" spc="0" normalizeH="0" baseline="0" noProof="0" dirty="0" smtClean="0">
                <a:ln>
                  <a:noFill/>
                </a:ln>
                <a:solidFill>
                  <a:schemeClr val="tx2"/>
                </a:solidFill>
                <a:effectLst/>
                <a:uLnTx/>
                <a:uFillTx/>
                <a:latin typeface="+mn-lt"/>
                <a:ea typeface="+mn-ea"/>
                <a:cs typeface="+mn-cs"/>
              </a:rPr>
              <a:t>SLL</a:t>
            </a:r>
            <a:r>
              <a:rPr kumimoji="0" lang="en-US" sz="26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grpSp>
        <p:nvGrpSpPr>
          <p:cNvPr id="5" name="Group 41"/>
          <p:cNvGrpSpPr>
            <a:grpSpLocks/>
          </p:cNvGrpSpPr>
          <p:nvPr/>
        </p:nvGrpSpPr>
        <p:grpSpPr bwMode="auto">
          <a:xfrm>
            <a:off x="228600" y="2057400"/>
            <a:ext cx="8229600" cy="1143000"/>
            <a:chOff x="432" y="1488"/>
            <a:chExt cx="4896" cy="720"/>
          </a:xfrm>
          <a:effectLst/>
        </p:grpSpPr>
        <p:grpSp>
          <p:nvGrpSpPr>
            <p:cNvPr id="6" name="Group 5"/>
            <p:cNvGrpSpPr>
              <a:grpSpLocks/>
            </p:cNvGrpSpPr>
            <p:nvPr/>
          </p:nvGrpSpPr>
          <p:grpSpPr bwMode="auto">
            <a:xfrm>
              <a:off x="1728" y="1961"/>
              <a:ext cx="3600" cy="246"/>
              <a:chOff x="1056" y="2011"/>
              <a:chExt cx="3600" cy="246"/>
            </a:xfrm>
          </p:grpSpPr>
          <p:grpSp>
            <p:nvGrpSpPr>
              <p:cNvPr id="30" name="Group 6"/>
              <p:cNvGrpSpPr>
                <a:grpSpLocks/>
              </p:cNvGrpSpPr>
              <p:nvPr/>
            </p:nvGrpSpPr>
            <p:grpSpPr bwMode="auto">
              <a:xfrm>
                <a:off x="1056" y="2011"/>
                <a:ext cx="577" cy="243"/>
                <a:chOff x="863" y="1536"/>
                <a:chExt cx="577" cy="243"/>
              </a:xfrm>
            </p:grpSpPr>
            <p:sp>
              <p:nvSpPr>
                <p:cNvPr id="40" name="Rectangle 7"/>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41" name="Rectangle 8"/>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nvGrpSpPr>
              <p:cNvPr id="31" name="Group 9"/>
              <p:cNvGrpSpPr>
                <a:grpSpLocks/>
              </p:cNvGrpSpPr>
              <p:nvPr/>
            </p:nvGrpSpPr>
            <p:grpSpPr bwMode="auto">
              <a:xfrm>
                <a:off x="2063" y="2014"/>
                <a:ext cx="577" cy="243"/>
                <a:chOff x="863" y="1536"/>
                <a:chExt cx="577" cy="243"/>
              </a:xfrm>
            </p:grpSpPr>
            <p:sp>
              <p:nvSpPr>
                <p:cNvPr id="38" name="Rectangle 10"/>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39" name="Rectangle 11"/>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nvGrpSpPr>
              <p:cNvPr id="32" name="Group 12"/>
              <p:cNvGrpSpPr>
                <a:grpSpLocks/>
              </p:cNvGrpSpPr>
              <p:nvPr/>
            </p:nvGrpSpPr>
            <p:grpSpPr bwMode="auto">
              <a:xfrm>
                <a:off x="3071" y="2014"/>
                <a:ext cx="577" cy="243"/>
                <a:chOff x="863" y="1536"/>
                <a:chExt cx="577" cy="243"/>
              </a:xfrm>
            </p:grpSpPr>
            <p:sp>
              <p:nvSpPr>
                <p:cNvPr id="36" name="Rectangle 13"/>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37" name="Rectangle 14"/>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nvGrpSpPr>
              <p:cNvPr id="33" name="Group 15"/>
              <p:cNvGrpSpPr>
                <a:grpSpLocks/>
              </p:cNvGrpSpPr>
              <p:nvPr/>
            </p:nvGrpSpPr>
            <p:grpSpPr bwMode="auto">
              <a:xfrm>
                <a:off x="4079" y="2014"/>
                <a:ext cx="577" cy="243"/>
                <a:chOff x="863" y="1536"/>
                <a:chExt cx="577" cy="243"/>
              </a:xfrm>
            </p:grpSpPr>
            <p:sp>
              <p:nvSpPr>
                <p:cNvPr id="34" name="Rectangle 16"/>
                <p:cNvSpPr>
                  <a:spLocks noChangeArrowheads="1"/>
                </p:cNvSpPr>
                <p:nvPr/>
              </p:nvSpPr>
              <p:spPr bwMode="auto">
                <a:xfrm>
                  <a:off x="863" y="1537"/>
                  <a:ext cx="288" cy="242"/>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35" name="Rectangle 17"/>
                <p:cNvSpPr>
                  <a:spLocks noChangeArrowheads="1"/>
                </p:cNvSpPr>
                <p:nvPr/>
              </p:nvSpPr>
              <p:spPr bwMode="auto">
                <a:xfrm>
                  <a:off x="1152" y="1536"/>
                  <a:ext cx="288" cy="242"/>
                </a:xfrm>
                <a:prstGeom prst="rect">
                  <a:avLst/>
                </a:prstGeom>
                <a:noFill/>
                <a:ln w="12700">
                  <a:solidFill>
                    <a:schemeClr val="tx1"/>
                  </a:solidFill>
                  <a:miter lim="800000"/>
                  <a:headEnd/>
                  <a:tailEnd/>
                </a:ln>
              </p:spPr>
              <p:txBody>
                <a:bodyPr wrap="none" anchor="ctr"/>
                <a:lstStyle/>
                <a:p>
                  <a:endParaRPr lang="en-US"/>
                </a:p>
              </p:txBody>
            </p:sp>
          </p:grpSp>
        </p:grpSp>
        <p:grpSp>
          <p:nvGrpSpPr>
            <p:cNvPr id="7" name="Group 18"/>
            <p:cNvGrpSpPr>
              <a:grpSpLocks/>
            </p:cNvGrpSpPr>
            <p:nvPr/>
          </p:nvGrpSpPr>
          <p:grpSpPr bwMode="auto">
            <a:xfrm>
              <a:off x="1728" y="1966"/>
              <a:ext cx="3312" cy="242"/>
              <a:chOff x="1056" y="2302"/>
              <a:chExt cx="3312" cy="242"/>
            </a:xfrm>
          </p:grpSpPr>
          <p:sp>
            <p:nvSpPr>
              <p:cNvPr id="26" name="Rectangle 19"/>
              <p:cNvSpPr>
                <a:spLocks noChangeArrowheads="1"/>
              </p:cNvSpPr>
              <p:nvPr/>
            </p:nvSpPr>
            <p:spPr bwMode="auto">
              <a:xfrm>
                <a:off x="1056" y="2302"/>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a</a:t>
                </a:r>
                <a:endParaRPr lang="en-US">
                  <a:latin typeface="Times New Roman" pitchFamily="18" charset="0"/>
                </a:endParaRPr>
              </a:p>
            </p:txBody>
          </p:sp>
          <p:sp>
            <p:nvSpPr>
              <p:cNvPr id="27" name="Rectangle 20"/>
              <p:cNvSpPr>
                <a:spLocks noChangeArrowheads="1"/>
              </p:cNvSpPr>
              <p:nvPr/>
            </p:nvSpPr>
            <p:spPr bwMode="auto">
              <a:xfrm>
                <a:off x="2064" y="2302"/>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b</a:t>
                </a:r>
                <a:endParaRPr lang="en-US">
                  <a:latin typeface="Times New Roman" pitchFamily="18" charset="0"/>
                </a:endParaRPr>
              </a:p>
            </p:txBody>
          </p:sp>
          <p:sp>
            <p:nvSpPr>
              <p:cNvPr id="28" name="Rectangle 21"/>
              <p:cNvSpPr>
                <a:spLocks noChangeArrowheads="1"/>
              </p:cNvSpPr>
              <p:nvPr/>
            </p:nvSpPr>
            <p:spPr bwMode="auto">
              <a:xfrm>
                <a:off x="3072" y="2302"/>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c</a:t>
                </a:r>
                <a:endParaRPr lang="en-US">
                  <a:latin typeface="Times New Roman" pitchFamily="18" charset="0"/>
                </a:endParaRPr>
              </a:p>
            </p:txBody>
          </p:sp>
          <p:sp>
            <p:nvSpPr>
              <p:cNvPr id="29" name="Rectangle 22"/>
              <p:cNvSpPr>
                <a:spLocks noChangeArrowheads="1"/>
              </p:cNvSpPr>
              <p:nvPr/>
            </p:nvSpPr>
            <p:spPr bwMode="auto">
              <a:xfrm>
                <a:off x="4080" y="2302"/>
                <a:ext cx="288"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d</a:t>
                </a:r>
                <a:endParaRPr lang="en-US">
                  <a:latin typeface="Times New Roman" pitchFamily="18" charset="0"/>
                </a:endParaRPr>
              </a:p>
            </p:txBody>
          </p:sp>
        </p:grpSp>
        <p:grpSp>
          <p:nvGrpSpPr>
            <p:cNvPr id="8" name="Group 23"/>
            <p:cNvGrpSpPr>
              <a:grpSpLocks/>
            </p:cNvGrpSpPr>
            <p:nvPr/>
          </p:nvGrpSpPr>
          <p:grpSpPr bwMode="auto">
            <a:xfrm>
              <a:off x="2112" y="2014"/>
              <a:ext cx="2640" cy="96"/>
              <a:chOff x="1440" y="2064"/>
              <a:chExt cx="2640" cy="96"/>
            </a:xfrm>
          </p:grpSpPr>
          <p:grpSp>
            <p:nvGrpSpPr>
              <p:cNvPr id="17" name="Group 24"/>
              <p:cNvGrpSpPr>
                <a:grpSpLocks/>
              </p:cNvGrpSpPr>
              <p:nvPr/>
            </p:nvGrpSpPr>
            <p:grpSpPr bwMode="auto">
              <a:xfrm>
                <a:off x="1440" y="2064"/>
                <a:ext cx="624" cy="96"/>
                <a:chOff x="1008" y="2304"/>
                <a:chExt cx="624" cy="96"/>
              </a:xfrm>
            </p:grpSpPr>
            <p:sp>
              <p:nvSpPr>
                <p:cNvPr id="24" name="Oval 25"/>
                <p:cNvSpPr>
                  <a:spLocks noChangeArrowheads="1"/>
                </p:cNvSpPr>
                <p:nvPr/>
              </p:nvSpPr>
              <p:spPr bwMode="auto">
                <a:xfrm>
                  <a:off x="1008" y="2304"/>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25" name="Line 26"/>
                <p:cNvSpPr>
                  <a:spLocks noChangeShapeType="1"/>
                </p:cNvSpPr>
                <p:nvPr/>
              </p:nvSpPr>
              <p:spPr bwMode="auto">
                <a:xfrm>
                  <a:off x="1056" y="2352"/>
                  <a:ext cx="576" cy="0"/>
                </a:xfrm>
                <a:prstGeom prst="line">
                  <a:avLst/>
                </a:prstGeom>
                <a:noFill/>
                <a:ln w="12700">
                  <a:solidFill>
                    <a:schemeClr val="tx1"/>
                  </a:solidFill>
                  <a:round/>
                  <a:headEnd/>
                  <a:tailEnd type="triangle" w="lg" len="lg"/>
                </a:ln>
              </p:spPr>
              <p:txBody>
                <a:bodyPr wrap="none" anchor="ctr"/>
                <a:lstStyle/>
                <a:p>
                  <a:endParaRPr lang="en-US"/>
                </a:p>
              </p:txBody>
            </p:sp>
          </p:grpSp>
          <p:grpSp>
            <p:nvGrpSpPr>
              <p:cNvPr id="18" name="Group 27"/>
              <p:cNvGrpSpPr>
                <a:grpSpLocks/>
              </p:cNvGrpSpPr>
              <p:nvPr/>
            </p:nvGrpSpPr>
            <p:grpSpPr bwMode="auto">
              <a:xfrm>
                <a:off x="2448" y="2064"/>
                <a:ext cx="624" cy="96"/>
                <a:chOff x="1008" y="2304"/>
                <a:chExt cx="624" cy="96"/>
              </a:xfrm>
            </p:grpSpPr>
            <p:sp>
              <p:nvSpPr>
                <p:cNvPr id="22" name="Oval 28"/>
                <p:cNvSpPr>
                  <a:spLocks noChangeArrowheads="1"/>
                </p:cNvSpPr>
                <p:nvPr/>
              </p:nvSpPr>
              <p:spPr bwMode="auto">
                <a:xfrm>
                  <a:off x="1008" y="2304"/>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23" name="Line 29"/>
                <p:cNvSpPr>
                  <a:spLocks noChangeShapeType="1"/>
                </p:cNvSpPr>
                <p:nvPr/>
              </p:nvSpPr>
              <p:spPr bwMode="auto">
                <a:xfrm>
                  <a:off x="1056" y="2352"/>
                  <a:ext cx="576" cy="0"/>
                </a:xfrm>
                <a:prstGeom prst="line">
                  <a:avLst/>
                </a:prstGeom>
                <a:noFill/>
                <a:ln w="12700">
                  <a:solidFill>
                    <a:schemeClr val="tx1"/>
                  </a:solidFill>
                  <a:round/>
                  <a:headEnd/>
                  <a:tailEnd type="triangle" w="lg" len="lg"/>
                </a:ln>
              </p:spPr>
              <p:txBody>
                <a:bodyPr wrap="none" anchor="ctr"/>
                <a:lstStyle/>
                <a:p>
                  <a:endParaRPr lang="en-US"/>
                </a:p>
              </p:txBody>
            </p:sp>
          </p:grpSp>
          <p:grpSp>
            <p:nvGrpSpPr>
              <p:cNvPr id="19" name="Group 30"/>
              <p:cNvGrpSpPr>
                <a:grpSpLocks/>
              </p:cNvGrpSpPr>
              <p:nvPr/>
            </p:nvGrpSpPr>
            <p:grpSpPr bwMode="auto">
              <a:xfrm>
                <a:off x="3456" y="2064"/>
                <a:ext cx="624" cy="96"/>
                <a:chOff x="1008" y="2304"/>
                <a:chExt cx="624" cy="96"/>
              </a:xfrm>
            </p:grpSpPr>
            <p:sp>
              <p:nvSpPr>
                <p:cNvPr id="20" name="Oval 31"/>
                <p:cNvSpPr>
                  <a:spLocks noChangeArrowheads="1"/>
                </p:cNvSpPr>
                <p:nvPr/>
              </p:nvSpPr>
              <p:spPr bwMode="auto">
                <a:xfrm>
                  <a:off x="1008" y="2304"/>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21" name="Line 32"/>
                <p:cNvSpPr>
                  <a:spLocks noChangeShapeType="1"/>
                </p:cNvSpPr>
                <p:nvPr/>
              </p:nvSpPr>
              <p:spPr bwMode="auto">
                <a:xfrm>
                  <a:off x="1056" y="2352"/>
                  <a:ext cx="576" cy="0"/>
                </a:xfrm>
                <a:prstGeom prst="line">
                  <a:avLst/>
                </a:prstGeom>
                <a:noFill/>
                <a:ln w="12700">
                  <a:solidFill>
                    <a:schemeClr val="tx1"/>
                  </a:solidFill>
                  <a:round/>
                  <a:headEnd/>
                  <a:tailEnd type="triangle" w="lg" len="lg"/>
                </a:ln>
              </p:spPr>
              <p:txBody>
                <a:bodyPr wrap="none" anchor="ctr"/>
                <a:lstStyle/>
                <a:p>
                  <a:endParaRPr lang="en-US"/>
                </a:p>
              </p:txBody>
            </p:sp>
          </p:grpSp>
        </p:grpSp>
        <p:sp>
          <p:nvSpPr>
            <p:cNvPr id="9" name="Oval 33"/>
            <p:cNvSpPr>
              <a:spLocks noChangeArrowheads="1"/>
            </p:cNvSpPr>
            <p:nvPr/>
          </p:nvSpPr>
          <p:spPr bwMode="auto">
            <a:xfrm>
              <a:off x="5136" y="2016"/>
              <a:ext cx="96" cy="96"/>
            </a:xfrm>
            <a:prstGeom prst="ellipse">
              <a:avLst/>
            </a:prstGeom>
            <a:solidFill>
              <a:schemeClr val="tx1"/>
            </a:solidFill>
            <a:ln w="12700">
              <a:solidFill>
                <a:schemeClr val="tx1"/>
              </a:solidFill>
              <a:round/>
              <a:headEnd/>
              <a:tailEnd/>
            </a:ln>
          </p:spPr>
          <p:txBody>
            <a:bodyPr wrap="none" anchor="ctr"/>
            <a:lstStyle/>
            <a:p>
              <a:endParaRPr lang="en-US"/>
            </a:p>
          </p:txBody>
        </p:sp>
        <p:grpSp>
          <p:nvGrpSpPr>
            <p:cNvPr id="10" name="Group 34"/>
            <p:cNvGrpSpPr>
              <a:grpSpLocks/>
            </p:cNvGrpSpPr>
            <p:nvPr/>
          </p:nvGrpSpPr>
          <p:grpSpPr bwMode="auto">
            <a:xfrm>
              <a:off x="432" y="1488"/>
              <a:ext cx="1248" cy="480"/>
              <a:chOff x="192" y="1872"/>
              <a:chExt cx="1248" cy="480"/>
            </a:xfrm>
          </p:grpSpPr>
          <p:grpSp>
            <p:nvGrpSpPr>
              <p:cNvPr id="11" name="Group 35"/>
              <p:cNvGrpSpPr>
                <a:grpSpLocks/>
              </p:cNvGrpSpPr>
              <p:nvPr/>
            </p:nvGrpSpPr>
            <p:grpSpPr bwMode="auto">
              <a:xfrm>
                <a:off x="960" y="1920"/>
                <a:ext cx="480" cy="432"/>
                <a:chOff x="432" y="2352"/>
                <a:chExt cx="480" cy="432"/>
              </a:xfrm>
            </p:grpSpPr>
            <p:grpSp>
              <p:nvGrpSpPr>
                <p:cNvPr id="13" name="Group 36"/>
                <p:cNvGrpSpPr>
                  <a:grpSpLocks/>
                </p:cNvGrpSpPr>
                <p:nvPr/>
              </p:nvGrpSpPr>
              <p:grpSpPr bwMode="auto">
                <a:xfrm>
                  <a:off x="432" y="2352"/>
                  <a:ext cx="288" cy="240"/>
                  <a:chOff x="960" y="1584"/>
                  <a:chExt cx="288" cy="240"/>
                </a:xfrm>
              </p:grpSpPr>
              <p:sp>
                <p:nvSpPr>
                  <p:cNvPr id="15" name="Oval 37"/>
                  <p:cNvSpPr>
                    <a:spLocks noChangeArrowheads="1"/>
                  </p:cNvSpPr>
                  <p:nvPr/>
                </p:nvSpPr>
                <p:spPr bwMode="auto">
                  <a:xfrm>
                    <a:off x="1056" y="1632"/>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16" name="Rectangle 38"/>
                  <p:cNvSpPr>
                    <a:spLocks noChangeArrowheads="1"/>
                  </p:cNvSpPr>
                  <p:nvPr/>
                </p:nvSpPr>
                <p:spPr bwMode="auto">
                  <a:xfrm>
                    <a:off x="960" y="1584"/>
                    <a:ext cx="288" cy="240"/>
                  </a:xfrm>
                  <a:prstGeom prst="rect">
                    <a:avLst/>
                  </a:prstGeom>
                  <a:noFill/>
                  <a:ln w="12700">
                    <a:solidFill>
                      <a:schemeClr val="tx1"/>
                    </a:solidFill>
                    <a:miter lim="800000"/>
                    <a:headEnd/>
                    <a:tailEnd/>
                  </a:ln>
                </p:spPr>
                <p:txBody>
                  <a:bodyPr wrap="none" anchor="ctr"/>
                  <a:lstStyle/>
                  <a:p>
                    <a:endParaRPr lang="en-US"/>
                  </a:p>
                </p:txBody>
              </p:sp>
            </p:grpSp>
            <p:sp>
              <p:nvSpPr>
                <p:cNvPr id="14" name="Line 39"/>
                <p:cNvSpPr>
                  <a:spLocks noChangeShapeType="1"/>
                </p:cNvSpPr>
                <p:nvPr/>
              </p:nvSpPr>
              <p:spPr bwMode="auto">
                <a:xfrm>
                  <a:off x="576" y="2448"/>
                  <a:ext cx="336" cy="336"/>
                </a:xfrm>
                <a:prstGeom prst="line">
                  <a:avLst/>
                </a:prstGeom>
                <a:noFill/>
                <a:ln w="28575">
                  <a:solidFill>
                    <a:schemeClr val="tx1"/>
                  </a:solidFill>
                  <a:round/>
                  <a:headEnd/>
                  <a:tailEnd type="triangle" w="med" len="med"/>
                </a:ln>
              </p:spPr>
              <p:txBody>
                <a:bodyPr wrap="none" anchor="ctr"/>
                <a:lstStyle/>
                <a:p>
                  <a:endParaRPr lang="en-US"/>
                </a:p>
              </p:txBody>
            </p:sp>
          </p:grpSp>
          <p:sp>
            <p:nvSpPr>
              <p:cNvPr id="12" name="Text Box 40"/>
              <p:cNvSpPr txBox="1">
                <a:spLocks noChangeArrowheads="1"/>
              </p:cNvSpPr>
              <p:nvPr/>
            </p:nvSpPr>
            <p:spPr bwMode="auto">
              <a:xfrm>
                <a:off x="192" y="1872"/>
                <a:ext cx="816" cy="233"/>
              </a:xfrm>
              <a:prstGeom prst="rect">
                <a:avLst/>
              </a:prstGeom>
              <a:noFill/>
              <a:ln w="9525">
                <a:noFill/>
                <a:miter lim="800000"/>
                <a:headEnd/>
                <a:tailEnd/>
              </a:ln>
            </p:spPr>
            <p:txBody>
              <a:bodyPr>
                <a:spAutoFit/>
              </a:bodyPr>
              <a:lstStyle/>
              <a:p>
                <a:pPr>
                  <a:spcBef>
                    <a:spcPct val="50000"/>
                  </a:spcBef>
                </a:pPr>
                <a:r>
                  <a:rPr lang="en-US" dirty="0" err="1" smtClean="0">
                    <a:solidFill>
                      <a:srgbClr val="FF0000"/>
                    </a:solidFill>
                    <a:latin typeface="Consolas" pitchFamily="49" charset="0"/>
                  </a:rPr>
                  <a:t>myList</a:t>
                </a:r>
                <a:endParaRPr lang="en-US" dirty="0">
                  <a:solidFill>
                    <a:srgbClr val="FF0000"/>
                  </a:solidFill>
                  <a:latin typeface="Times New Roman" pitchFamily="18" charset="0"/>
                </a:endParaRPr>
              </a:p>
            </p:txBody>
          </p:sp>
        </p:grpSp>
      </p:grpSp>
      <p:sp>
        <p:nvSpPr>
          <p:cNvPr id="42" name="TextBox 41"/>
          <p:cNvSpPr txBox="1"/>
          <p:nvPr/>
        </p:nvSpPr>
        <p:spPr>
          <a:xfrm>
            <a:off x="457200" y="3962400"/>
            <a:ext cx="6705600" cy="1938992"/>
          </a:xfrm>
          <a:prstGeom prst="rect">
            <a:avLst/>
          </a:prstGeom>
          <a:noFill/>
        </p:spPr>
        <p:txBody>
          <a:bodyPr wrap="square" rtlCol="0">
            <a:spAutoFit/>
          </a:bodyPr>
          <a:lstStyle/>
          <a:p>
            <a:pPr>
              <a:buFont typeface="Arial" pitchFamily="34" charset="0"/>
              <a:buChar char="•"/>
            </a:pPr>
            <a:r>
              <a:rPr lang="en-US" sz="2400" dirty="0" smtClean="0">
                <a:solidFill>
                  <a:schemeClr val="bg2">
                    <a:lumMod val="50000"/>
                  </a:schemeClr>
                </a:solidFill>
              </a:rPr>
              <a:t> Each node contains a value(data) and a pointer to the next node in the list</a:t>
            </a:r>
          </a:p>
          <a:p>
            <a:pPr>
              <a:buFont typeface="Arial" pitchFamily="34" charset="0"/>
              <a:buChar char="•"/>
            </a:pPr>
            <a:endParaRPr lang="en-US" sz="2400" dirty="0" smtClean="0">
              <a:solidFill>
                <a:schemeClr val="bg2">
                  <a:lumMod val="50000"/>
                </a:schemeClr>
              </a:solidFill>
            </a:endParaRPr>
          </a:p>
          <a:p>
            <a:pPr>
              <a:buFont typeface="Arial" pitchFamily="34" charset="0"/>
              <a:buChar char="•"/>
            </a:pPr>
            <a:r>
              <a:rPr lang="en-US" sz="2400" dirty="0" smtClean="0">
                <a:solidFill>
                  <a:schemeClr val="tx2">
                    <a:lumMod val="60000"/>
                    <a:lumOff val="40000"/>
                  </a:schemeClr>
                </a:solidFill>
              </a:rPr>
              <a:t> </a:t>
            </a:r>
            <a:r>
              <a:rPr lang="en-US" sz="2400" dirty="0" err="1" smtClean="0">
                <a:solidFill>
                  <a:srgbClr val="FF0000"/>
                </a:solidFill>
              </a:rPr>
              <a:t>myList</a:t>
            </a:r>
            <a:r>
              <a:rPr lang="en-US" sz="2400" dirty="0" smtClean="0">
                <a:solidFill>
                  <a:srgbClr val="FF0000"/>
                </a:solidFill>
              </a:rPr>
              <a:t>  </a:t>
            </a:r>
            <a:r>
              <a:rPr lang="en-US" sz="2400" dirty="0" smtClean="0">
                <a:solidFill>
                  <a:schemeClr val="tx2">
                    <a:lumMod val="60000"/>
                    <a:lumOff val="40000"/>
                  </a:schemeClr>
                </a:solidFill>
              </a:rPr>
              <a:t>is the header pointer   which points at the first node in the list</a:t>
            </a:r>
            <a:endParaRPr lang="en-US" sz="2400" dirty="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normAutofit/>
          </a:bodyPr>
          <a:lstStyle/>
          <a:p>
            <a:r>
              <a:rPr lang="en-US" dirty="0" smtClean="0"/>
              <a:t>Basic Operations on a list</a:t>
            </a:r>
            <a:endParaRPr lang="en-US" dirty="0"/>
          </a:p>
        </p:txBody>
      </p:sp>
      <p:sp>
        <p:nvSpPr>
          <p:cNvPr id="3" name="Content Placeholder 2"/>
          <p:cNvSpPr>
            <a:spLocks noGrp="1"/>
          </p:cNvSpPr>
          <p:nvPr>
            <p:ph idx="1"/>
          </p:nvPr>
        </p:nvSpPr>
        <p:spPr/>
        <p:txBody>
          <a:bodyPr>
            <a:normAutofit/>
          </a:bodyPr>
          <a:lstStyle/>
          <a:p>
            <a:pPr>
              <a:buFont typeface="Arial" pitchFamily="34" charset="0"/>
              <a:buChar char="•"/>
            </a:pPr>
            <a:endParaRPr lang="en-US" sz="3200" dirty="0" smtClean="0"/>
          </a:p>
          <a:p>
            <a:pPr>
              <a:buFont typeface="Arial" pitchFamily="34" charset="0"/>
              <a:buChar char="•"/>
            </a:pPr>
            <a:r>
              <a:rPr lang="en-US" sz="3200" dirty="0" smtClean="0">
                <a:solidFill>
                  <a:schemeClr val="tx2">
                    <a:lumMod val="60000"/>
                    <a:lumOff val="40000"/>
                  </a:schemeClr>
                </a:solidFill>
              </a:rPr>
              <a:t>Creating a List</a:t>
            </a:r>
          </a:p>
          <a:p>
            <a:pPr>
              <a:buFont typeface="Arial" pitchFamily="34" charset="0"/>
              <a:buChar char="•"/>
            </a:pPr>
            <a:r>
              <a:rPr lang="en-US" sz="3200" dirty="0" smtClean="0">
                <a:solidFill>
                  <a:schemeClr val="tx2">
                    <a:lumMod val="60000"/>
                    <a:lumOff val="40000"/>
                  </a:schemeClr>
                </a:solidFill>
              </a:rPr>
              <a:t>Inserting  an element in a list</a:t>
            </a:r>
          </a:p>
          <a:p>
            <a:pPr>
              <a:buFont typeface="Arial" pitchFamily="34" charset="0"/>
              <a:buChar char="•"/>
            </a:pPr>
            <a:r>
              <a:rPr lang="en-US" sz="3200" dirty="0" smtClean="0">
                <a:solidFill>
                  <a:schemeClr val="tx2">
                    <a:lumMod val="60000"/>
                    <a:lumOff val="40000"/>
                  </a:schemeClr>
                </a:solidFill>
              </a:rPr>
              <a:t>Deleting an element from a list</a:t>
            </a:r>
          </a:p>
          <a:p>
            <a:pPr>
              <a:buFont typeface="Arial" pitchFamily="34" charset="0"/>
              <a:buChar char="•"/>
            </a:pPr>
            <a:r>
              <a:rPr lang="en-US" sz="3200" dirty="0" smtClean="0">
                <a:solidFill>
                  <a:schemeClr val="tx2">
                    <a:lumMod val="60000"/>
                    <a:lumOff val="40000"/>
                  </a:schemeClr>
                </a:solidFill>
              </a:rPr>
              <a:t>Searching a list</a:t>
            </a:r>
          </a:p>
          <a:p>
            <a:pPr>
              <a:buFont typeface="Arial" pitchFamily="34" charset="0"/>
              <a:buChar char="•"/>
            </a:pPr>
            <a:r>
              <a:rPr lang="en-US" sz="3200" dirty="0" smtClean="0">
                <a:solidFill>
                  <a:schemeClr val="tx2">
                    <a:lumMod val="60000"/>
                    <a:lumOff val="40000"/>
                  </a:schemeClr>
                </a:solidFill>
              </a:rPr>
              <a:t>Reversing a list</a:t>
            </a:r>
          </a:p>
          <a:p>
            <a:pPr>
              <a:buNone/>
            </a:pPr>
            <a:endParaRPr lang="en-US" sz="3200" dirty="0" smtClean="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smtClean="0"/>
              <a:t>Creating a node</a:t>
            </a:r>
            <a:endParaRPr lang="en-US" dirty="0"/>
          </a:p>
        </p:txBody>
      </p:sp>
      <p:sp>
        <p:nvSpPr>
          <p:cNvPr id="3" name="Content Placeholder 2"/>
          <p:cNvSpPr>
            <a:spLocks noGrp="1"/>
          </p:cNvSpPr>
          <p:nvPr>
            <p:ph idx="1"/>
          </p:nvPr>
        </p:nvSpPr>
        <p:spPr>
          <a:xfrm>
            <a:off x="381000" y="2438400"/>
            <a:ext cx="8229600" cy="3703320"/>
          </a:xfrm>
        </p:spPr>
        <p:txBody>
          <a:bodyPr>
            <a:normAutofit lnSpcReduction="10000"/>
          </a:bodyPr>
          <a:lstStyle/>
          <a:p>
            <a:pPr>
              <a:buNone/>
            </a:pPr>
            <a:r>
              <a:rPr lang="en-US" dirty="0" smtClean="0">
                <a:solidFill>
                  <a:schemeClr val="accent1">
                    <a:lumMod val="75000"/>
                  </a:schemeClr>
                </a:solidFill>
              </a:rPr>
              <a:t> </a:t>
            </a:r>
            <a:r>
              <a:rPr lang="en-US" sz="2400" dirty="0" err="1" smtClean="0">
                <a:solidFill>
                  <a:schemeClr val="accent1">
                    <a:lumMod val="75000"/>
                  </a:schemeClr>
                </a:solidFill>
              </a:rPr>
              <a:t>struct</a:t>
            </a:r>
            <a:r>
              <a:rPr lang="en-US" sz="2400" dirty="0" smtClean="0">
                <a:solidFill>
                  <a:schemeClr val="accent1">
                    <a:lumMod val="75000"/>
                  </a:schemeClr>
                </a:solidFill>
              </a:rPr>
              <a:t> node{</a:t>
            </a:r>
          </a:p>
          <a:p>
            <a:pPr>
              <a:buNone/>
            </a:pPr>
            <a:r>
              <a:rPr lang="en-US" sz="2400" dirty="0" smtClean="0">
                <a:solidFill>
                  <a:schemeClr val="accent1">
                    <a:lumMod val="75000"/>
                  </a:schemeClr>
                </a:solidFill>
              </a:rPr>
              <a:t>          </a:t>
            </a:r>
            <a:r>
              <a:rPr lang="en-US" sz="2400" dirty="0" err="1" smtClean="0">
                <a:solidFill>
                  <a:schemeClr val="accent1">
                    <a:lumMod val="75000"/>
                  </a:schemeClr>
                </a:solidFill>
              </a:rPr>
              <a:t>int</a:t>
            </a:r>
            <a:r>
              <a:rPr lang="en-US" sz="2400" dirty="0" smtClean="0">
                <a:solidFill>
                  <a:schemeClr val="accent1">
                    <a:lumMod val="75000"/>
                  </a:schemeClr>
                </a:solidFill>
              </a:rPr>
              <a:t> data;                </a:t>
            </a:r>
            <a:r>
              <a:rPr lang="en-US" sz="2400" dirty="0" smtClean="0">
                <a:solidFill>
                  <a:srgbClr val="FF0000"/>
                </a:solidFill>
              </a:rPr>
              <a:t>// A simple node of a linked list</a:t>
            </a:r>
            <a:endParaRPr lang="en-US" sz="2400" dirty="0" smtClean="0">
              <a:solidFill>
                <a:schemeClr val="accent1">
                  <a:lumMod val="75000"/>
                </a:schemeClr>
              </a:solidFill>
            </a:endParaRPr>
          </a:p>
          <a:p>
            <a:pPr>
              <a:buNone/>
            </a:pPr>
            <a:r>
              <a:rPr lang="en-US" sz="2400" dirty="0" smtClean="0">
                <a:solidFill>
                  <a:schemeClr val="accent1">
                    <a:lumMod val="75000"/>
                  </a:schemeClr>
                </a:solidFill>
              </a:rPr>
              <a:t>          node*next;</a:t>
            </a:r>
          </a:p>
          <a:p>
            <a:pPr>
              <a:buNone/>
            </a:pPr>
            <a:r>
              <a:rPr lang="en-US" sz="2400" dirty="0" smtClean="0">
                <a:solidFill>
                  <a:schemeClr val="accent1">
                    <a:lumMod val="75000"/>
                  </a:schemeClr>
                </a:solidFill>
              </a:rPr>
              <a:t>     }*start;                       </a:t>
            </a:r>
            <a:r>
              <a:rPr lang="en-US" sz="2400" dirty="0" smtClean="0">
                <a:solidFill>
                  <a:srgbClr val="FF0000"/>
                </a:solidFill>
              </a:rPr>
              <a:t>//start  points at the first node                                      </a:t>
            </a:r>
            <a:endParaRPr lang="en-US" sz="2400" dirty="0" smtClean="0">
              <a:solidFill>
                <a:schemeClr val="accent1">
                  <a:lumMod val="75000"/>
                </a:schemeClr>
              </a:solidFill>
            </a:endParaRPr>
          </a:p>
          <a:p>
            <a:pPr>
              <a:buNone/>
            </a:pPr>
            <a:r>
              <a:rPr lang="en-US" sz="2400" dirty="0" smtClean="0">
                <a:solidFill>
                  <a:schemeClr val="accent1">
                    <a:lumMod val="75000"/>
                  </a:schemeClr>
                </a:solidFill>
              </a:rPr>
              <a:t> start=NULL ;                    </a:t>
            </a:r>
            <a:r>
              <a:rPr lang="en-US" sz="2400" dirty="0" err="1" smtClean="0">
                <a:solidFill>
                  <a:srgbClr val="FF0000"/>
                </a:solidFill>
              </a:rPr>
              <a:t>initialised</a:t>
            </a:r>
            <a:r>
              <a:rPr lang="en-US" sz="2400" dirty="0" smtClean="0">
                <a:solidFill>
                  <a:srgbClr val="FF0000"/>
                </a:solidFill>
              </a:rPr>
              <a:t> to NULL at beginning</a:t>
            </a:r>
            <a:endParaRPr lang="en-US" sz="2400" dirty="0" smtClean="0">
              <a:solidFill>
                <a:schemeClr val="accent1">
                  <a:lumMod val="75000"/>
                </a:schemeClr>
              </a:solidFill>
            </a:endParaRPr>
          </a:p>
          <a:p>
            <a:pPr>
              <a:buNone/>
            </a:pPr>
            <a:r>
              <a:rPr lang="en-US" sz="2400" dirty="0" smtClean="0">
                <a:solidFill>
                  <a:schemeClr val="accent1">
                    <a:lumMod val="75000"/>
                  </a:schemeClr>
                </a:solidFill>
              </a:rPr>
              <a:t>     </a:t>
            </a:r>
          </a:p>
          <a:p>
            <a:pPr>
              <a:buNone/>
            </a:pPr>
            <a:endParaRPr lang="en-US" sz="2400" dirty="0" smtClean="0">
              <a:solidFill>
                <a:schemeClr val="accent1">
                  <a:lumMod val="75000"/>
                </a:schemeClr>
              </a:solidFill>
            </a:endParaRPr>
          </a:p>
          <a:p>
            <a:pPr>
              <a:buNone/>
            </a:pPr>
            <a:endParaRPr lang="en-US" sz="2400" dirty="0" smtClean="0">
              <a:solidFill>
                <a:schemeClr val="accent1">
                  <a:lumMod val="75000"/>
                </a:schemeClr>
              </a:solidFill>
            </a:endParaRPr>
          </a:p>
          <a:p>
            <a:pPr>
              <a:buNone/>
            </a:pPr>
            <a:r>
              <a:rPr lang="en-US" sz="2400" dirty="0" smtClean="0">
                <a:solidFill>
                  <a:schemeClr val="accent1">
                    <a:lumMod val="75000"/>
                  </a:schemeClr>
                </a:solidFill>
              </a:rPr>
              <a:t>                </a:t>
            </a:r>
            <a:endParaRPr lang="en-US"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762000"/>
            <a:ext cx="7772400" cy="4343400"/>
          </a:xfrm>
        </p:spPr>
        <p:txBody>
          <a:bodyPr>
            <a:normAutofit fontScale="77500" lnSpcReduction="20000"/>
          </a:bodyPr>
          <a:lstStyle/>
          <a:p>
            <a:pPr>
              <a:buNone/>
            </a:pPr>
            <a:r>
              <a:rPr lang="en-US" dirty="0" smtClean="0">
                <a:solidFill>
                  <a:schemeClr val="accent1">
                    <a:lumMod val="75000"/>
                  </a:schemeClr>
                </a:solidFill>
              </a:rPr>
              <a:t>    node* create( </a:t>
            </a:r>
            <a:r>
              <a:rPr lang="en-US" dirty="0" err="1" smtClean="0">
                <a:solidFill>
                  <a:schemeClr val="accent1">
                    <a:lumMod val="75000"/>
                  </a:schemeClr>
                </a:solidFill>
              </a:rPr>
              <a:t>int</a:t>
            </a:r>
            <a:r>
              <a:rPr lang="en-US" dirty="0" smtClean="0">
                <a:solidFill>
                  <a:schemeClr val="accent1">
                    <a:lumMod val="75000"/>
                  </a:schemeClr>
                </a:solidFill>
              </a:rPr>
              <a:t>  num) </a:t>
            </a:r>
            <a:r>
              <a:rPr lang="en-US" dirty="0" smtClean="0">
                <a:solidFill>
                  <a:srgbClr val="FF0000"/>
                </a:solidFill>
              </a:rPr>
              <a:t> //say num=1 is passed from main</a:t>
            </a:r>
            <a:endParaRPr lang="en-US" dirty="0" smtClean="0">
              <a:solidFill>
                <a:schemeClr val="accent1">
                  <a:lumMod val="75000"/>
                </a:schemeClr>
              </a:solidFill>
            </a:endParaRP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node*</a:t>
            </a:r>
            <a:r>
              <a:rPr lang="en-US" dirty="0" err="1" smtClean="0">
                <a:solidFill>
                  <a:schemeClr val="accent1">
                    <a:lumMod val="75000"/>
                  </a:schemeClr>
                </a:solidFill>
              </a:rPr>
              <a:t>ptr</a:t>
            </a:r>
            <a:r>
              <a:rPr lang="en-US" dirty="0" smtClean="0">
                <a:solidFill>
                  <a:schemeClr val="accent1">
                    <a:lumMod val="75000"/>
                  </a:schemeClr>
                </a:solidFill>
              </a:rPr>
              <a:t>;</a:t>
            </a:r>
          </a:p>
          <a:p>
            <a:pPr>
              <a:buNone/>
            </a:pPr>
            <a:r>
              <a:rPr lang="en-US" dirty="0" smtClean="0">
                <a:solidFill>
                  <a:schemeClr val="accent1">
                    <a:lumMod val="75000"/>
                  </a:schemeClr>
                </a:solidFill>
              </a:rPr>
              <a:t>        </a:t>
            </a:r>
            <a:r>
              <a:rPr lang="en-US" dirty="0" err="1" smtClean="0">
                <a:solidFill>
                  <a:schemeClr val="accent1">
                    <a:lumMod val="75000"/>
                  </a:schemeClr>
                </a:solidFill>
              </a:rPr>
              <a:t>ptr</a:t>
            </a:r>
            <a:r>
              <a:rPr lang="en-US" dirty="0" smtClean="0">
                <a:solidFill>
                  <a:schemeClr val="accent1">
                    <a:lumMod val="75000"/>
                  </a:schemeClr>
                </a:solidFill>
              </a:rPr>
              <a:t>= </a:t>
            </a:r>
            <a:r>
              <a:rPr lang="en-US" dirty="0" smtClean="0">
                <a:solidFill>
                  <a:srgbClr val="00B050"/>
                </a:solidFill>
              </a:rPr>
              <a:t>new </a:t>
            </a:r>
            <a:r>
              <a:rPr lang="en-US" dirty="0" smtClean="0">
                <a:solidFill>
                  <a:schemeClr val="accent1">
                    <a:lumMod val="75000"/>
                  </a:schemeClr>
                </a:solidFill>
              </a:rPr>
              <a:t> node;  </a:t>
            </a:r>
            <a:r>
              <a:rPr lang="en-US" dirty="0" smtClean="0">
                <a:solidFill>
                  <a:srgbClr val="FF0000"/>
                </a:solidFill>
              </a:rPr>
              <a:t>//memory allocated dynamically</a:t>
            </a:r>
          </a:p>
          <a:p>
            <a:pPr>
              <a:buNone/>
            </a:pPr>
            <a:r>
              <a:rPr lang="en-US" dirty="0" smtClean="0">
                <a:solidFill>
                  <a:srgbClr val="FF0000"/>
                </a:solidFill>
              </a:rPr>
              <a:t>          </a:t>
            </a:r>
            <a:r>
              <a:rPr lang="en-US" dirty="0" smtClean="0">
                <a:solidFill>
                  <a:schemeClr val="accent1">
                    <a:lumMod val="75000"/>
                  </a:schemeClr>
                </a:solidFill>
              </a:rPr>
              <a:t>     if(</a:t>
            </a:r>
            <a:r>
              <a:rPr lang="en-US" dirty="0" err="1" smtClean="0">
                <a:solidFill>
                  <a:schemeClr val="accent1">
                    <a:lumMod val="75000"/>
                  </a:schemeClr>
                </a:solidFill>
              </a:rPr>
              <a:t>ptr</a:t>
            </a:r>
            <a:r>
              <a:rPr lang="en-US" dirty="0" smtClean="0">
                <a:solidFill>
                  <a:schemeClr val="accent1">
                    <a:lumMod val="75000"/>
                  </a:schemeClr>
                </a:solidFill>
              </a:rPr>
              <a:t>==NULL)</a:t>
            </a:r>
          </a:p>
          <a:p>
            <a:pPr>
              <a:buNone/>
            </a:pPr>
            <a:r>
              <a:rPr lang="en-US" dirty="0" smtClean="0">
                <a:solidFill>
                  <a:schemeClr val="accent1">
                    <a:lumMod val="75000"/>
                  </a:schemeClr>
                </a:solidFill>
              </a:rPr>
              <a:t>                  </a:t>
            </a:r>
            <a:r>
              <a:rPr lang="en-US" dirty="0" smtClean="0">
                <a:solidFill>
                  <a:srgbClr val="C00000"/>
                </a:solidFill>
              </a:rPr>
              <a:t>‘OVERFLOW’ </a:t>
            </a:r>
            <a:r>
              <a:rPr lang="en-US" dirty="0" smtClean="0">
                <a:solidFill>
                  <a:srgbClr val="FF0000"/>
                </a:solidFill>
              </a:rPr>
              <a:t>// no memory available</a:t>
            </a:r>
          </a:p>
          <a:p>
            <a:pPr>
              <a:buNone/>
            </a:pPr>
            <a:r>
              <a:rPr lang="en-US" dirty="0" smtClean="0">
                <a:solidFill>
                  <a:srgbClr val="FF0000"/>
                </a:solidFill>
              </a:rPr>
              <a:t>                   </a:t>
            </a:r>
            <a:r>
              <a:rPr lang="en-US" dirty="0" smtClean="0">
                <a:solidFill>
                  <a:schemeClr val="accent1">
                    <a:lumMod val="75000"/>
                  </a:schemeClr>
                </a:solidFill>
              </a:rPr>
              <a:t> exit(1);</a:t>
            </a:r>
            <a:endParaRPr lang="en-US" dirty="0" smtClean="0">
              <a:solidFill>
                <a:srgbClr val="FF0000"/>
              </a:solidFill>
            </a:endParaRPr>
          </a:p>
          <a:p>
            <a:pPr>
              <a:buNone/>
            </a:pPr>
            <a:r>
              <a:rPr lang="en-US" dirty="0" smtClean="0">
                <a:solidFill>
                  <a:srgbClr val="FF0000"/>
                </a:solidFill>
              </a:rPr>
              <a:t>               </a:t>
            </a:r>
            <a:r>
              <a:rPr lang="en-US" dirty="0" smtClean="0">
                <a:solidFill>
                  <a:schemeClr val="accent1">
                    <a:lumMod val="75000"/>
                  </a:schemeClr>
                </a:solidFill>
              </a:rPr>
              <a:t>else</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a:t>
            </a:r>
            <a:r>
              <a:rPr lang="en-US" dirty="0" err="1" smtClean="0">
                <a:solidFill>
                  <a:schemeClr val="accent1">
                    <a:lumMod val="75000"/>
                  </a:schemeClr>
                </a:solidFill>
              </a:rPr>
              <a:t>ptr</a:t>
            </a:r>
            <a:r>
              <a:rPr lang="en-US" dirty="0" smtClean="0">
                <a:solidFill>
                  <a:schemeClr val="accent1">
                    <a:lumMod val="75000"/>
                  </a:schemeClr>
                </a:solidFill>
              </a:rPr>
              <a:t>-&gt;data=num;</a:t>
            </a:r>
          </a:p>
          <a:p>
            <a:pPr>
              <a:buNone/>
            </a:pPr>
            <a:r>
              <a:rPr lang="en-US" dirty="0" smtClean="0">
                <a:solidFill>
                  <a:schemeClr val="accent1">
                    <a:lumMod val="75000"/>
                  </a:schemeClr>
                </a:solidFill>
              </a:rPr>
              <a:t>                   </a:t>
            </a:r>
            <a:r>
              <a:rPr lang="en-US" dirty="0" err="1" smtClean="0">
                <a:solidFill>
                  <a:schemeClr val="accent1">
                    <a:lumMod val="75000"/>
                  </a:schemeClr>
                </a:solidFill>
              </a:rPr>
              <a:t>ptr</a:t>
            </a:r>
            <a:r>
              <a:rPr lang="en-US" dirty="0" smtClean="0">
                <a:solidFill>
                  <a:schemeClr val="accent1">
                    <a:lumMod val="75000"/>
                  </a:schemeClr>
                </a:solidFill>
              </a:rPr>
              <a:t>-&gt;next=NULL;</a:t>
            </a:r>
          </a:p>
          <a:p>
            <a:pPr>
              <a:buNone/>
            </a:pPr>
            <a:r>
              <a:rPr lang="en-US" dirty="0" smtClean="0">
                <a:solidFill>
                  <a:schemeClr val="accent1">
                    <a:lumMod val="75000"/>
                  </a:schemeClr>
                </a:solidFill>
              </a:rPr>
              <a:t>                   return </a:t>
            </a:r>
            <a:r>
              <a:rPr lang="en-US" dirty="0" err="1" smtClean="0">
                <a:solidFill>
                  <a:schemeClr val="accent1">
                    <a:lumMod val="75000"/>
                  </a:schemeClr>
                </a:solidFill>
              </a:rPr>
              <a:t>ptr</a:t>
            </a:r>
            <a:r>
              <a:rPr lang="en-US" dirty="0" smtClean="0">
                <a:solidFill>
                  <a:schemeClr val="accent1">
                    <a:lumMod val="75000"/>
                  </a:schemeClr>
                </a:solidFill>
              </a:rPr>
              <a:t>;</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a:t>
            </a:r>
            <a:endParaRPr lang="en-US" dirty="0">
              <a:solidFill>
                <a:schemeClr val="accent1">
                  <a:lumMod val="75000"/>
                </a:schemeClr>
              </a:solidFill>
            </a:endParaRPr>
          </a:p>
        </p:txBody>
      </p:sp>
      <p:pic>
        <p:nvPicPr>
          <p:cNvPr id="4" name="Picture 3" descr="ImageHandler.png"/>
          <p:cNvPicPr>
            <a:picLocks noChangeAspect="1"/>
          </p:cNvPicPr>
          <p:nvPr/>
        </p:nvPicPr>
        <p:blipFill>
          <a:blip r:embed="rId2" cstate="print"/>
          <a:stretch>
            <a:fillRect/>
          </a:stretch>
        </p:blipFill>
        <p:spPr>
          <a:xfrm>
            <a:off x="0" y="4876800"/>
            <a:ext cx="9144000" cy="198120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077200" cy="762000"/>
          </a:xfrm>
        </p:spPr>
        <p:txBody>
          <a:bodyPr>
            <a:normAutofit/>
          </a:bodyPr>
          <a:lstStyle/>
          <a:p>
            <a:r>
              <a:rPr lang="en-US" sz="4400" dirty="0" smtClean="0"/>
              <a:t>To be called from main() as:-</a:t>
            </a:r>
            <a:endParaRPr lang="en-US" sz="4400" dirty="0"/>
          </a:p>
        </p:txBody>
      </p:sp>
      <p:sp>
        <p:nvSpPr>
          <p:cNvPr id="3" name="Content Placeholder 2"/>
          <p:cNvSpPr>
            <a:spLocks noGrp="1"/>
          </p:cNvSpPr>
          <p:nvPr>
            <p:ph idx="1"/>
          </p:nvPr>
        </p:nvSpPr>
        <p:spPr/>
        <p:txBody>
          <a:bodyPr/>
          <a:lstStyle/>
          <a:p>
            <a:pPr>
              <a:buNone/>
            </a:pPr>
            <a:r>
              <a:rPr lang="en-US" dirty="0" smtClean="0">
                <a:solidFill>
                  <a:schemeClr val="accent1">
                    <a:lumMod val="75000"/>
                  </a:schemeClr>
                </a:solidFill>
              </a:rPr>
              <a:t>                  void main()</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node* </a:t>
            </a:r>
            <a:r>
              <a:rPr lang="en-US" dirty="0" err="1" smtClean="0">
                <a:solidFill>
                  <a:schemeClr val="accent1">
                    <a:lumMod val="75000"/>
                  </a:schemeClr>
                </a:solidFill>
              </a:rPr>
              <a:t>ptr</a:t>
            </a:r>
            <a:r>
              <a:rPr lang="en-US" dirty="0" smtClean="0">
                <a:solidFill>
                  <a:schemeClr val="accent1">
                    <a:lumMod val="75000"/>
                  </a:schemeClr>
                </a:solidFill>
              </a:rPr>
              <a:t>;</a:t>
            </a:r>
          </a:p>
          <a:p>
            <a:pPr>
              <a:buNone/>
            </a:pPr>
            <a:r>
              <a:rPr lang="en-US" dirty="0" smtClean="0">
                <a:solidFill>
                  <a:schemeClr val="accent1">
                    <a:lumMod val="75000"/>
                  </a:schemeClr>
                </a:solidFill>
              </a:rPr>
              <a:t>                      </a:t>
            </a:r>
            <a:r>
              <a:rPr lang="en-US" dirty="0" err="1" smtClean="0">
                <a:solidFill>
                  <a:schemeClr val="accent1">
                    <a:lumMod val="75000"/>
                  </a:schemeClr>
                </a:solidFill>
              </a:rPr>
              <a:t>int</a:t>
            </a:r>
            <a:r>
              <a:rPr lang="en-US" dirty="0" smtClean="0">
                <a:solidFill>
                  <a:schemeClr val="accent1">
                    <a:lumMod val="75000"/>
                  </a:schemeClr>
                </a:solidFill>
              </a:rPr>
              <a:t> data;</a:t>
            </a:r>
          </a:p>
          <a:p>
            <a:pPr>
              <a:buNone/>
            </a:pPr>
            <a:r>
              <a:rPr lang="en-US" dirty="0" smtClean="0">
                <a:solidFill>
                  <a:schemeClr val="accent1">
                    <a:lumMod val="75000"/>
                  </a:schemeClr>
                </a:solidFill>
              </a:rPr>
              <a:t>                      </a:t>
            </a:r>
            <a:r>
              <a:rPr lang="en-US" dirty="0" err="1" smtClean="0">
                <a:solidFill>
                  <a:schemeClr val="accent1">
                    <a:lumMod val="75000"/>
                  </a:schemeClr>
                </a:solidFill>
              </a:rPr>
              <a:t>cin</a:t>
            </a:r>
            <a:r>
              <a:rPr lang="en-US" dirty="0" smtClean="0">
                <a:solidFill>
                  <a:schemeClr val="accent1">
                    <a:lumMod val="75000"/>
                  </a:schemeClr>
                </a:solidFill>
              </a:rPr>
              <a:t>&gt;&gt;data;</a:t>
            </a:r>
          </a:p>
          <a:p>
            <a:pPr>
              <a:buNone/>
            </a:pPr>
            <a:r>
              <a:rPr lang="en-US" dirty="0" smtClean="0">
                <a:solidFill>
                  <a:schemeClr val="accent1">
                    <a:lumMod val="75000"/>
                  </a:schemeClr>
                </a:solidFill>
              </a:rPr>
              <a:t>                      </a:t>
            </a:r>
            <a:r>
              <a:rPr lang="en-US" dirty="0" err="1" smtClean="0">
                <a:solidFill>
                  <a:schemeClr val="accent1">
                    <a:lumMod val="75000"/>
                  </a:schemeClr>
                </a:solidFill>
              </a:rPr>
              <a:t>ptr</a:t>
            </a:r>
            <a:r>
              <a:rPr lang="en-US" dirty="0" smtClean="0">
                <a:solidFill>
                  <a:schemeClr val="accent1">
                    <a:lumMod val="75000"/>
                  </a:schemeClr>
                </a:solidFill>
              </a:rPr>
              <a:t>=create(data); </a:t>
            </a:r>
          </a:p>
          <a:p>
            <a:pPr>
              <a:buNone/>
            </a:pPr>
            <a:r>
              <a:rPr lang="en-US" dirty="0" smtClean="0">
                <a:solidFill>
                  <a:schemeClr val="accent1">
                    <a:lumMod val="75000"/>
                  </a:schemeClr>
                </a:solidFill>
              </a:rPr>
              <a:t>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077200" cy="896112"/>
          </a:xfrm>
        </p:spPr>
        <p:txBody>
          <a:bodyPr/>
          <a:lstStyle/>
          <a:p>
            <a:r>
              <a:rPr lang="en-US" dirty="0" smtClean="0"/>
              <a:t>Inserting the node in a SLL</a:t>
            </a:r>
            <a:endParaRPr lang="en-US" dirty="0"/>
          </a:p>
        </p:txBody>
      </p:sp>
      <p:sp>
        <p:nvSpPr>
          <p:cNvPr id="3" name="Content Placeholder 2"/>
          <p:cNvSpPr>
            <a:spLocks noGrp="1"/>
          </p:cNvSpPr>
          <p:nvPr>
            <p:ph idx="1"/>
          </p:nvPr>
        </p:nvSpPr>
        <p:spPr/>
        <p:txBody>
          <a:bodyPr>
            <a:normAutofit/>
          </a:bodyPr>
          <a:lstStyle/>
          <a:p>
            <a:pPr>
              <a:buNone/>
            </a:pPr>
            <a:r>
              <a:rPr lang="en-US" sz="3200" dirty="0" smtClean="0">
                <a:solidFill>
                  <a:schemeClr val="accent1">
                    <a:lumMod val="50000"/>
                  </a:schemeClr>
                </a:solidFill>
              </a:rPr>
              <a:t>There  are  3 cases  here:-</a:t>
            </a:r>
          </a:p>
          <a:p>
            <a:pPr>
              <a:buFont typeface="Wingdings" pitchFamily="2" charset="2"/>
              <a:buChar char="Ø"/>
            </a:pPr>
            <a:endParaRPr lang="en-US" sz="3200" dirty="0" smtClean="0">
              <a:solidFill>
                <a:schemeClr val="accent1">
                  <a:lumMod val="50000"/>
                </a:schemeClr>
              </a:solidFill>
            </a:endParaRPr>
          </a:p>
          <a:p>
            <a:pPr>
              <a:buFont typeface="Wingdings" pitchFamily="2" charset="2"/>
              <a:buChar char="Ø"/>
            </a:pPr>
            <a:r>
              <a:rPr lang="en-US" sz="3200" dirty="0" smtClean="0">
                <a:solidFill>
                  <a:schemeClr val="accent1">
                    <a:lumMod val="50000"/>
                  </a:schemeClr>
                </a:solidFill>
              </a:rPr>
              <a:t>Insertion at the beginning</a:t>
            </a:r>
          </a:p>
          <a:p>
            <a:pPr>
              <a:buFont typeface="Wingdings" pitchFamily="2" charset="2"/>
              <a:buChar char="Ø"/>
            </a:pPr>
            <a:r>
              <a:rPr lang="en-US" sz="3200" dirty="0" smtClean="0">
                <a:solidFill>
                  <a:schemeClr val="accent1">
                    <a:lumMod val="50000"/>
                  </a:schemeClr>
                </a:solidFill>
              </a:rPr>
              <a:t>Insertion at the end</a:t>
            </a:r>
          </a:p>
          <a:p>
            <a:pPr>
              <a:buFont typeface="Wingdings" pitchFamily="2" charset="2"/>
              <a:buChar char="Ø"/>
            </a:pPr>
            <a:r>
              <a:rPr lang="en-US" sz="3200" dirty="0" smtClean="0">
                <a:solidFill>
                  <a:schemeClr val="accent1">
                    <a:lumMod val="50000"/>
                  </a:schemeClr>
                </a:solidFill>
              </a:rPr>
              <a:t>Insertion after a particular node</a:t>
            </a:r>
            <a:endParaRPr lang="en-US" sz="3200" dirty="0">
              <a:solidFill>
                <a:schemeClr val="accent1">
                  <a:lumMod val="50000"/>
                </a:schemeClr>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848600" cy="896112"/>
          </a:xfrm>
        </p:spPr>
        <p:txBody>
          <a:bodyPr/>
          <a:lstStyle/>
          <a:p>
            <a:r>
              <a:rPr lang="en-US" dirty="0" smtClean="0"/>
              <a:t>Insertion at the beginning</a:t>
            </a:r>
            <a:endParaRPr lang="en-US" dirty="0"/>
          </a:p>
        </p:txBody>
      </p:sp>
      <p:sp>
        <p:nvSpPr>
          <p:cNvPr id="3" name="Content Placeholder 2"/>
          <p:cNvSpPr>
            <a:spLocks noGrp="1"/>
          </p:cNvSpPr>
          <p:nvPr>
            <p:ph idx="1"/>
          </p:nvPr>
        </p:nvSpPr>
        <p:spPr/>
        <p:txBody>
          <a:bodyPr/>
          <a:lstStyle/>
          <a:p>
            <a:pPr>
              <a:buNone/>
            </a:pPr>
            <a:r>
              <a:rPr lang="en-US" dirty="0" smtClean="0"/>
              <a:t>There are two steps to be followed:-</a:t>
            </a:r>
          </a:p>
          <a:p>
            <a:pPr>
              <a:buNone/>
            </a:pPr>
            <a:endParaRPr lang="en-US" dirty="0" smtClean="0"/>
          </a:p>
          <a:p>
            <a:pPr marL="514350" indent="-514350">
              <a:buFont typeface="+mj-lt"/>
              <a:buAutoNum type="alphaLcParenR"/>
            </a:pPr>
            <a:r>
              <a:rPr lang="en-US" dirty="0" smtClean="0">
                <a:solidFill>
                  <a:schemeClr val="tx2">
                    <a:lumMod val="60000"/>
                    <a:lumOff val="40000"/>
                  </a:schemeClr>
                </a:solidFill>
              </a:rPr>
              <a:t>Make the next pointer of the node point towards the first node of the list</a:t>
            </a:r>
          </a:p>
          <a:p>
            <a:pPr marL="514350" indent="-514350">
              <a:buFont typeface="+mj-lt"/>
              <a:buAutoNum type="alphaLcParenR"/>
            </a:pPr>
            <a:endParaRPr lang="en-US" dirty="0" smtClean="0">
              <a:solidFill>
                <a:schemeClr val="tx2">
                  <a:lumMod val="60000"/>
                  <a:lumOff val="40000"/>
                </a:schemeClr>
              </a:solidFill>
            </a:endParaRPr>
          </a:p>
          <a:p>
            <a:pPr marL="514350" indent="-514350">
              <a:buFont typeface="+mj-lt"/>
              <a:buAutoNum type="alphaLcParenR"/>
            </a:pPr>
            <a:r>
              <a:rPr lang="en-US" dirty="0" smtClean="0">
                <a:solidFill>
                  <a:schemeClr val="tx2">
                    <a:lumMod val="60000"/>
                    <a:lumOff val="40000"/>
                  </a:schemeClr>
                </a:solidFill>
              </a:rPr>
              <a:t>Make the start pointer point towards this new node</a:t>
            </a:r>
          </a:p>
          <a:p>
            <a:pPr marL="514350" indent="-514350">
              <a:buFont typeface="+mj-lt"/>
              <a:buAutoNum type="alphaLcParenR"/>
            </a:pPr>
            <a:endParaRPr lang="en-US" dirty="0" smtClean="0">
              <a:solidFill>
                <a:schemeClr val="tx2">
                  <a:lumMod val="60000"/>
                  <a:lumOff val="40000"/>
                </a:schemeClr>
              </a:solidFill>
            </a:endParaRPr>
          </a:p>
          <a:p>
            <a:pPr marL="514350" indent="-514350">
              <a:buFont typeface="Wingdings" pitchFamily="2" charset="2"/>
              <a:buChar char="§"/>
            </a:pPr>
            <a:r>
              <a:rPr lang="en-US" dirty="0" smtClean="0">
                <a:solidFill>
                  <a:schemeClr val="tx2">
                    <a:lumMod val="60000"/>
                    <a:lumOff val="40000"/>
                  </a:schemeClr>
                </a:solidFill>
              </a:rPr>
              <a:t>If the list is empty simply make the start pointer point towards the new node;</a:t>
            </a:r>
            <a:endParaRPr lang="en-US" dirty="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l3.png"/>
          <p:cNvPicPr>
            <a:picLocks noChangeAspect="1"/>
          </p:cNvPicPr>
          <p:nvPr/>
        </p:nvPicPr>
        <p:blipFill>
          <a:blip r:embed="rId2" cstate="print"/>
          <a:stretch>
            <a:fillRect/>
          </a:stretch>
        </p:blipFill>
        <p:spPr>
          <a:xfrm>
            <a:off x="447099" y="1552313"/>
            <a:ext cx="8249802" cy="3753374"/>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34000"/>
          </a:xfrm>
        </p:spPr>
        <p:txBody>
          <a:bodyPr>
            <a:normAutofit fontScale="85000" lnSpcReduction="20000"/>
          </a:bodyPr>
          <a:lstStyle/>
          <a:p>
            <a:pPr>
              <a:buNone/>
            </a:pPr>
            <a:r>
              <a:rPr lang="en-US" dirty="0" smtClean="0">
                <a:solidFill>
                  <a:schemeClr val="accent1">
                    <a:lumMod val="75000"/>
                  </a:schemeClr>
                </a:solidFill>
              </a:rPr>
              <a:t>void </a:t>
            </a:r>
            <a:r>
              <a:rPr lang="en-US" dirty="0" err="1" smtClean="0">
                <a:solidFill>
                  <a:schemeClr val="accent1">
                    <a:lumMod val="75000"/>
                  </a:schemeClr>
                </a:solidFill>
              </a:rPr>
              <a:t>insert_beg</a:t>
            </a:r>
            <a:r>
              <a:rPr lang="en-US" dirty="0" smtClean="0">
                <a:solidFill>
                  <a:schemeClr val="accent1">
                    <a:lumMod val="75000"/>
                  </a:schemeClr>
                </a:solidFill>
              </a:rPr>
              <a:t>(node* p)</a:t>
            </a:r>
          </a:p>
          <a:p>
            <a:pPr>
              <a:buNone/>
            </a:pPr>
            <a:r>
              <a:rPr lang="en-US" dirty="0" smtClean="0">
                <a:solidFill>
                  <a:schemeClr val="accent1">
                    <a:lumMod val="75000"/>
                  </a:schemeClr>
                </a:solidFill>
              </a:rPr>
              <a:t>{</a:t>
            </a:r>
          </a:p>
          <a:p>
            <a:pPr>
              <a:buNone/>
            </a:pPr>
            <a:r>
              <a:rPr lang="en-US" dirty="0" smtClean="0">
                <a:solidFill>
                  <a:schemeClr val="accent1">
                    <a:lumMod val="75000"/>
                  </a:schemeClr>
                </a:solidFill>
              </a:rPr>
              <a:t>node* temp;</a:t>
            </a:r>
          </a:p>
          <a:p>
            <a:pPr>
              <a:buNone/>
            </a:pPr>
            <a:r>
              <a:rPr lang="en-US" dirty="0" smtClean="0">
                <a:solidFill>
                  <a:schemeClr val="accent1">
                    <a:lumMod val="75000"/>
                  </a:schemeClr>
                </a:solidFill>
              </a:rPr>
              <a:t>               if(start==NULL)   </a:t>
            </a:r>
            <a:r>
              <a:rPr lang="en-US" dirty="0" smtClean="0">
                <a:solidFill>
                  <a:srgbClr val="FF0000"/>
                </a:solidFill>
              </a:rPr>
              <a:t> //if the list is empty</a:t>
            </a:r>
            <a:endParaRPr lang="en-US" dirty="0" smtClean="0">
              <a:solidFill>
                <a:schemeClr val="accent1">
                  <a:lumMod val="75000"/>
                </a:schemeClr>
              </a:solidFill>
            </a:endParaRP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start=p;</a:t>
            </a:r>
          </a:p>
          <a:p>
            <a:pPr>
              <a:buNone/>
            </a:pPr>
            <a:r>
              <a:rPr lang="en-US" dirty="0" smtClean="0">
                <a:solidFill>
                  <a:schemeClr val="accent1">
                    <a:lumMod val="75000"/>
                  </a:schemeClr>
                </a:solidFill>
              </a:rPr>
              <a:t>                  </a:t>
            </a:r>
            <a:r>
              <a:rPr lang="en-US" dirty="0" err="1" smtClean="0">
                <a:solidFill>
                  <a:schemeClr val="accent1">
                    <a:lumMod val="75000"/>
                  </a:schemeClr>
                </a:solidFill>
              </a:rPr>
              <a:t>cout</a:t>
            </a:r>
            <a:r>
              <a:rPr lang="en-US" dirty="0" smtClean="0">
                <a:solidFill>
                  <a:schemeClr val="accent1">
                    <a:lumMod val="75000"/>
                  </a:schemeClr>
                </a:solidFill>
              </a:rPr>
              <a:t>&lt;&lt;”\</a:t>
            </a:r>
            <a:r>
              <a:rPr lang="en-US" dirty="0" err="1" smtClean="0">
                <a:solidFill>
                  <a:schemeClr val="accent1">
                    <a:lumMod val="75000"/>
                  </a:schemeClr>
                </a:solidFill>
              </a:rPr>
              <a:t>nNode</a:t>
            </a:r>
            <a:r>
              <a:rPr lang="en-US" dirty="0" smtClean="0">
                <a:solidFill>
                  <a:schemeClr val="accent1">
                    <a:lumMod val="75000"/>
                  </a:schemeClr>
                </a:solidFill>
              </a:rPr>
              <a:t> inserted successfully at the  </a:t>
            </a:r>
          </a:p>
          <a:p>
            <a:pPr>
              <a:buNone/>
            </a:pPr>
            <a:r>
              <a:rPr lang="en-US" dirty="0" smtClean="0">
                <a:solidFill>
                  <a:schemeClr val="accent1">
                    <a:lumMod val="75000"/>
                  </a:schemeClr>
                </a:solidFill>
              </a:rPr>
              <a:t>                                 beginning”;               </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else {</a:t>
            </a:r>
          </a:p>
          <a:p>
            <a:pPr>
              <a:buNone/>
            </a:pPr>
            <a:r>
              <a:rPr lang="en-US" dirty="0" smtClean="0">
                <a:solidFill>
                  <a:schemeClr val="accent1">
                    <a:lumMod val="75000"/>
                  </a:schemeClr>
                </a:solidFill>
              </a:rPr>
              <a:t>                       temp=start;</a:t>
            </a:r>
          </a:p>
          <a:p>
            <a:pPr>
              <a:buNone/>
            </a:pPr>
            <a:r>
              <a:rPr lang="en-US" dirty="0" smtClean="0">
                <a:solidFill>
                  <a:schemeClr val="accent1">
                    <a:lumMod val="75000"/>
                  </a:schemeClr>
                </a:solidFill>
              </a:rPr>
              <a:t>                       start=p;</a:t>
            </a:r>
          </a:p>
          <a:p>
            <a:pPr>
              <a:buNone/>
            </a:pPr>
            <a:r>
              <a:rPr lang="en-US" dirty="0" smtClean="0">
                <a:solidFill>
                  <a:schemeClr val="accent1">
                    <a:lumMod val="75000"/>
                  </a:schemeClr>
                </a:solidFill>
              </a:rPr>
              <a:t>                       p-&gt;next=temp;  </a:t>
            </a:r>
            <a:r>
              <a:rPr lang="en-US" dirty="0" smtClean="0">
                <a:solidFill>
                  <a:srgbClr val="FF0000"/>
                </a:solidFill>
              </a:rPr>
              <a:t>//making new node point  at</a:t>
            </a:r>
            <a:endParaRPr lang="en-US" dirty="0" smtClean="0">
              <a:solidFill>
                <a:schemeClr val="accent1">
                  <a:lumMod val="75000"/>
                </a:schemeClr>
              </a:solidFill>
            </a:endParaRPr>
          </a:p>
          <a:p>
            <a:pPr>
              <a:buNone/>
            </a:pPr>
            <a:r>
              <a:rPr lang="en-US" dirty="0" smtClean="0">
                <a:solidFill>
                  <a:schemeClr val="accent1">
                    <a:lumMod val="75000"/>
                  </a:schemeClr>
                </a:solidFill>
              </a:rPr>
              <a:t>                    }                                </a:t>
            </a:r>
            <a:r>
              <a:rPr lang="en-US" dirty="0" smtClean="0">
                <a:solidFill>
                  <a:srgbClr val="FF0000"/>
                </a:solidFill>
              </a:rPr>
              <a:t>the first node of the list</a:t>
            </a:r>
            <a:endParaRPr lang="en-US" dirty="0" smtClean="0">
              <a:solidFill>
                <a:schemeClr val="accent1">
                  <a:lumMod val="75000"/>
                </a:schemeClr>
              </a:solidFill>
            </a:endParaRPr>
          </a:p>
          <a:p>
            <a:pPr>
              <a:buNone/>
            </a:pPr>
            <a:r>
              <a:rPr lang="en-US" dirty="0" smtClean="0">
                <a:solidFill>
                  <a:schemeClr val="accent1">
                    <a:lumMod val="75000"/>
                  </a:schemeClr>
                </a:solidFill>
              </a:rPr>
              <a:t>}</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Inserting at the end</a:t>
            </a:r>
            <a:endParaRPr lang="en-US" dirty="0"/>
          </a:p>
        </p:txBody>
      </p:sp>
      <p:sp>
        <p:nvSpPr>
          <p:cNvPr id="3" name="Content Placeholder 2"/>
          <p:cNvSpPr>
            <a:spLocks noGrp="1"/>
          </p:cNvSpPr>
          <p:nvPr>
            <p:ph idx="1"/>
          </p:nvPr>
        </p:nvSpPr>
        <p:spPr>
          <a:xfrm>
            <a:off x="457200" y="1935480"/>
            <a:ext cx="8229600" cy="2026920"/>
          </a:xfrm>
        </p:spPr>
        <p:txBody>
          <a:bodyPr>
            <a:normAutofit/>
          </a:bodyPr>
          <a:lstStyle/>
          <a:p>
            <a:pPr>
              <a:buNone/>
            </a:pPr>
            <a:endParaRPr lang="en-US" sz="3200" dirty="0" smtClean="0">
              <a:solidFill>
                <a:schemeClr val="accent1">
                  <a:lumMod val="75000"/>
                </a:schemeClr>
              </a:solidFill>
            </a:endParaRPr>
          </a:p>
          <a:p>
            <a:pPr>
              <a:buNone/>
            </a:pPr>
            <a:r>
              <a:rPr lang="en-US" sz="3200" dirty="0" smtClean="0">
                <a:solidFill>
                  <a:schemeClr val="accent1">
                    <a:lumMod val="75000"/>
                  </a:schemeClr>
                </a:solidFill>
              </a:rPr>
              <a:t>Here we simply need to make the next pointer</a:t>
            </a:r>
          </a:p>
          <a:p>
            <a:pPr>
              <a:buNone/>
            </a:pPr>
            <a:r>
              <a:rPr lang="en-US" sz="3200" dirty="0" smtClean="0">
                <a:solidFill>
                  <a:schemeClr val="accent1">
                    <a:lumMod val="75000"/>
                  </a:schemeClr>
                </a:solidFill>
              </a:rPr>
              <a:t>of the last node point to the new node</a:t>
            </a:r>
            <a:endParaRPr lang="en-US" sz="3200" dirty="0">
              <a:solidFill>
                <a:schemeClr val="accent1">
                  <a:lumMod val="75000"/>
                </a:schemeClr>
              </a:solidFill>
            </a:endParaRPr>
          </a:p>
        </p:txBody>
      </p:sp>
      <p:pic>
        <p:nvPicPr>
          <p:cNvPr id="5" name="Picture 4" descr="llist.png"/>
          <p:cNvPicPr>
            <a:picLocks noChangeAspect="1"/>
          </p:cNvPicPr>
          <p:nvPr/>
        </p:nvPicPr>
        <p:blipFill>
          <a:blip r:embed="rId2" cstate="print"/>
          <a:stretch>
            <a:fillRect/>
          </a:stretch>
        </p:blipFill>
        <p:spPr>
          <a:xfrm>
            <a:off x="304799" y="4191000"/>
            <a:ext cx="8398415" cy="23622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257800"/>
          </a:xfrm>
        </p:spPr>
        <p:txBody>
          <a:bodyPr>
            <a:normAutofit fontScale="85000" lnSpcReduction="10000"/>
          </a:bodyPr>
          <a:lstStyle/>
          <a:p>
            <a:pPr>
              <a:buNone/>
            </a:pPr>
            <a:r>
              <a:rPr lang="en-US" dirty="0" smtClean="0">
                <a:solidFill>
                  <a:schemeClr val="accent1">
                    <a:lumMod val="75000"/>
                  </a:schemeClr>
                </a:solidFill>
              </a:rPr>
              <a:t>void </a:t>
            </a:r>
            <a:r>
              <a:rPr lang="en-US" dirty="0" err="1" smtClean="0">
                <a:solidFill>
                  <a:schemeClr val="accent1">
                    <a:lumMod val="75000"/>
                  </a:schemeClr>
                </a:solidFill>
              </a:rPr>
              <a:t>insert_end</a:t>
            </a:r>
            <a:r>
              <a:rPr lang="en-US" dirty="0" smtClean="0">
                <a:solidFill>
                  <a:schemeClr val="accent1">
                    <a:lumMod val="75000"/>
                  </a:schemeClr>
                </a:solidFill>
              </a:rPr>
              <a:t>(node* p)</a:t>
            </a:r>
          </a:p>
          <a:p>
            <a:pPr>
              <a:buNone/>
            </a:pPr>
            <a:r>
              <a:rPr lang="en-US" dirty="0" smtClean="0">
                <a:solidFill>
                  <a:schemeClr val="accent1">
                    <a:lumMod val="75000"/>
                  </a:schemeClr>
                </a:solidFill>
              </a:rPr>
              <a:t>{</a:t>
            </a:r>
          </a:p>
          <a:p>
            <a:pPr>
              <a:buNone/>
            </a:pPr>
            <a:r>
              <a:rPr lang="en-US" dirty="0" smtClean="0">
                <a:solidFill>
                  <a:schemeClr val="accent1">
                    <a:lumMod val="75000"/>
                  </a:schemeClr>
                </a:solidFill>
              </a:rPr>
              <a:t>node *q=start;</a:t>
            </a:r>
          </a:p>
          <a:p>
            <a:pPr>
              <a:buNone/>
            </a:pPr>
            <a:r>
              <a:rPr lang="en-US" dirty="0" smtClean="0">
                <a:solidFill>
                  <a:schemeClr val="accent1">
                    <a:lumMod val="75000"/>
                  </a:schemeClr>
                </a:solidFill>
              </a:rPr>
              <a:t>              if(start==NULL)</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start=p;</a:t>
            </a:r>
          </a:p>
          <a:p>
            <a:pPr>
              <a:buNone/>
            </a:pPr>
            <a:r>
              <a:rPr lang="en-US" dirty="0" smtClean="0">
                <a:solidFill>
                  <a:schemeClr val="accent1">
                    <a:lumMod val="75000"/>
                  </a:schemeClr>
                </a:solidFill>
              </a:rPr>
              <a:t>                </a:t>
            </a:r>
            <a:r>
              <a:rPr lang="en-US" dirty="0" err="1" smtClean="0">
                <a:solidFill>
                  <a:schemeClr val="accent1">
                    <a:lumMod val="75000"/>
                  </a:schemeClr>
                </a:solidFill>
              </a:rPr>
              <a:t>cout</a:t>
            </a:r>
            <a:r>
              <a:rPr lang="en-US" dirty="0" smtClean="0">
                <a:solidFill>
                  <a:schemeClr val="accent1">
                    <a:lumMod val="75000"/>
                  </a:schemeClr>
                </a:solidFill>
              </a:rPr>
              <a:t>&lt;&lt;”\</a:t>
            </a:r>
            <a:r>
              <a:rPr lang="en-US" dirty="0" err="1" smtClean="0">
                <a:solidFill>
                  <a:schemeClr val="accent1">
                    <a:lumMod val="75000"/>
                  </a:schemeClr>
                </a:solidFill>
              </a:rPr>
              <a:t>nNode</a:t>
            </a:r>
            <a:r>
              <a:rPr lang="en-US" dirty="0" smtClean="0">
                <a:solidFill>
                  <a:schemeClr val="accent1">
                    <a:lumMod val="75000"/>
                  </a:schemeClr>
                </a:solidFill>
              </a:rPr>
              <a:t> inserted successfully at the end…!!!\n”;</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else{</a:t>
            </a:r>
          </a:p>
          <a:p>
            <a:pPr>
              <a:buNone/>
            </a:pPr>
            <a:r>
              <a:rPr lang="en-US" dirty="0" smtClean="0">
                <a:solidFill>
                  <a:schemeClr val="accent1">
                    <a:lumMod val="75000"/>
                  </a:schemeClr>
                </a:solidFill>
              </a:rPr>
              <a:t>                           while(q-&gt;link!=NULL)</a:t>
            </a:r>
          </a:p>
          <a:p>
            <a:pPr>
              <a:buNone/>
            </a:pPr>
            <a:r>
              <a:rPr lang="en-US" dirty="0" smtClean="0">
                <a:solidFill>
                  <a:schemeClr val="accent1">
                    <a:lumMod val="75000"/>
                  </a:schemeClr>
                </a:solidFill>
              </a:rPr>
              <a:t>                              q=q-&gt;link;</a:t>
            </a:r>
          </a:p>
          <a:p>
            <a:pPr>
              <a:buNone/>
            </a:pPr>
            <a:r>
              <a:rPr lang="en-US" dirty="0" smtClean="0">
                <a:solidFill>
                  <a:schemeClr val="accent1">
                    <a:lumMod val="75000"/>
                  </a:schemeClr>
                </a:solidFill>
              </a:rPr>
              <a:t>                   q-&gt;next=p;</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a:t>
            </a:r>
          </a:p>
          <a:p>
            <a:pPr>
              <a:buNone/>
            </a:pPr>
            <a:endParaRPr lang="en-US" dirty="0" smtClean="0">
              <a:solidFill>
                <a:schemeClr val="accent1">
                  <a:lumMod val="75000"/>
                </a:schemeClr>
              </a:solidFill>
            </a:endParaRPr>
          </a:p>
          <a:p>
            <a:pPr>
              <a:buNone/>
            </a:pPr>
            <a:endParaRPr lang="en-US"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dirty="0" smtClean="0"/>
              <a:t>Inserting after an element</a:t>
            </a:r>
            <a:endParaRPr lang="en-US" dirty="0"/>
          </a:p>
        </p:txBody>
      </p:sp>
      <p:sp>
        <p:nvSpPr>
          <p:cNvPr id="3" name="Content Placeholder 2"/>
          <p:cNvSpPr>
            <a:spLocks noGrp="1"/>
          </p:cNvSpPr>
          <p:nvPr>
            <p:ph idx="1"/>
          </p:nvPr>
        </p:nvSpPr>
        <p:spPr/>
        <p:txBody>
          <a:bodyPr>
            <a:normAutofit/>
          </a:bodyPr>
          <a:lstStyle/>
          <a:p>
            <a:pPr>
              <a:buNone/>
            </a:pPr>
            <a:r>
              <a:rPr lang="en-US" sz="2800" dirty="0" smtClean="0"/>
              <a:t>Here  we  again  need  to  do  2 steps :-</a:t>
            </a:r>
          </a:p>
          <a:p>
            <a:pPr>
              <a:buFont typeface="Wingdings" pitchFamily="2" charset="2"/>
              <a:buChar char="§"/>
            </a:pPr>
            <a:endParaRPr lang="en-US" sz="2800" dirty="0" smtClean="0"/>
          </a:p>
          <a:p>
            <a:pPr>
              <a:buFont typeface="Wingdings" pitchFamily="2" charset="2"/>
              <a:buChar char="§"/>
            </a:pPr>
            <a:r>
              <a:rPr lang="en-US" sz="2800" dirty="0" smtClean="0">
                <a:solidFill>
                  <a:schemeClr val="accent1">
                    <a:lumMod val="75000"/>
                  </a:schemeClr>
                </a:solidFill>
              </a:rPr>
              <a:t>Make the next pointer of the node to be inserted point to the next node of the node after which you want to insert the node</a:t>
            </a:r>
          </a:p>
          <a:p>
            <a:pPr>
              <a:buFont typeface="Wingdings" pitchFamily="2" charset="2"/>
              <a:buChar char="§"/>
            </a:pPr>
            <a:endParaRPr lang="en-US" sz="2800" dirty="0" smtClean="0">
              <a:solidFill>
                <a:schemeClr val="accent1">
                  <a:lumMod val="75000"/>
                </a:schemeClr>
              </a:solidFill>
            </a:endParaRPr>
          </a:p>
          <a:p>
            <a:pPr>
              <a:buFont typeface="Wingdings" pitchFamily="2" charset="2"/>
              <a:buChar char="§"/>
            </a:pPr>
            <a:r>
              <a:rPr lang="en-US" sz="2800" dirty="0" smtClean="0">
                <a:solidFill>
                  <a:schemeClr val="accent1">
                    <a:lumMod val="75000"/>
                  </a:schemeClr>
                </a:solidFill>
              </a:rPr>
              <a:t>Make the next pointer of the node after which the node is to be inserted, point to the node to be inserted </a:t>
            </a:r>
            <a:endParaRPr lang="en-US" sz="2800"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nafter.png"/>
          <p:cNvPicPr>
            <a:picLocks noGrp="1" noChangeAspect="1"/>
          </p:cNvPicPr>
          <p:nvPr>
            <p:ph idx="1"/>
          </p:nvPr>
        </p:nvPicPr>
        <p:blipFill>
          <a:blip r:embed="rId2" cstate="print"/>
          <a:stretch>
            <a:fillRect/>
          </a:stretch>
        </p:blipFill>
        <p:spPr>
          <a:xfrm>
            <a:off x="228600" y="1219200"/>
            <a:ext cx="8915400" cy="4919898"/>
          </a:xfr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8229600" cy="5257800"/>
          </a:xfrm>
        </p:spPr>
        <p:txBody>
          <a:bodyPr>
            <a:normAutofit fontScale="92500" lnSpcReduction="20000"/>
          </a:bodyPr>
          <a:lstStyle/>
          <a:p>
            <a:pPr>
              <a:buNone/>
            </a:pPr>
            <a:r>
              <a:rPr lang="en-US" dirty="0" smtClean="0">
                <a:solidFill>
                  <a:schemeClr val="accent1">
                    <a:lumMod val="75000"/>
                  </a:schemeClr>
                </a:solidFill>
              </a:rPr>
              <a:t>void </a:t>
            </a:r>
            <a:r>
              <a:rPr lang="en-US" dirty="0" err="1" smtClean="0">
                <a:solidFill>
                  <a:schemeClr val="accent1">
                    <a:lumMod val="75000"/>
                  </a:schemeClr>
                </a:solidFill>
              </a:rPr>
              <a:t>insert_after</a:t>
            </a:r>
            <a:r>
              <a:rPr lang="en-US" dirty="0" smtClean="0">
                <a:solidFill>
                  <a:schemeClr val="accent1">
                    <a:lumMod val="75000"/>
                  </a:schemeClr>
                </a:solidFill>
              </a:rPr>
              <a:t>(</a:t>
            </a:r>
            <a:r>
              <a:rPr lang="en-US" dirty="0" err="1" smtClean="0">
                <a:solidFill>
                  <a:schemeClr val="accent1">
                    <a:lumMod val="75000"/>
                  </a:schemeClr>
                </a:solidFill>
              </a:rPr>
              <a:t>int</a:t>
            </a:r>
            <a:r>
              <a:rPr lang="en-US" dirty="0" smtClean="0">
                <a:solidFill>
                  <a:schemeClr val="accent1">
                    <a:lumMod val="75000"/>
                  </a:schemeClr>
                </a:solidFill>
              </a:rPr>
              <a:t> </a:t>
            </a:r>
            <a:r>
              <a:rPr lang="en-US" dirty="0" err="1" smtClean="0">
                <a:solidFill>
                  <a:schemeClr val="accent1">
                    <a:lumMod val="75000"/>
                  </a:schemeClr>
                </a:solidFill>
              </a:rPr>
              <a:t>c,node</a:t>
            </a:r>
            <a:r>
              <a:rPr lang="en-US" dirty="0" smtClean="0">
                <a:solidFill>
                  <a:schemeClr val="accent1">
                    <a:lumMod val="75000"/>
                  </a:schemeClr>
                </a:solidFill>
              </a:rPr>
              <a:t>* p)</a:t>
            </a:r>
          </a:p>
          <a:p>
            <a:pPr>
              <a:buNone/>
            </a:pPr>
            <a:r>
              <a:rPr lang="en-US" dirty="0" smtClean="0">
                <a:solidFill>
                  <a:schemeClr val="accent1">
                    <a:lumMod val="75000"/>
                  </a:schemeClr>
                </a:solidFill>
              </a:rPr>
              <a:t>{</a:t>
            </a:r>
          </a:p>
          <a:p>
            <a:pPr>
              <a:buNone/>
            </a:pPr>
            <a:r>
              <a:rPr lang="en-US" dirty="0" smtClean="0">
                <a:solidFill>
                  <a:schemeClr val="accent1">
                    <a:lumMod val="75000"/>
                  </a:schemeClr>
                </a:solidFill>
              </a:rPr>
              <a:t>node* q;</a:t>
            </a:r>
          </a:p>
          <a:p>
            <a:pPr>
              <a:buNone/>
            </a:pPr>
            <a:r>
              <a:rPr lang="en-US" dirty="0" smtClean="0">
                <a:solidFill>
                  <a:schemeClr val="accent1">
                    <a:lumMod val="75000"/>
                  </a:schemeClr>
                </a:solidFill>
              </a:rPr>
              <a:t>q=start;</a:t>
            </a:r>
          </a:p>
          <a:p>
            <a:pPr>
              <a:buNone/>
            </a:pPr>
            <a:r>
              <a:rPr lang="en-US" dirty="0" smtClean="0">
                <a:solidFill>
                  <a:schemeClr val="accent1">
                    <a:lumMod val="75000"/>
                  </a:schemeClr>
                </a:solidFill>
              </a:rPr>
              <a:t>        for(</a:t>
            </a:r>
            <a:r>
              <a:rPr lang="en-US" dirty="0" err="1" smtClean="0">
                <a:solidFill>
                  <a:schemeClr val="accent1">
                    <a:lumMod val="75000"/>
                  </a:schemeClr>
                </a:solidFill>
              </a:rPr>
              <a:t>int</a:t>
            </a:r>
            <a:r>
              <a:rPr lang="en-US" dirty="0" smtClean="0">
                <a:solidFill>
                  <a:schemeClr val="accent1">
                    <a:lumMod val="75000"/>
                  </a:schemeClr>
                </a:solidFill>
              </a:rPr>
              <a:t> </a:t>
            </a:r>
            <a:r>
              <a:rPr lang="en-US" dirty="0" err="1" smtClean="0">
                <a:solidFill>
                  <a:schemeClr val="accent1">
                    <a:lumMod val="75000"/>
                  </a:schemeClr>
                </a:solidFill>
              </a:rPr>
              <a:t>i</a:t>
            </a:r>
            <a:r>
              <a:rPr lang="en-US" dirty="0" smtClean="0">
                <a:solidFill>
                  <a:schemeClr val="accent1">
                    <a:lumMod val="75000"/>
                  </a:schemeClr>
                </a:solidFill>
              </a:rPr>
              <a:t>=1;i&lt;</a:t>
            </a:r>
            <a:r>
              <a:rPr lang="en-US" dirty="0" err="1" smtClean="0">
                <a:solidFill>
                  <a:schemeClr val="accent1">
                    <a:lumMod val="75000"/>
                  </a:schemeClr>
                </a:solidFill>
              </a:rPr>
              <a:t>c;i</a:t>
            </a:r>
            <a:r>
              <a:rPr lang="en-US" dirty="0" smtClean="0">
                <a:solidFill>
                  <a:schemeClr val="accent1">
                    <a:lumMod val="75000"/>
                  </a:schemeClr>
                </a:solidFill>
              </a:rPr>
              <a:t>++)</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q=q-&gt;link;</a:t>
            </a:r>
          </a:p>
          <a:p>
            <a:pPr>
              <a:buNone/>
            </a:pPr>
            <a:r>
              <a:rPr lang="en-US" dirty="0" smtClean="0">
                <a:solidFill>
                  <a:schemeClr val="accent1">
                    <a:lumMod val="75000"/>
                  </a:schemeClr>
                </a:solidFill>
              </a:rPr>
              <a:t>                   if(q==NULL)</a:t>
            </a:r>
          </a:p>
          <a:p>
            <a:pPr>
              <a:buNone/>
            </a:pPr>
            <a:r>
              <a:rPr lang="en-US" dirty="0" smtClean="0">
                <a:solidFill>
                  <a:schemeClr val="accent1">
                    <a:lumMod val="75000"/>
                  </a:schemeClr>
                </a:solidFill>
              </a:rPr>
              <a:t>                  </a:t>
            </a:r>
            <a:r>
              <a:rPr lang="en-US" dirty="0" err="1" smtClean="0">
                <a:solidFill>
                  <a:schemeClr val="accent1">
                    <a:lumMod val="75000"/>
                  </a:schemeClr>
                </a:solidFill>
              </a:rPr>
              <a:t>cout</a:t>
            </a:r>
            <a:r>
              <a:rPr lang="en-US" dirty="0" smtClean="0">
                <a:solidFill>
                  <a:schemeClr val="accent1">
                    <a:lumMod val="75000"/>
                  </a:schemeClr>
                </a:solidFill>
              </a:rPr>
              <a:t>&lt;&lt;”Less than “&lt;&lt;c&lt;&lt;” nodes in the list…!!!”;</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p-&gt;link=q-&gt;link;</a:t>
            </a:r>
          </a:p>
          <a:p>
            <a:pPr>
              <a:buNone/>
            </a:pPr>
            <a:r>
              <a:rPr lang="en-US" dirty="0" smtClean="0">
                <a:solidFill>
                  <a:schemeClr val="accent1">
                    <a:lumMod val="75000"/>
                  </a:schemeClr>
                </a:solidFill>
              </a:rPr>
              <a:t> q-&gt;link=p;</a:t>
            </a:r>
          </a:p>
          <a:p>
            <a:pPr>
              <a:buNone/>
            </a:pPr>
            <a:r>
              <a:rPr lang="en-US" dirty="0" err="1" smtClean="0">
                <a:solidFill>
                  <a:schemeClr val="accent1">
                    <a:lumMod val="75000"/>
                  </a:schemeClr>
                </a:solidFill>
              </a:rPr>
              <a:t>cout</a:t>
            </a:r>
            <a:r>
              <a:rPr lang="en-US" dirty="0" smtClean="0">
                <a:solidFill>
                  <a:schemeClr val="accent1">
                    <a:lumMod val="75000"/>
                  </a:schemeClr>
                </a:solidFill>
              </a:rPr>
              <a:t>&lt;&lt;”\</a:t>
            </a:r>
            <a:r>
              <a:rPr lang="en-US" dirty="0" err="1" smtClean="0">
                <a:solidFill>
                  <a:schemeClr val="accent1">
                    <a:lumMod val="75000"/>
                  </a:schemeClr>
                </a:solidFill>
              </a:rPr>
              <a:t>nNode</a:t>
            </a:r>
            <a:r>
              <a:rPr lang="en-US" dirty="0" smtClean="0">
                <a:solidFill>
                  <a:schemeClr val="accent1">
                    <a:lumMod val="75000"/>
                  </a:schemeClr>
                </a:solidFill>
              </a:rPr>
              <a:t> inserted successfully”;</a:t>
            </a:r>
          </a:p>
          <a:p>
            <a:pPr>
              <a:buNone/>
            </a:pPr>
            <a:r>
              <a:rPr lang="en-US" dirty="0" smtClean="0">
                <a:solidFill>
                  <a:schemeClr val="accent1">
                    <a:lumMod val="75000"/>
                  </a:schemeClr>
                </a:solidFill>
              </a:rPr>
              <a:t>}</a:t>
            </a:r>
          </a:p>
          <a:p>
            <a:pPr>
              <a:buNone/>
            </a:pPr>
            <a:endParaRPr lang="en-US" dirty="0" smtClean="0">
              <a:solidFill>
                <a:schemeClr val="accent1">
                  <a:lumMod val="75000"/>
                </a:schemeClr>
              </a:solidFill>
            </a:endParaRPr>
          </a:p>
          <a:p>
            <a:pPr>
              <a:buNone/>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896112"/>
          </a:xfrm>
        </p:spPr>
        <p:txBody>
          <a:bodyPr/>
          <a:lstStyle/>
          <a:p>
            <a:r>
              <a:rPr lang="en-US" dirty="0" smtClean="0"/>
              <a:t>Deleting a node in SLL</a:t>
            </a:r>
            <a:endParaRPr lang="en-US" dirty="0"/>
          </a:p>
        </p:txBody>
      </p:sp>
      <p:sp>
        <p:nvSpPr>
          <p:cNvPr id="3" name="Content Placeholder 2"/>
          <p:cNvSpPr>
            <a:spLocks noGrp="1"/>
          </p:cNvSpPr>
          <p:nvPr>
            <p:ph idx="1"/>
          </p:nvPr>
        </p:nvSpPr>
        <p:spPr/>
        <p:txBody>
          <a:bodyPr>
            <a:normAutofit/>
          </a:bodyPr>
          <a:lstStyle/>
          <a:p>
            <a:pPr>
              <a:buNone/>
            </a:pPr>
            <a:r>
              <a:rPr lang="en-US" sz="2800" dirty="0" smtClean="0">
                <a:solidFill>
                  <a:schemeClr val="tx1">
                    <a:lumMod val="95000"/>
                    <a:lumOff val="5000"/>
                  </a:schemeClr>
                </a:solidFill>
              </a:rPr>
              <a:t>Here also we have three cases:-</a:t>
            </a:r>
          </a:p>
          <a:p>
            <a:pPr>
              <a:buFont typeface="Wingdings" pitchFamily="2" charset="2"/>
              <a:buChar char="Ø"/>
            </a:pPr>
            <a:endParaRPr lang="en-US" sz="2800" dirty="0" smtClean="0">
              <a:solidFill>
                <a:schemeClr val="tx1">
                  <a:lumMod val="95000"/>
                  <a:lumOff val="5000"/>
                </a:schemeClr>
              </a:solidFill>
            </a:endParaRPr>
          </a:p>
          <a:p>
            <a:pPr>
              <a:buFont typeface="Wingdings" pitchFamily="2" charset="2"/>
              <a:buChar char="Ø"/>
            </a:pPr>
            <a:r>
              <a:rPr lang="en-US" sz="2800" dirty="0" smtClean="0">
                <a:solidFill>
                  <a:schemeClr val="tx1">
                    <a:lumMod val="95000"/>
                    <a:lumOff val="5000"/>
                  </a:schemeClr>
                </a:solidFill>
              </a:rPr>
              <a:t> </a:t>
            </a:r>
            <a:r>
              <a:rPr lang="en-US" sz="2800" dirty="0" smtClean="0">
                <a:solidFill>
                  <a:schemeClr val="tx2">
                    <a:lumMod val="75000"/>
                  </a:schemeClr>
                </a:solidFill>
              </a:rPr>
              <a:t>Deleting the first node</a:t>
            </a:r>
          </a:p>
          <a:p>
            <a:pPr>
              <a:buFont typeface="Wingdings" pitchFamily="2" charset="2"/>
              <a:buChar char="Ø"/>
            </a:pPr>
            <a:endParaRPr lang="en-US" sz="2800" dirty="0" smtClean="0">
              <a:solidFill>
                <a:schemeClr val="tx2">
                  <a:lumMod val="75000"/>
                </a:schemeClr>
              </a:solidFill>
            </a:endParaRPr>
          </a:p>
          <a:p>
            <a:pPr>
              <a:buFont typeface="Wingdings" pitchFamily="2" charset="2"/>
              <a:buChar char="Ø"/>
            </a:pPr>
            <a:r>
              <a:rPr lang="en-US" sz="2800" dirty="0" smtClean="0">
                <a:solidFill>
                  <a:schemeClr val="tx2">
                    <a:lumMod val="75000"/>
                  </a:schemeClr>
                </a:solidFill>
              </a:rPr>
              <a:t>Deleting the last node</a:t>
            </a:r>
          </a:p>
          <a:p>
            <a:pPr>
              <a:buFont typeface="Wingdings" pitchFamily="2" charset="2"/>
              <a:buChar char="Ø"/>
            </a:pPr>
            <a:endParaRPr lang="en-US" sz="2800" dirty="0" smtClean="0">
              <a:solidFill>
                <a:schemeClr val="tx2">
                  <a:lumMod val="75000"/>
                </a:schemeClr>
              </a:solidFill>
            </a:endParaRPr>
          </a:p>
          <a:p>
            <a:pPr>
              <a:buFont typeface="Wingdings" pitchFamily="2" charset="2"/>
              <a:buChar char="Ø"/>
            </a:pPr>
            <a:r>
              <a:rPr lang="en-US" sz="2800" dirty="0" smtClean="0">
                <a:solidFill>
                  <a:schemeClr val="tx2">
                    <a:lumMod val="75000"/>
                  </a:schemeClr>
                </a:solidFill>
              </a:rPr>
              <a:t>Deleting the intermediate node</a:t>
            </a:r>
            <a:endParaRPr lang="en-US" sz="2800" dirty="0">
              <a:solidFill>
                <a:schemeClr val="tx1">
                  <a:lumMod val="95000"/>
                  <a:lumOff val="5000"/>
                </a:schemeClr>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38200"/>
          </a:xfrm>
        </p:spPr>
        <p:txBody>
          <a:bodyPr/>
          <a:lstStyle/>
          <a:p>
            <a:r>
              <a:rPr lang="en-US" dirty="0" smtClean="0"/>
              <a:t>Deleting the first node</a:t>
            </a:r>
            <a:endParaRPr lang="en-US" dirty="0"/>
          </a:p>
        </p:txBody>
      </p:sp>
      <p:sp>
        <p:nvSpPr>
          <p:cNvPr id="3" name="Content Placeholder 2"/>
          <p:cNvSpPr>
            <a:spLocks noGrp="1"/>
          </p:cNvSpPr>
          <p:nvPr>
            <p:ph idx="1"/>
          </p:nvPr>
        </p:nvSpPr>
        <p:spPr>
          <a:xfrm>
            <a:off x="457200" y="1600200"/>
            <a:ext cx="8229600" cy="2712720"/>
          </a:xfrm>
        </p:spPr>
        <p:txBody>
          <a:bodyPr>
            <a:normAutofit lnSpcReduction="10000"/>
          </a:bodyPr>
          <a:lstStyle/>
          <a:p>
            <a:pPr>
              <a:buNone/>
            </a:pPr>
            <a:r>
              <a:rPr lang="en-US" sz="2800" dirty="0" smtClean="0"/>
              <a:t>Here we apply 2 steps:-</a:t>
            </a:r>
          </a:p>
          <a:p>
            <a:pPr>
              <a:buNone/>
            </a:pPr>
            <a:endParaRPr lang="en-US" dirty="0" smtClean="0"/>
          </a:p>
          <a:p>
            <a:pPr>
              <a:buFont typeface="Wingdings" pitchFamily="2" charset="2"/>
              <a:buChar char="§"/>
            </a:pPr>
            <a:r>
              <a:rPr lang="en-US" sz="2800" dirty="0" smtClean="0">
                <a:solidFill>
                  <a:schemeClr val="tx2">
                    <a:lumMod val="75000"/>
                  </a:schemeClr>
                </a:solidFill>
              </a:rPr>
              <a:t>Making the start pointer point towards the 2</a:t>
            </a:r>
            <a:r>
              <a:rPr lang="en-US" sz="2800" baseline="30000" dirty="0" smtClean="0">
                <a:solidFill>
                  <a:schemeClr val="tx2">
                    <a:lumMod val="75000"/>
                  </a:schemeClr>
                </a:solidFill>
              </a:rPr>
              <a:t>nd</a:t>
            </a:r>
            <a:r>
              <a:rPr lang="en-US" sz="2800" dirty="0" smtClean="0">
                <a:solidFill>
                  <a:schemeClr val="tx2">
                    <a:lumMod val="75000"/>
                  </a:schemeClr>
                </a:solidFill>
              </a:rPr>
              <a:t> node</a:t>
            </a:r>
          </a:p>
          <a:p>
            <a:pPr>
              <a:buFont typeface="Wingdings" pitchFamily="2" charset="2"/>
              <a:buChar char="§"/>
            </a:pPr>
            <a:endParaRPr lang="en-US" sz="2800" dirty="0" smtClean="0">
              <a:solidFill>
                <a:schemeClr val="tx2">
                  <a:lumMod val="75000"/>
                </a:schemeClr>
              </a:solidFill>
            </a:endParaRPr>
          </a:p>
          <a:p>
            <a:pPr>
              <a:buFont typeface="Wingdings" pitchFamily="2" charset="2"/>
              <a:buChar char="§"/>
            </a:pPr>
            <a:r>
              <a:rPr lang="en-US" sz="2800" dirty="0" smtClean="0">
                <a:solidFill>
                  <a:schemeClr val="tx2">
                    <a:lumMod val="75000"/>
                  </a:schemeClr>
                </a:solidFill>
              </a:rPr>
              <a:t>Deleting the first node using </a:t>
            </a:r>
            <a:r>
              <a:rPr lang="en-US" sz="2800" dirty="0" smtClean="0">
                <a:solidFill>
                  <a:srgbClr val="00B050"/>
                </a:solidFill>
              </a:rPr>
              <a:t>delete </a:t>
            </a:r>
            <a:r>
              <a:rPr lang="en-US" sz="2800" dirty="0" smtClean="0">
                <a:solidFill>
                  <a:schemeClr val="tx2">
                    <a:lumMod val="75000"/>
                  </a:schemeClr>
                </a:solidFill>
              </a:rPr>
              <a:t>keyword</a:t>
            </a:r>
            <a:endParaRPr lang="en-US" sz="2800" dirty="0">
              <a:solidFill>
                <a:schemeClr val="tx2">
                  <a:lumMod val="75000"/>
                </a:schemeClr>
              </a:solidFill>
            </a:endParaRPr>
          </a:p>
        </p:txBody>
      </p:sp>
      <p:grpSp>
        <p:nvGrpSpPr>
          <p:cNvPr id="4" name="Group 54"/>
          <p:cNvGrpSpPr>
            <a:grpSpLocks/>
          </p:cNvGrpSpPr>
          <p:nvPr/>
        </p:nvGrpSpPr>
        <p:grpSpPr bwMode="auto">
          <a:xfrm>
            <a:off x="685800" y="4876800"/>
            <a:ext cx="7543800" cy="1087438"/>
            <a:chOff x="432" y="1680"/>
            <a:chExt cx="4752" cy="685"/>
          </a:xfrm>
        </p:grpSpPr>
        <p:sp>
          <p:nvSpPr>
            <p:cNvPr id="5" name="Rectangle 4"/>
            <p:cNvSpPr>
              <a:spLocks noChangeArrowheads="1"/>
            </p:cNvSpPr>
            <p:nvPr/>
          </p:nvSpPr>
          <p:spPr bwMode="auto">
            <a:xfrm>
              <a:off x="4272" y="2120"/>
              <a:ext cx="623"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three</a:t>
              </a:r>
            </a:p>
          </p:txBody>
        </p:sp>
        <p:sp>
          <p:nvSpPr>
            <p:cNvPr id="6" name="Rectangle 5"/>
            <p:cNvSpPr>
              <a:spLocks noChangeArrowheads="1"/>
            </p:cNvSpPr>
            <p:nvPr/>
          </p:nvSpPr>
          <p:spPr bwMode="auto">
            <a:xfrm>
              <a:off x="4896" y="2119"/>
              <a:ext cx="288" cy="242"/>
            </a:xfrm>
            <a:prstGeom prst="rect">
              <a:avLst/>
            </a:prstGeom>
            <a:noFill/>
            <a:ln w="12700">
              <a:solidFill>
                <a:schemeClr val="tx1"/>
              </a:solidFill>
              <a:miter lim="800000"/>
              <a:headEnd/>
              <a:tailEnd/>
            </a:ln>
          </p:spPr>
          <p:txBody>
            <a:bodyPr wrap="none" anchor="ctr"/>
            <a:lstStyle/>
            <a:p>
              <a:endParaRPr lang="en-US"/>
            </a:p>
          </p:txBody>
        </p:sp>
        <p:sp>
          <p:nvSpPr>
            <p:cNvPr id="7" name="Oval 6"/>
            <p:cNvSpPr>
              <a:spLocks noChangeArrowheads="1"/>
            </p:cNvSpPr>
            <p:nvPr/>
          </p:nvSpPr>
          <p:spPr bwMode="auto">
            <a:xfrm>
              <a:off x="4992" y="2170"/>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8" name="Rectangle 28"/>
            <p:cNvSpPr>
              <a:spLocks noChangeArrowheads="1"/>
            </p:cNvSpPr>
            <p:nvPr/>
          </p:nvSpPr>
          <p:spPr bwMode="auto">
            <a:xfrm>
              <a:off x="3024" y="2120"/>
              <a:ext cx="623" cy="242"/>
            </a:xfrm>
            <a:prstGeom prst="rect">
              <a:avLst/>
            </a:prstGeom>
            <a:noFill/>
            <a:ln w="12700">
              <a:solidFill>
                <a:schemeClr val="tx1"/>
              </a:solidFill>
              <a:miter lim="800000"/>
              <a:headEnd/>
              <a:tailEnd/>
            </a:ln>
          </p:spPr>
          <p:txBody>
            <a:bodyPr wrap="none" anchor="ctr"/>
            <a:lstStyle/>
            <a:p>
              <a:pPr algn="ctr"/>
              <a:r>
                <a:rPr lang="en-US" dirty="0">
                  <a:latin typeface="Consolas" pitchFamily="49" charset="0"/>
                </a:rPr>
                <a:t>two</a:t>
              </a:r>
            </a:p>
          </p:txBody>
        </p:sp>
        <p:sp>
          <p:nvSpPr>
            <p:cNvPr id="9" name="Rectangle 29"/>
            <p:cNvSpPr>
              <a:spLocks noChangeArrowheads="1"/>
            </p:cNvSpPr>
            <p:nvPr/>
          </p:nvSpPr>
          <p:spPr bwMode="auto">
            <a:xfrm>
              <a:off x="3648" y="2119"/>
              <a:ext cx="288" cy="242"/>
            </a:xfrm>
            <a:prstGeom prst="rect">
              <a:avLst/>
            </a:prstGeom>
            <a:noFill/>
            <a:ln w="12700">
              <a:solidFill>
                <a:schemeClr val="tx1"/>
              </a:solidFill>
              <a:miter lim="800000"/>
              <a:headEnd/>
              <a:tailEnd/>
            </a:ln>
          </p:spPr>
          <p:txBody>
            <a:bodyPr wrap="none" anchor="ctr"/>
            <a:lstStyle/>
            <a:p>
              <a:endParaRPr lang="en-US"/>
            </a:p>
          </p:txBody>
        </p:sp>
        <p:sp>
          <p:nvSpPr>
            <p:cNvPr id="10" name="Oval 30"/>
            <p:cNvSpPr>
              <a:spLocks noChangeArrowheads="1"/>
            </p:cNvSpPr>
            <p:nvPr/>
          </p:nvSpPr>
          <p:spPr bwMode="auto">
            <a:xfrm>
              <a:off x="3744" y="2170"/>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11" name="Line 31"/>
            <p:cNvSpPr>
              <a:spLocks noChangeShapeType="1"/>
            </p:cNvSpPr>
            <p:nvPr/>
          </p:nvSpPr>
          <p:spPr bwMode="auto">
            <a:xfrm>
              <a:off x="3792" y="2218"/>
              <a:ext cx="480" cy="0"/>
            </a:xfrm>
            <a:prstGeom prst="line">
              <a:avLst/>
            </a:prstGeom>
            <a:noFill/>
            <a:ln w="12700">
              <a:solidFill>
                <a:schemeClr val="tx1"/>
              </a:solidFill>
              <a:round/>
              <a:headEnd/>
              <a:tailEnd type="triangle" w="lg" len="lg"/>
            </a:ln>
          </p:spPr>
          <p:txBody>
            <a:bodyPr wrap="none" anchor="ctr"/>
            <a:lstStyle/>
            <a:p>
              <a:endParaRPr lang="en-US"/>
            </a:p>
          </p:txBody>
        </p:sp>
        <p:sp>
          <p:nvSpPr>
            <p:cNvPr id="12" name="Rectangle 33"/>
            <p:cNvSpPr>
              <a:spLocks noChangeArrowheads="1"/>
            </p:cNvSpPr>
            <p:nvPr/>
          </p:nvSpPr>
          <p:spPr bwMode="auto">
            <a:xfrm>
              <a:off x="1776" y="2123"/>
              <a:ext cx="623" cy="242"/>
            </a:xfrm>
            <a:prstGeom prst="rect">
              <a:avLst/>
            </a:prstGeom>
            <a:noFill/>
            <a:ln w="12700">
              <a:solidFill>
                <a:schemeClr val="tx1"/>
              </a:solidFill>
              <a:miter lim="800000"/>
              <a:headEnd/>
              <a:tailEnd/>
            </a:ln>
          </p:spPr>
          <p:txBody>
            <a:bodyPr wrap="none" anchor="ctr"/>
            <a:lstStyle/>
            <a:p>
              <a:pPr algn="ctr"/>
              <a:r>
                <a:rPr lang="en-US">
                  <a:latin typeface="Consolas" pitchFamily="49" charset="0"/>
                </a:rPr>
                <a:t>one</a:t>
              </a:r>
            </a:p>
          </p:txBody>
        </p:sp>
        <p:sp>
          <p:nvSpPr>
            <p:cNvPr id="13" name="Rectangle 34"/>
            <p:cNvSpPr>
              <a:spLocks noChangeArrowheads="1"/>
            </p:cNvSpPr>
            <p:nvPr/>
          </p:nvSpPr>
          <p:spPr bwMode="auto">
            <a:xfrm>
              <a:off x="2400" y="2122"/>
              <a:ext cx="288" cy="242"/>
            </a:xfrm>
            <a:prstGeom prst="rect">
              <a:avLst/>
            </a:prstGeom>
            <a:noFill/>
            <a:ln w="12700">
              <a:solidFill>
                <a:schemeClr val="tx1"/>
              </a:solidFill>
              <a:miter lim="800000"/>
              <a:headEnd/>
              <a:tailEnd/>
            </a:ln>
          </p:spPr>
          <p:txBody>
            <a:bodyPr wrap="none" anchor="ctr"/>
            <a:lstStyle/>
            <a:p>
              <a:endParaRPr lang="en-US"/>
            </a:p>
          </p:txBody>
        </p:sp>
        <p:sp>
          <p:nvSpPr>
            <p:cNvPr id="14" name="Oval 35"/>
            <p:cNvSpPr>
              <a:spLocks noChangeArrowheads="1"/>
            </p:cNvSpPr>
            <p:nvPr/>
          </p:nvSpPr>
          <p:spPr bwMode="auto">
            <a:xfrm>
              <a:off x="2496" y="2173"/>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15" name="Line 36"/>
            <p:cNvSpPr>
              <a:spLocks noChangeShapeType="1"/>
            </p:cNvSpPr>
            <p:nvPr/>
          </p:nvSpPr>
          <p:spPr bwMode="auto">
            <a:xfrm>
              <a:off x="2544" y="2221"/>
              <a:ext cx="480" cy="0"/>
            </a:xfrm>
            <a:prstGeom prst="line">
              <a:avLst/>
            </a:prstGeom>
            <a:noFill/>
            <a:ln w="12700">
              <a:solidFill>
                <a:schemeClr val="tx1"/>
              </a:solidFill>
              <a:round/>
              <a:headEnd/>
              <a:tailEnd type="triangle" w="lg" len="lg"/>
            </a:ln>
          </p:spPr>
          <p:txBody>
            <a:bodyPr wrap="none" anchor="ctr"/>
            <a:lstStyle/>
            <a:p>
              <a:endParaRPr lang="en-US"/>
            </a:p>
          </p:txBody>
        </p:sp>
        <p:sp>
          <p:nvSpPr>
            <p:cNvPr id="16" name="Oval 39"/>
            <p:cNvSpPr>
              <a:spLocks noChangeArrowheads="1"/>
            </p:cNvSpPr>
            <p:nvPr/>
          </p:nvSpPr>
          <p:spPr bwMode="auto">
            <a:xfrm>
              <a:off x="1392" y="1738"/>
              <a:ext cx="96" cy="96"/>
            </a:xfrm>
            <a:prstGeom prst="ellipse">
              <a:avLst/>
            </a:prstGeom>
            <a:solidFill>
              <a:schemeClr val="tx1"/>
            </a:solidFill>
            <a:ln w="12700">
              <a:solidFill>
                <a:schemeClr val="tx1"/>
              </a:solidFill>
              <a:round/>
              <a:headEnd/>
              <a:tailEnd/>
            </a:ln>
          </p:spPr>
          <p:txBody>
            <a:bodyPr wrap="none" anchor="ctr"/>
            <a:lstStyle/>
            <a:p>
              <a:endParaRPr lang="en-US"/>
            </a:p>
          </p:txBody>
        </p:sp>
        <p:sp>
          <p:nvSpPr>
            <p:cNvPr id="17" name="Rectangle 40"/>
            <p:cNvSpPr>
              <a:spLocks noChangeArrowheads="1"/>
            </p:cNvSpPr>
            <p:nvPr/>
          </p:nvSpPr>
          <p:spPr bwMode="auto">
            <a:xfrm>
              <a:off x="1296" y="1690"/>
              <a:ext cx="288" cy="240"/>
            </a:xfrm>
            <a:prstGeom prst="rect">
              <a:avLst/>
            </a:prstGeom>
            <a:noFill/>
            <a:ln w="12700">
              <a:solidFill>
                <a:schemeClr val="tx1"/>
              </a:solidFill>
              <a:miter lim="800000"/>
              <a:headEnd/>
              <a:tailEnd/>
            </a:ln>
          </p:spPr>
          <p:txBody>
            <a:bodyPr wrap="none" anchor="ctr"/>
            <a:lstStyle/>
            <a:p>
              <a:endParaRPr lang="en-US"/>
            </a:p>
          </p:txBody>
        </p:sp>
        <p:sp>
          <p:nvSpPr>
            <p:cNvPr id="18" name="Text Box 41"/>
            <p:cNvSpPr txBox="1">
              <a:spLocks noChangeArrowheads="1"/>
            </p:cNvSpPr>
            <p:nvPr/>
          </p:nvSpPr>
          <p:spPr bwMode="auto">
            <a:xfrm>
              <a:off x="432" y="1680"/>
              <a:ext cx="912" cy="253"/>
            </a:xfrm>
            <a:prstGeom prst="rect">
              <a:avLst/>
            </a:prstGeom>
            <a:noFill/>
            <a:ln w="9525">
              <a:noFill/>
              <a:miter lim="800000"/>
              <a:headEnd/>
              <a:tailEnd/>
            </a:ln>
          </p:spPr>
          <p:txBody>
            <a:bodyPr>
              <a:spAutoFit/>
            </a:bodyPr>
            <a:lstStyle/>
            <a:p>
              <a:pPr>
                <a:spcBef>
                  <a:spcPct val="50000"/>
                </a:spcBef>
              </a:pPr>
              <a:r>
                <a:rPr lang="en-US" sz="2000" dirty="0" smtClean="0">
                  <a:solidFill>
                    <a:schemeClr val="accent2"/>
                  </a:solidFill>
                  <a:latin typeface="Consolas" pitchFamily="49" charset="0"/>
                </a:rPr>
                <a:t>  start</a:t>
              </a:r>
              <a:endParaRPr lang="en-US" sz="2000" dirty="0">
                <a:solidFill>
                  <a:schemeClr val="accent2"/>
                </a:solidFill>
                <a:latin typeface="Consolas" pitchFamily="49" charset="0"/>
              </a:endParaRPr>
            </a:p>
          </p:txBody>
        </p:sp>
        <p:sp>
          <p:nvSpPr>
            <p:cNvPr id="19" name="Line 52"/>
            <p:cNvSpPr>
              <a:spLocks noChangeShapeType="1"/>
            </p:cNvSpPr>
            <p:nvPr/>
          </p:nvSpPr>
          <p:spPr bwMode="auto">
            <a:xfrm>
              <a:off x="1440" y="1776"/>
              <a:ext cx="336" cy="336"/>
            </a:xfrm>
            <a:prstGeom prst="line">
              <a:avLst/>
            </a:prstGeom>
            <a:noFill/>
            <a:ln w="19050">
              <a:solidFill>
                <a:schemeClr val="tx1"/>
              </a:solidFill>
              <a:round/>
              <a:headEnd/>
              <a:tailEnd type="triangle" w="lg" len="lg"/>
            </a:ln>
          </p:spPr>
          <p:txBody>
            <a:bodyPr wrap="none" anchor="ctr"/>
            <a:lstStyle/>
            <a:p>
              <a:endParaRPr lang="en-US"/>
            </a:p>
          </p:txBody>
        </p:sp>
      </p:grpSp>
      <p:sp>
        <p:nvSpPr>
          <p:cNvPr id="20" name="Freeform 49"/>
          <p:cNvSpPr>
            <a:spLocks/>
          </p:cNvSpPr>
          <p:nvPr/>
        </p:nvSpPr>
        <p:spPr bwMode="auto">
          <a:xfrm>
            <a:off x="2286000" y="5029200"/>
            <a:ext cx="2514600" cy="539750"/>
          </a:xfrm>
          <a:custGeom>
            <a:avLst/>
            <a:gdLst>
              <a:gd name="T0" fmla="*/ 0 w 1584"/>
              <a:gd name="T1" fmla="*/ 2147483647 h 340"/>
              <a:gd name="T2" fmla="*/ 2147483647 w 1584"/>
              <a:gd name="T3" fmla="*/ 2147483647 h 340"/>
              <a:gd name="T4" fmla="*/ 2147483647 w 1584"/>
              <a:gd name="T5" fmla="*/ 2147483647 h 340"/>
              <a:gd name="T6" fmla="*/ 2147483647 w 1584"/>
              <a:gd name="T7" fmla="*/ 2147483647 h 340"/>
              <a:gd name="T8" fmla="*/ 0 60000 65536"/>
              <a:gd name="T9" fmla="*/ 0 60000 65536"/>
              <a:gd name="T10" fmla="*/ 0 60000 65536"/>
              <a:gd name="T11" fmla="*/ 0 60000 65536"/>
              <a:gd name="T12" fmla="*/ 0 w 1584"/>
              <a:gd name="T13" fmla="*/ 0 h 340"/>
              <a:gd name="T14" fmla="*/ 1584 w 1584"/>
              <a:gd name="T15" fmla="*/ 340 h 340"/>
            </a:gdLst>
            <a:ahLst/>
            <a:cxnLst>
              <a:cxn ang="T8">
                <a:pos x="T0" y="T1"/>
              </a:cxn>
              <a:cxn ang="T9">
                <a:pos x="T2" y="T3"/>
              </a:cxn>
              <a:cxn ang="T10">
                <a:pos x="T4" y="T5"/>
              </a:cxn>
              <a:cxn ang="T11">
                <a:pos x="T6" y="T7"/>
              </a:cxn>
            </a:cxnLst>
            <a:rect l="T12" t="T13" r="T14" b="T15"/>
            <a:pathLst>
              <a:path w="1584" h="340">
                <a:moveTo>
                  <a:pt x="0" y="4"/>
                </a:moveTo>
                <a:cubicBezTo>
                  <a:pt x="118" y="6"/>
                  <a:pt x="496" y="0"/>
                  <a:pt x="709" y="16"/>
                </a:cubicBezTo>
                <a:cubicBezTo>
                  <a:pt x="922" y="32"/>
                  <a:pt x="1132" y="47"/>
                  <a:pt x="1278" y="101"/>
                </a:cubicBezTo>
                <a:cubicBezTo>
                  <a:pt x="1424" y="155"/>
                  <a:pt x="1520" y="290"/>
                  <a:pt x="1584" y="340"/>
                </a:cubicBezTo>
              </a:path>
            </a:pathLst>
          </a:custGeom>
          <a:noFill/>
          <a:ln w="19050">
            <a:solidFill>
              <a:schemeClr val="tx1"/>
            </a:solidFill>
            <a:round/>
            <a:headEnd/>
            <a:tailEnd type="triangle" w="lg" len="lg"/>
          </a:ln>
        </p:spPr>
        <p:txBody>
          <a:bodyPr wrap="none" anchor="ctr"/>
          <a:lstStyle/>
          <a:p>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Line 53"/>
          <p:cNvSpPr>
            <a:spLocks noChangeShapeType="1"/>
          </p:cNvSpPr>
          <p:nvPr/>
        </p:nvSpPr>
        <p:spPr bwMode="auto">
          <a:xfrm>
            <a:off x="2286000" y="2514600"/>
            <a:ext cx="533400" cy="533400"/>
          </a:xfrm>
          <a:prstGeom prst="line">
            <a:avLst/>
          </a:prstGeom>
          <a:noFill/>
          <a:ln w="19050">
            <a:solidFill>
              <a:schemeClr val="bg1"/>
            </a:solidFill>
            <a:round/>
            <a:headEnd/>
            <a:tailEnd type="triangle" w="lg" len="lg"/>
          </a:ln>
        </p:spPr>
        <p:txBody>
          <a:bodyPr wrap="none" anchor="ctr"/>
          <a:lstStyle/>
          <a:p>
            <a:endParaRPr lang="en-US"/>
          </a:p>
        </p:txBody>
      </p:sp>
      <p:sp>
        <p:nvSpPr>
          <p:cNvPr id="42" name="TextBox 41"/>
          <p:cNvSpPr txBox="1"/>
          <p:nvPr/>
        </p:nvSpPr>
        <p:spPr>
          <a:xfrm>
            <a:off x="533400" y="990600"/>
            <a:ext cx="8153400" cy="4801314"/>
          </a:xfrm>
          <a:prstGeom prst="rect">
            <a:avLst/>
          </a:prstGeom>
          <a:noFill/>
        </p:spPr>
        <p:txBody>
          <a:bodyPr wrap="square" rtlCol="0">
            <a:spAutoFit/>
          </a:bodyPr>
          <a:lstStyle/>
          <a:p>
            <a:r>
              <a:rPr lang="en-US" sz="2400" dirty="0" smtClean="0">
                <a:solidFill>
                  <a:schemeClr val="accent1">
                    <a:lumMod val="75000"/>
                  </a:schemeClr>
                </a:solidFill>
              </a:rPr>
              <a:t>void </a:t>
            </a:r>
            <a:r>
              <a:rPr lang="en-US" sz="2400" dirty="0" err="1" smtClean="0">
                <a:solidFill>
                  <a:schemeClr val="accent1">
                    <a:lumMod val="75000"/>
                  </a:schemeClr>
                </a:solidFill>
              </a:rPr>
              <a:t>del_first</a:t>
            </a:r>
            <a:r>
              <a:rPr lang="en-US" sz="2400" dirty="0" smtClean="0">
                <a:solidFill>
                  <a:schemeClr val="accent1">
                    <a:lumMod val="75000"/>
                  </a:schemeClr>
                </a:solidFill>
              </a:rPr>
              <a:t>()</a:t>
            </a:r>
          </a:p>
          <a:p>
            <a:r>
              <a:rPr lang="en-US" sz="2400" dirty="0" smtClean="0">
                <a:solidFill>
                  <a:schemeClr val="accent1">
                    <a:lumMod val="75000"/>
                  </a:schemeClr>
                </a:solidFill>
              </a:rPr>
              <a:t>{</a:t>
            </a:r>
          </a:p>
          <a:p>
            <a:r>
              <a:rPr lang="en-US" sz="2400" dirty="0" smtClean="0">
                <a:solidFill>
                  <a:schemeClr val="accent1">
                    <a:lumMod val="75000"/>
                  </a:schemeClr>
                </a:solidFill>
              </a:rPr>
              <a:t>       if(start==NULL)</a:t>
            </a:r>
          </a:p>
          <a:p>
            <a:r>
              <a:rPr lang="en-US" sz="2400" dirty="0" smtClean="0">
                <a:solidFill>
                  <a:schemeClr val="accent1">
                    <a:lumMod val="75000"/>
                  </a:schemeClr>
                </a:solidFill>
              </a:rPr>
              <a:t>      </a:t>
            </a:r>
            <a:r>
              <a:rPr lang="en-US" sz="2400" dirty="0" err="1" smtClean="0">
                <a:solidFill>
                  <a:schemeClr val="accent1">
                    <a:lumMod val="75000"/>
                  </a:schemeClr>
                </a:solidFill>
              </a:rPr>
              <a:t>cout</a:t>
            </a:r>
            <a:r>
              <a:rPr lang="en-US" sz="2400" dirty="0" smtClean="0">
                <a:solidFill>
                  <a:schemeClr val="accent1">
                    <a:lumMod val="75000"/>
                  </a:schemeClr>
                </a:solidFill>
              </a:rPr>
              <a:t>&lt;&lt;”\</a:t>
            </a:r>
            <a:r>
              <a:rPr lang="en-US" sz="2400" dirty="0" err="1" smtClean="0">
                <a:solidFill>
                  <a:schemeClr val="accent1">
                    <a:lumMod val="75000"/>
                  </a:schemeClr>
                </a:solidFill>
              </a:rPr>
              <a:t>nError</a:t>
            </a:r>
            <a:r>
              <a:rPr lang="en-US" sz="2400" dirty="0" smtClean="0">
                <a:solidFill>
                  <a:schemeClr val="accent1">
                    <a:lumMod val="75000"/>
                  </a:schemeClr>
                </a:solidFill>
              </a:rPr>
              <a:t>……List is empty\n”;</a:t>
            </a:r>
          </a:p>
          <a:p>
            <a:r>
              <a:rPr lang="en-US" sz="2400" dirty="0" smtClean="0">
                <a:solidFill>
                  <a:schemeClr val="accent1">
                    <a:lumMod val="75000"/>
                  </a:schemeClr>
                </a:solidFill>
              </a:rPr>
              <a:t>      else</a:t>
            </a:r>
          </a:p>
          <a:p>
            <a:r>
              <a:rPr lang="en-US" sz="2400" dirty="0" smtClean="0">
                <a:solidFill>
                  <a:schemeClr val="accent1">
                    <a:lumMod val="75000"/>
                  </a:schemeClr>
                </a:solidFill>
              </a:rPr>
              <a:t>      {</a:t>
            </a:r>
          </a:p>
          <a:p>
            <a:r>
              <a:rPr lang="en-US" sz="2400" dirty="0" smtClean="0">
                <a:solidFill>
                  <a:schemeClr val="accent1">
                    <a:lumMod val="75000"/>
                  </a:schemeClr>
                </a:solidFill>
              </a:rPr>
              <a:t>        node* temp=start;</a:t>
            </a:r>
          </a:p>
          <a:p>
            <a:r>
              <a:rPr lang="en-US" sz="2400" dirty="0" smtClean="0">
                <a:solidFill>
                  <a:schemeClr val="accent1">
                    <a:lumMod val="75000"/>
                  </a:schemeClr>
                </a:solidFill>
              </a:rPr>
              <a:t>        start=temp-&gt;link;    </a:t>
            </a:r>
          </a:p>
          <a:p>
            <a:r>
              <a:rPr lang="en-US" sz="2400" dirty="0" smtClean="0">
                <a:solidFill>
                  <a:schemeClr val="accent1">
                    <a:lumMod val="75000"/>
                  </a:schemeClr>
                </a:solidFill>
              </a:rPr>
              <a:t>        delete temp;</a:t>
            </a:r>
          </a:p>
          <a:p>
            <a:r>
              <a:rPr lang="en-US" sz="2400" dirty="0" err="1" smtClean="0">
                <a:solidFill>
                  <a:schemeClr val="accent1">
                    <a:lumMod val="75000"/>
                  </a:schemeClr>
                </a:solidFill>
              </a:rPr>
              <a:t>cout</a:t>
            </a:r>
            <a:r>
              <a:rPr lang="en-US" sz="2400" dirty="0" smtClean="0">
                <a:solidFill>
                  <a:schemeClr val="accent1">
                    <a:lumMod val="75000"/>
                  </a:schemeClr>
                </a:solidFill>
              </a:rPr>
              <a:t>&lt;&lt;”\</a:t>
            </a:r>
            <a:r>
              <a:rPr lang="en-US" sz="2400" dirty="0" err="1" smtClean="0">
                <a:solidFill>
                  <a:schemeClr val="accent1">
                    <a:lumMod val="75000"/>
                  </a:schemeClr>
                </a:solidFill>
              </a:rPr>
              <a:t>nFirst</a:t>
            </a:r>
            <a:r>
              <a:rPr lang="en-US" sz="2400" dirty="0" smtClean="0">
                <a:solidFill>
                  <a:schemeClr val="accent1">
                    <a:lumMod val="75000"/>
                  </a:schemeClr>
                </a:solidFill>
              </a:rPr>
              <a:t> node deleted successfully….!!!”;</a:t>
            </a:r>
          </a:p>
          <a:p>
            <a:r>
              <a:rPr lang="en-US" sz="2400" dirty="0" smtClean="0">
                <a:solidFill>
                  <a:schemeClr val="accent1">
                    <a:lumMod val="75000"/>
                  </a:schemeClr>
                </a:solidFill>
              </a:rPr>
              <a:t>      }</a:t>
            </a:r>
          </a:p>
          <a:p>
            <a:r>
              <a:rPr lang="en-US" sz="2400" dirty="0" smtClean="0">
                <a:solidFill>
                  <a:schemeClr val="accent1">
                    <a:lumMod val="75000"/>
                  </a:schemeClr>
                </a:solidFill>
              </a:rPr>
              <a:t>}</a:t>
            </a:r>
            <a:endParaRPr lang="en-US" sz="3200" dirty="0" smtClean="0">
              <a:solidFill>
                <a:schemeClr val="tx1">
                  <a:lumMod val="95000"/>
                  <a:lumOff val="5000"/>
                </a:schemeClr>
              </a:solidFill>
            </a:endParaRP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838200"/>
          </a:xfrm>
        </p:spPr>
        <p:txBody>
          <a:bodyPr/>
          <a:lstStyle/>
          <a:p>
            <a:r>
              <a:rPr lang="en-US" dirty="0" smtClean="0"/>
              <a:t>Deleting the last node</a:t>
            </a:r>
            <a:endParaRPr lang="en-US" dirty="0"/>
          </a:p>
        </p:txBody>
      </p:sp>
      <p:sp>
        <p:nvSpPr>
          <p:cNvPr id="3" name="Content Placeholder 2"/>
          <p:cNvSpPr>
            <a:spLocks noGrp="1"/>
          </p:cNvSpPr>
          <p:nvPr>
            <p:ph idx="1"/>
          </p:nvPr>
        </p:nvSpPr>
        <p:spPr>
          <a:xfrm>
            <a:off x="381000" y="1219200"/>
            <a:ext cx="8229600" cy="3124200"/>
          </a:xfrm>
        </p:spPr>
        <p:txBody>
          <a:bodyPr>
            <a:normAutofit/>
          </a:bodyPr>
          <a:lstStyle/>
          <a:p>
            <a:pPr>
              <a:buNone/>
            </a:pPr>
            <a:r>
              <a:rPr lang="en-US" sz="2800" dirty="0" smtClean="0"/>
              <a:t>Here we apply 2 steps:-</a:t>
            </a:r>
          </a:p>
          <a:p>
            <a:pPr>
              <a:buFont typeface="Wingdings" pitchFamily="2" charset="2"/>
              <a:buChar char="§"/>
            </a:pPr>
            <a:endParaRPr lang="en-US" sz="2800" dirty="0" smtClean="0">
              <a:solidFill>
                <a:schemeClr val="accent1">
                  <a:lumMod val="75000"/>
                </a:schemeClr>
              </a:solidFill>
            </a:endParaRPr>
          </a:p>
          <a:p>
            <a:pPr>
              <a:buFont typeface="Wingdings" pitchFamily="2" charset="2"/>
              <a:buChar char="§"/>
            </a:pPr>
            <a:r>
              <a:rPr lang="en-US" sz="2800" dirty="0" smtClean="0">
                <a:solidFill>
                  <a:schemeClr val="accent1">
                    <a:lumMod val="75000"/>
                  </a:schemeClr>
                </a:solidFill>
              </a:rPr>
              <a:t>Making the second last node’s next pointer point to NULL</a:t>
            </a:r>
          </a:p>
          <a:p>
            <a:pPr>
              <a:buFont typeface="Wingdings" pitchFamily="2" charset="2"/>
              <a:buChar char="§"/>
            </a:pPr>
            <a:endParaRPr lang="en-US" sz="2800" dirty="0" smtClean="0">
              <a:solidFill>
                <a:schemeClr val="accent1">
                  <a:lumMod val="75000"/>
                </a:schemeClr>
              </a:solidFill>
            </a:endParaRPr>
          </a:p>
          <a:p>
            <a:pPr>
              <a:buFont typeface="Wingdings" pitchFamily="2" charset="2"/>
              <a:buChar char="§"/>
            </a:pPr>
            <a:r>
              <a:rPr lang="en-US" sz="2800" dirty="0" smtClean="0">
                <a:solidFill>
                  <a:schemeClr val="accent1">
                    <a:lumMod val="75000"/>
                  </a:schemeClr>
                </a:solidFill>
              </a:rPr>
              <a:t>Deleting the last node via </a:t>
            </a:r>
            <a:r>
              <a:rPr lang="en-US" sz="2800" dirty="0" smtClean="0">
                <a:solidFill>
                  <a:schemeClr val="accent5">
                    <a:lumMod val="75000"/>
                  </a:schemeClr>
                </a:solidFill>
              </a:rPr>
              <a:t>delete </a:t>
            </a:r>
            <a:r>
              <a:rPr lang="en-US" sz="2800" dirty="0" smtClean="0">
                <a:solidFill>
                  <a:schemeClr val="accent1">
                    <a:lumMod val="75000"/>
                  </a:schemeClr>
                </a:solidFill>
              </a:rPr>
              <a:t>keyword</a:t>
            </a:r>
            <a:endParaRPr lang="en-US" sz="2800" dirty="0">
              <a:solidFill>
                <a:schemeClr val="accent1">
                  <a:lumMod val="75000"/>
                </a:schemeClr>
              </a:solidFill>
            </a:endParaRPr>
          </a:p>
        </p:txBody>
      </p:sp>
      <p:sp>
        <p:nvSpPr>
          <p:cNvPr id="4" name="Rectangle 4"/>
          <p:cNvSpPr>
            <a:spLocks noChangeArrowheads="1"/>
          </p:cNvSpPr>
          <p:nvPr/>
        </p:nvSpPr>
        <p:spPr bwMode="auto">
          <a:xfrm>
            <a:off x="5791200" y="5181600"/>
            <a:ext cx="1295400" cy="685800"/>
          </a:xfrm>
          <a:prstGeom prst="rect">
            <a:avLst/>
          </a:prstGeom>
          <a:solidFill>
            <a:srgbClr val="CCFFFF">
              <a:alpha val="50195"/>
            </a:srgbClr>
          </a:solidFill>
          <a:ln w="3175">
            <a:solidFill>
              <a:schemeClr val="tx1"/>
            </a:solidFill>
            <a:prstDash val="sysDot"/>
            <a:miter lim="800000"/>
            <a:headEnd/>
            <a:tailEnd/>
          </a:ln>
        </p:spPr>
        <p:txBody>
          <a:bodyPr wrap="none" anchor="ctr"/>
          <a:lstStyle/>
          <a:p>
            <a:pPr algn="ctr" eaLnBrk="1" hangingPunct="1"/>
            <a:r>
              <a:rPr lang="en-US" sz="2400" dirty="0">
                <a:solidFill>
                  <a:schemeClr val="tx1"/>
                </a:solidFill>
                <a:latin typeface="Times New Roman" pitchFamily="18" charset="0"/>
              </a:rPr>
              <a:t>node3    </a:t>
            </a:r>
          </a:p>
        </p:txBody>
      </p:sp>
      <p:sp>
        <p:nvSpPr>
          <p:cNvPr id="5" name="Rectangle 4"/>
          <p:cNvSpPr>
            <a:spLocks noChangeArrowheads="1"/>
          </p:cNvSpPr>
          <p:nvPr/>
        </p:nvSpPr>
        <p:spPr bwMode="auto">
          <a:xfrm>
            <a:off x="3733800" y="5181600"/>
            <a:ext cx="1295400" cy="685800"/>
          </a:xfrm>
          <a:prstGeom prst="rect">
            <a:avLst/>
          </a:prstGeom>
          <a:solidFill>
            <a:srgbClr val="CCFFFF">
              <a:alpha val="50195"/>
            </a:srgbClr>
          </a:solidFill>
          <a:ln w="3175">
            <a:solidFill>
              <a:schemeClr val="tx1"/>
            </a:solidFill>
            <a:prstDash val="sysDot"/>
            <a:miter lim="800000"/>
            <a:headEnd/>
            <a:tailEnd/>
          </a:ln>
        </p:spPr>
        <p:txBody>
          <a:bodyPr wrap="none" anchor="ctr"/>
          <a:lstStyle/>
          <a:p>
            <a:pPr algn="ctr" eaLnBrk="1" hangingPunct="1"/>
            <a:r>
              <a:rPr lang="en-US" sz="2400" dirty="0" smtClean="0">
                <a:solidFill>
                  <a:schemeClr val="tx1"/>
                </a:solidFill>
                <a:latin typeface="Times New Roman" pitchFamily="18" charset="0"/>
              </a:rPr>
              <a:t>node2    </a:t>
            </a:r>
            <a:endParaRPr lang="en-US" sz="2400" dirty="0">
              <a:solidFill>
                <a:schemeClr val="tx1"/>
              </a:solidFill>
              <a:latin typeface="Times New Roman" pitchFamily="18" charset="0"/>
            </a:endParaRPr>
          </a:p>
        </p:txBody>
      </p:sp>
      <p:sp>
        <p:nvSpPr>
          <p:cNvPr id="6" name="Rectangle 5"/>
          <p:cNvSpPr>
            <a:spLocks noChangeArrowheads="1"/>
          </p:cNvSpPr>
          <p:nvPr/>
        </p:nvSpPr>
        <p:spPr bwMode="auto">
          <a:xfrm>
            <a:off x="1676400" y="5181600"/>
            <a:ext cx="1295400" cy="685800"/>
          </a:xfrm>
          <a:prstGeom prst="rect">
            <a:avLst/>
          </a:prstGeom>
          <a:solidFill>
            <a:srgbClr val="CCFFFF">
              <a:alpha val="50195"/>
            </a:srgbClr>
          </a:solidFill>
          <a:ln w="3175">
            <a:solidFill>
              <a:srgbClr val="000000"/>
            </a:solidFill>
            <a:prstDash val="sysDot"/>
            <a:miter lim="800000"/>
            <a:headEnd/>
            <a:tailEnd/>
          </a:ln>
        </p:spPr>
        <p:txBody>
          <a:bodyPr wrap="none" anchor="ctr"/>
          <a:lstStyle/>
          <a:p>
            <a:pPr algn="ctr" eaLnBrk="1" hangingPunct="1"/>
            <a:r>
              <a:rPr lang="en-US" sz="2400" dirty="0" smtClean="0">
                <a:solidFill>
                  <a:schemeClr val="tx1"/>
                </a:solidFill>
                <a:latin typeface="Times New Roman" pitchFamily="18" charset="0"/>
              </a:rPr>
              <a:t>node1  </a:t>
            </a:r>
            <a:endParaRPr lang="en-US" sz="2400" dirty="0">
              <a:solidFill>
                <a:schemeClr val="tx1"/>
              </a:solidFill>
              <a:latin typeface="Times New Roman" pitchFamily="18" charset="0"/>
            </a:endParaRPr>
          </a:p>
        </p:txBody>
      </p:sp>
      <p:sp>
        <p:nvSpPr>
          <p:cNvPr id="7" name="Freeform 10"/>
          <p:cNvSpPr>
            <a:spLocks/>
          </p:cNvSpPr>
          <p:nvPr/>
        </p:nvSpPr>
        <p:spPr bwMode="auto">
          <a:xfrm>
            <a:off x="1295400" y="5029200"/>
            <a:ext cx="381000" cy="381000"/>
          </a:xfrm>
          <a:custGeom>
            <a:avLst/>
            <a:gdLst>
              <a:gd name="T0" fmla="*/ 23813 w 512"/>
              <a:gd name="T1" fmla="*/ 0 h 240"/>
              <a:gd name="T2" fmla="*/ 59531 w 512"/>
              <a:gd name="T3" fmla="*/ 304800 h 240"/>
              <a:gd name="T4" fmla="*/ 381000 w 512"/>
              <a:gd name="T5" fmla="*/ 381000 h 240"/>
              <a:gd name="T6" fmla="*/ 0 60000 65536"/>
              <a:gd name="T7" fmla="*/ 0 60000 65536"/>
              <a:gd name="T8" fmla="*/ 0 60000 65536"/>
              <a:gd name="T9" fmla="*/ 0 w 512"/>
              <a:gd name="T10" fmla="*/ 0 h 240"/>
              <a:gd name="T11" fmla="*/ 512 w 512"/>
              <a:gd name="T12" fmla="*/ 240 h 240"/>
            </a:gdLst>
            <a:ahLst/>
            <a:cxnLst>
              <a:cxn ang="T6">
                <a:pos x="T0" y="T1"/>
              </a:cxn>
              <a:cxn ang="T7">
                <a:pos x="T2" y="T3"/>
              </a:cxn>
              <a:cxn ang="T8">
                <a:pos x="T4" y="T5"/>
              </a:cxn>
            </a:cxnLst>
            <a:rect l="T9" t="T10" r="T11" b="T12"/>
            <a:pathLst>
              <a:path w="512" h="240">
                <a:moveTo>
                  <a:pt x="32" y="0"/>
                </a:moveTo>
                <a:cubicBezTo>
                  <a:pt x="16" y="76"/>
                  <a:pt x="0" y="152"/>
                  <a:pt x="80" y="192"/>
                </a:cubicBezTo>
                <a:cubicBezTo>
                  <a:pt x="160" y="232"/>
                  <a:pt x="336" y="236"/>
                  <a:pt x="512" y="240"/>
                </a:cubicBezTo>
              </a:path>
            </a:pathLst>
          </a:custGeom>
          <a:noFill/>
          <a:ln w="9525">
            <a:solidFill>
              <a:schemeClr val="tx1"/>
            </a:solidFill>
            <a:round/>
            <a:headEnd type="oval" w="med" len="med"/>
            <a:tailEnd type="triangle" w="med" len="med"/>
          </a:ln>
        </p:spPr>
        <p:txBody>
          <a:bodyPr/>
          <a:lstStyle/>
          <a:p>
            <a:endParaRPr lang="en-US"/>
          </a:p>
        </p:txBody>
      </p:sp>
      <p:sp>
        <p:nvSpPr>
          <p:cNvPr id="8" name="Text Box 11"/>
          <p:cNvSpPr txBox="1">
            <a:spLocks noChangeArrowheads="1"/>
          </p:cNvSpPr>
          <p:nvPr/>
        </p:nvSpPr>
        <p:spPr bwMode="auto">
          <a:xfrm>
            <a:off x="762000" y="4495800"/>
            <a:ext cx="1066800" cy="457200"/>
          </a:xfrm>
          <a:prstGeom prst="rect">
            <a:avLst/>
          </a:prstGeom>
          <a:noFill/>
          <a:ln w="9525">
            <a:noFill/>
            <a:miter lim="800000"/>
            <a:headEnd/>
            <a:tailEnd/>
          </a:ln>
        </p:spPr>
        <p:txBody>
          <a:bodyPr>
            <a:spAutoFit/>
          </a:bodyPr>
          <a:lstStyle/>
          <a:p>
            <a:pPr eaLnBrk="1" hangingPunct="1">
              <a:spcBef>
                <a:spcPct val="50000"/>
              </a:spcBef>
            </a:pPr>
            <a:r>
              <a:rPr lang="en-US" sz="2400" dirty="0" smtClean="0">
                <a:latin typeface="Times New Roman" pitchFamily="18" charset="0"/>
              </a:rPr>
              <a:t>start</a:t>
            </a:r>
            <a:endParaRPr lang="en-US" sz="2400" dirty="0">
              <a:solidFill>
                <a:schemeClr val="tx1"/>
              </a:solidFill>
              <a:latin typeface="Times New Roman" pitchFamily="18" charset="0"/>
            </a:endParaRPr>
          </a:p>
        </p:txBody>
      </p:sp>
      <p:sp>
        <p:nvSpPr>
          <p:cNvPr id="9" name="Line 13"/>
          <p:cNvSpPr>
            <a:spLocks noChangeShapeType="1"/>
          </p:cNvSpPr>
          <p:nvPr/>
        </p:nvSpPr>
        <p:spPr bwMode="auto">
          <a:xfrm>
            <a:off x="2971800" y="5562600"/>
            <a:ext cx="914400" cy="0"/>
          </a:xfrm>
          <a:prstGeom prst="line">
            <a:avLst/>
          </a:prstGeom>
          <a:noFill/>
          <a:ln w="28575">
            <a:solidFill>
              <a:schemeClr val="tx1"/>
            </a:solidFill>
            <a:round/>
            <a:headEnd type="oval" w="med" len="med"/>
            <a:tailEnd type="triangle" w="med" len="med"/>
          </a:ln>
        </p:spPr>
        <p:txBody>
          <a:bodyPr/>
          <a:lstStyle/>
          <a:p>
            <a:endParaRPr lang="en-US"/>
          </a:p>
        </p:txBody>
      </p:sp>
      <p:sp>
        <p:nvSpPr>
          <p:cNvPr id="10" name="Line 13"/>
          <p:cNvSpPr>
            <a:spLocks noChangeShapeType="1"/>
          </p:cNvSpPr>
          <p:nvPr/>
        </p:nvSpPr>
        <p:spPr bwMode="auto">
          <a:xfrm>
            <a:off x="5029200" y="5562600"/>
            <a:ext cx="914400" cy="0"/>
          </a:xfrm>
          <a:prstGeom prst="line">
            <a:avLst/>
          </a:prstGeom>
          <a:noFill/>
          <a:ln w="28575">
            <a:solidFill>
              <a:schemeClr val="tx1"/>
            </a:solidFill>
            <a:round/>
            <a:headEnd type="oval" w="med" len="med"/>
            <a:tailEnd type="triangle" w="med" len="med"/>
          </a:ln>
        </p:spPr>
        <p:txBody>
          <a:bodyPr/>
          <a:lstStyle/>
          <a:p>
            <a:endParaRPr lang="en-US"/>
          </a:p>
        </p:txBody>
      </p:sp>
      <p:cxnSp>
        <p:nvCxnSpPr>
          <p:cNvPr id="12" name="Elbow Connector 11"/>
          <p:cNvCxnSpPr>
            <a:stCxn id="5" idx="3"/>
          </p:cNvCxnSpPr>
          <p:nvPr/>
        </p:nvCxnSpPr>
        <p:spPr>
          <a:xfrm>
            <a:off x="5029200" y="5524500"/>
            <a:ext cx="1219200" cy="952500"/>
          </a:xfrm>
          <a:prstGeom prst="bentConnector3">
            <a:avLst>
              <a:gd name="adj1" fmla="val 31539"/>
            </a:avLst>
          </a:prstGeom>
          <a:ln>
            <a:prstDash val="sysDot"/>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2667000" y="5181600"/>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724400" y="5181600"/>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6705600" y="5181600"/>
            <a:ext cx="0" cy="685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4" idx="3"/>
          </p:cNvCxnSpPr>
          <p:nvPr/>
        </p:nvCxnSpPr>
        <p:spPr>
          <a:xfrm flipV="1">
            <a:off x="7086600" y="5029200"/>
            <a:ext cx="609600" cy="495300"/>
          </a:xfrm>
          <a:prstGeom prst="bentConnector3">
            <a:avLst>
              <a:gd name="adj1" fmla="val 50000"/>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5943600" y="4953000"/>
            <a:ext cx="914400" cy="1143000"/>
          </a:xfrm>
          <a:prstGeom prst="line">
            <a:avLst/>
          </a:prstGeom>
        </p:spPr>
        <p:style>
          <a:lnRef idx="3">
            <a:schemeClr val="accent3"/>
          </a:lnRef>
          <a:fillRef idx="0">
            <a:schemeClr val="accent3"/>
          </a:fillRef>
          <a:effectRef idx="2">
            <a:schemeClr val="accent3"/>
          </a:effectRef>
          <a:fontRef idx="minor">
            <a:schemeClr val="tx1"/>
          </a:fontRef>
        </p:style>
      </p:cxnSp>
      <p:cxnSp>
        <p:nvCxnSpPr>
          <p:cNvPr id="29" name="Straight Connector 28"/>
          <p:cNvCxnSpPr/>
          <p:nvPr/>
        </p:nvCxnSpPr>
        <p:spPr>
          <a:xfrm flipH="1">
            <a:off x="5943600" y="4953000"/>
            <a:ext cx="838200" cy="1143000"/>
          </a:xfrm>
          <a:prstGeom prst="line">
            <a:avLst/>
          </a:prstGeom>
        </p:spPr>
        <p:style>
          <a:lnRef idx="3">
            <a:schemeClr val="accent3"/>
          </a:lnRef>
          <a:fillRef idx="0">
            <a:schemeClr val="accent3"/>
          </a:fillRef>
          <a:effectRef idx="2">
            <a:schemeClr val="accent3"/>
          </a:effectRef>
          <a:fontRef idx="minor">
            <a:schemeClr val="tx1"/>
          </a:fontRef>
        </p:style>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915400" cy="6248400"/>
          </a:xfrm>
        </p:spPr>
        <p:txBody>
          <a:bodyPr>
            <a:noAutofit/>
          </a:bodyPr>
          <a:lstStyle/>
          <a:p>
            <a:pPr>
              <a:buNone/>
            </a:pPr>
            <a:r>
              <a:rPr lang="en-US" sz="2000" dirty="0" smtClean="0">
                <a:solidFill>
                  <a:schemeClr val="accent1">
                    <a:lumMod val="75000"/>
                  </a:schemeClr>
                </a:solidFill>
              </a:rPr>
              <a:t>void </a:t>
            </a:r>
            <a:r>
              <a:rPr lang="en-US" sz="2000" dirty="0" err="1" smtClean="0">
                <a:solidFill>
                  <a:schemeClr val="accent1">
                    <a:lumMod val="75000"/>
                  </a:schemeClr>
                </a:solidFill>
              </a:rPr>
              <a:t>del_last</a:t>
            </a:r>
            <a:r>
              <a:rPr lang="en-US" sz="2000" dirty="0" smtClean="0">
                <a:solidFill>
                  <a:schemeClr val="accent1">
                    <a:lumMod val="75000"/>
                  </a:schemeClr>
                </a:solidFill>
              </a:rPr>
              <a:t>()</a:t>
            </a:r>
          </a:p>
          <a:p>
            <a:pPr>
              <a:buNone/>
            </a:pPr>
            <a:r>
              <a:rPr lang="en-US" sz="2000" dirty="0" smtClean="0">
                <a:solidFill>
                  <a:schemeClr val="accent1">
                    <a:lumMod val="75000"/>
                  </a:schemeClr>
                </a:solidFill>
              </a:rPr>
              <a:t>{</a:t>
            </a:r>
          </a:p>
          <a:p>
            <a:pPr>
              <a:buNone/>
            </a:pPr>
            <a:r>
              <a:rPr lang="en-US" sz="2000" dirty="0" smtClean="0">
                <a:solidFill>
                  <a:schemeClr val="accent1">
                    <a:lumMod val="75000"/>
                  </a:schemeClr>
                </a:solidFill>
              </a:rPr>
              <a:t>         if(start==NULL)</a:t>
            </a:r>
          </a:p>
          <a:p>
            <a:pPr>
              <a:buNone/>
            </a:pPr>
            <a:r>
              <a:rPr lang="en-US" sz="2000" dirty="0" smtClean="0">
                <a:solidFill>
                  <a:schemeClr val="accent1">
                    <a:lumMod val="75000"/>
                  </a:schemeClr>
                </a:solidFill>
              </a:rPr>
              <a:t>         </a:t>
            </a:r>
            <a:r>
              <a:rPr lang="en-US" sz="2000" dirty="0" err="1" smtClean="0">
                <a:solidFill>
                  <a:schemeClr val="accent1">
                    <a:lumMod val="75000"/>
                  </a:schemeClr>
                </a:solidFill>
              </a:rPr>
              <a:t>cout</a:t>
            </a:r>
            <a:r>
              <a:rPr lang="en-US" sz="2000" dirty="0" smtClean="0">
                <a:solidFill>
                  <a:schemeClr val="accent1">
                    <a:lumMod val="75000"/>
                  </a:schemeClr>
                </a:solidFill>
              </a:rPr>
              <a:t>&lt;&lt;”\</a:t>
            </a:r>
            <a:r>
              <a:rPr lang="en-US" sz="2000" dirty="0" err="1" smtClean="0">
                <a:solidFill>
                  <a:schemeClr val="accent1">
                    <a:lumMod val="75000"/>
                  </a:schemeClr>
                </a:solidFill>
              </a:rPr>
              <a:t>nError</a:t>
            </a:r>
            <a:r>
              <a:rPr lang="en-US" sz="2000" dirty="0" smtClean="0">
                <a:solidFill>
                  <a:schemeClr val="accent1">
                    <a:lumMod val="75000"/>
                  </a:schemeClr>
                </a:solidFill>
              </a:rPr>
              <a:t>….List is empty”;</a:t>
            </a:r>
          </a:p>
          <a:p>
            <a:pPr>
              <a:buNone/>
            </a:pPr>
            <a:r>
              <a:rPr lang="en-US" sz="2000" dirty="0" smtClean="0">
                <a:solidFill>
                  <a:schemeClr val="accent1">
                    <a:lumMod val="75000"/>
                  </a:schemeClr>
                </a:solidFill>
              </a:rPr>
              <a:t>         else</a:t>
            </a:r>
          </a:p>
          <a:p>
            <a:pPr>
              <a:buNone/>
            </a:pPr>
            <a:r>
              <a:rPr lang="en-US" sz="2000" dirty="0" smtClean="0">
                <a:solidFill>
                  <a:schemeClr val="accent1">
                    <a:lumMod val="75000"/>
                  </a:schemeClr>
                </a:solidFill>
              </a:rPr>
              <a:t>                        {</a:t>
            </a:r>
          </a:p>
          <a:p>
            <a:pPr>
              <a:buNone/>
            </a:pPr>
            <a:r>
              <a:rPr lang="en-US" sz="2000" dirty="0" smtClean="0">
                <a:solidFill>
                  <a:schemeClr val="accent1">
                    <a:lumMod val="75000"/>
                  </a:schemeClr>
                </a:solidFill>
              </a:rPr>
              <a:t>                            node* q=start;</a:t>
            </a:r>
          </a:p>
          <a:p>
            <a:pPr>
              <a:buNone/>
            </a:pPr>
            <a:r>
              <a:rPr lang="en-US" sz="2000" dirty="0" smtClean="0">
                <a:solidFill>
                  <a:schemeClr val="accent1">
                    <a:lumMod val="75000"/>
                  </a:schemeClr>
                </a:solidFill>
              </a:rPr>
              <a:t>                                       while(q-&gt;link-&gt;link!=NULL)</a:t>
            </a:r>
          </a:p>
          <a:p>
            <a:pPr>
              <a:buNone/>
            </a:pPr>
            <a:r>
              <a:rPr lang="en-US" sz="2000" dirty="0" smtClean="0">
                <a:solidFill>
                  <a:schemeClr val="accent1">
                    <a:lumMod val="75000"/>
                  </a:schemeClr>
                </a:solidFill>
              </a:rPr>
              <a:t>                                        q=q-&gt;link;</a:t>
            </a:r>
          </a:p>
          <a:p>
            <a:pPr>
              <a:buNone/>
            </a:pPr>
            <a:r>
              <a:rPr lang="en-US" sz="2000" dirty="0" smtClean="0">
                <a:solidFill>
                  <a:schemeClr val="accent1">
                    <a:lumMod val="75000"/>
                  </a:schemeClr>
                </a:solidFill>
              </a:rPr>
              <a:t>                            node* temp=q-&gt;link;</a:t>
            </a:r>
          </a:p>
          <a:p>
            <a:pPr>
              <a:buNone/>
            </a:pPr>
            <a:r>
              <a:rPr lang="en-US" sz="2000" dirty="0" smtClean="0">
                <a:solidFill>
                  <a:schemeClr val="accent1">
                    <a:lumMod val="75000"/>
                  </a:schemeClr>
                </a:solidFill>
              </a:rPr>
              <a:t>                            q-&gt;link=NULL;</a:t>
            </a:r>
          </a:p>
          <a:p>
            <a:pPr>
              <a:buNone/>
            </a:pPr>
            <a:r>
              <a:rPr lang="en-US" sz="2000" dirty="0" smtClean="0">
                <a:solidFill>
                  <a:schemeClr val="accent1">
                    <a:lumMod val="75000"/>
                  </a:schemeClr>
                </a:solidFill>
              </a:rPr>
              <a:t>                            delete temp;</a:t>
            </a:r>
          </a:p>
          <a:p>
            <a:pPr>
              <a:buNone/>
            </a:pPr>
            <a:r>
              <a:rPr lang="en-US" sz="2000" dirty="0" smtClean="0">
                <a:solidFill>
                  <a:schemeClr val="accent1">
                    <a:lumMod val="75000"/>
                  </a:schemeClr>
                </a:solidFill>
              </a:rPr>
              <a:t>                            </a:t>
            </a:r>
            <a:r>
              <a:rPr lang="en-US" sz="2000" dirty="0" err="1" smtClean="0">
                <a:solidFill>
                  <a:schemeClr val="accent1">
                    <a:lumMod val="75000"/>
                  </a:schemeClr>
                </a:solidFill>
              </a:rPr>
              <a:t>cout</a:t>
            </a:r>
            <a:r>
              <a:rPr lang="en-US" sz="2000" dirty="0" smtClean="0">
                <a:solidFill>
                  <a:schemeClr val="accent1">
                    <a:lumMod val="75000"/>
                  </a:schemeClr>
                </a:solidFill>
              </a:rPr>
              <a:t>&lt;&lt;”\</a:t>
            </a:r>
            <a:r>
              <a:rPr lang="en-US" sz="2000" dirty="0" err="1" smtClean="0">
                <a:solidFill>
                  <a:schemeClr val="accent1">
                    <a:lumMod val="75000"/>
                  </a:schemeClr>
                </a:solidFill>
              </a:rPr>
              <a:t>nDeleted</a:t>
            </a:r>
            <a:r>
              <a:rPr lang="en-US" sz="2000" dirty="0" smtClean="0">
                <a:solidFill>
                  <a:schemeClr val="accent1">
                    <a:lumMod val="75000"/>
                  </a:schemeClr>
                </a:solidFill>
              </a:rPr>
              <a:t> successfully…”;</a:t>
            </a:r>
          </a:p>
          <a:p>
            <a:pPr>
              <a:buNone/>
            </a:pPr>
            <a:r>
              <a:rPr lang="en-US" sz="2000" dirty="0" smtClean="0">
                <a:solidFill>
                  <a:schemeClr val="accent1">
                    <a:lumMod val="75000"/>
                  </a:schemeClr>
                </a:solidFill>
              </a:rPr>
              <a:t>                        }</a:t>
            </a:r>
          </a:p>
          <a:p>
            <a:pPr>
              <a:buNone/>
            </a:pPr>
            <a:r>
              <a:rPr lang="en-US" sz="2000" dirty="0" smtClean="0">
                <a:solidFill>
                  <a:schemeClr val="accent1">
                    <a:lumMod val="75000"/>
                  </a:schemeClr>
                </a:solidFill>
              </a:rPr>
              <a:t>         }</a:t>
            </a:r>
          </a:p>
          <a:p>
            <a:pPr>
              <a:buNone/>
            </a:pPr>
            <a:r>
              <a:rPr lang="en-US" sz="2000" dirty="0" smtClean="0">
                <a:solidFill>
                  <a:schemeClr val="accent1">
                    <a:lumMod val="75000"/>
                  </a:schemeClr>
                </a:solidFill>
              </a:rPr>
              <a:t>}</a:t>
            </a:r>
          </a:p>
          <a:p>
            <a:endParaRPr lang="en-US" sz="20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29600" cy="819912"/>
          </a:xfrm>
        </p:spPr>
        <p:txBody>
          <a:bodyPr/>
          <a:lstStyle/>
          <a:p>
            <a:r>
              <a:rPr lang="en-US" dirty="0" smtClean="0"/>
              <a:t>Deleting a particular node</a:t>
            </a:r>
            <a:endParaRPr lang="en-US" dirty="0"/>
          </a:p>
        </p:txBody>
      </p:sp>
      <p:sp>
        <p:nvSpPr>
          <p:cNvPr id="3" name="Content Placeholder 2"/>
          <p:cNvSpPr>
            <a:spLocks noGrp="1"/>
          </p:cNvSpPr>
          <p:nvPr>
            <p:ph idx="1"/>
          </p:nvPr>
        </p:nvSpPr>
        <p:spPr>
          <a:xfrm>
            <a:off x="381000" y="1676400"/>
            <a:ext cx="8229600" cy="2057400"/>
          </a:xfrm>
        </p:spPr>
        <p:txBody>
          <a:bodyPr>
            <a:normAutofit lnSpcReduction="10000"/>
          </a:bodyPr>
          <a:lstStyle/>
          <a:p>
            <a:pPr>
              <a:buNone/>
            </a:pPr>
            <a:r>
              <a:rPr lang="en-US" dirty="0" smtClean="0"/>
              <a:t> </a:t>
            </a:r>
          </a:p>
          <a:p>
            <a:pPr>
              <a:buNone/>
            </a:pPr>
            <a:r>
              <a:rPr lang="en-US" dirty="0" smtClean="0"/>
              <a:t>    </a:t>
            </a:r>
            <a:r>
              <a:rPr lang="en-US" dirty="0" smtClean="0">
                <a:solidFill>
                  <a:schemeClr val="accent1">
                    <a:lumMod val="75000"/>
                  </a:schemeClr>
                </a:solidFill>
              </a:rPr>
              <a:t>Here we make the next pointer of the node previous to the node being deleted ,point to the successor node of the node to be deleted and then delete the node using </a:t>
            </a:r>
            <a:r>
              <a:rPr lang="en-US" dirty="0" smtClean="0">
                <a:solidFill>
                  <a:srgbClr val="92D050"/>
                </a:solidFill>
              </a:rPr>
              <a:t>delete </a:t>
            </a:r>
            <a:r>
              <a:rPr lang="en-US" dirty="0" smtClean="0">
                <a:solidFill>
                  <a:schemeClr val="accent1">
                    <a:lumMod val="75000"/>
                  </a:schemeClr>
                </a:solidFill>
              </a:rPr>
              <a:t>keyword</a:t>
            </a:r>
          </a:p>
          <a:p>
            <a:pPr>
              <a:buNone/>
            </a:pPr>
            <a:endParaRPr lang="en-US" dirty="0" smtClean="0">
              <a:solidFill>
                <a:schemeClr val="accent1">
                  <a:lumMod val="75000"/>
                </a:schemeClr>
              </a:solidFill>
            </a:endParaRPr>
          </a:p>
          <a:p>
            <a:pPr>
              <a:buNone/>
            </a:pPr>
            <a:endParaRPr lang="en-US" dirty="0">
              <a:solidFill>
                <a:schemeClr val="accent1">
                  <a:lumMod val="75000"/>
                </a:schemeClr>
              </a:solidFill>
            </a:endParaRPr>
          </a:p>
        </p:txBody>
      </p:sp>
      <p:sp>
        <p:nvSpPr>
          <p:cNvPr id="22" name="Rectangle 4"/>
          <p:cNvSpPr>
            <a:spLocks noChangeArrowheads="1"/>
          </p:cNvSpPr>
          <p:nvPr/>
        </p:nvSpPr>
        <p:spPr bwMode="auto">
          <a:xfrm>
            <a:off x="2133600" y="4572000"/>
            <a:ext cx="1295400" cy="685800"/>
          </a:xfrm>
          <a:prstGeom prst="rect">
            <a:avLst/>
          </a:prstGeom>
          <a:solidFill>
            <a:srgbClr val="CCFFFF">
              <a:alpha val="50195"/>
            </a:srgbClr>
          </a:solidFill>
          <a:ln w="31750">
            <a:solidFill>
              <a:srgbClr val="FF3300"/>
            </a:solidFill>
            <a:prstDash val="sysDot"/>
            <a:miter lim="800000"/>
            <a:headEnd/>
            <a:tailEnd/>
          </a:ln>
        </p:spPr>
        <p:txBody>
          <a:bodyPr wrap="none" anchor="ctr"/>
          <a:lstStyle/>
          <a:p>
            <a:pPr algn="ctr" eaLnBrk="1" hangingPunct="1"/>
            <a:r>
              <a:rPr lang="en-US" sz="2400">
                <a:solidFill>
                  <a:schemeClr val="tx1"/>
                </a:solidFill>
                <a:latin typeface="Times New Roman" pitchFamily="18" charset="0"/>
              </a:rPr>
              <a:t>node1    </a:t>
            </a:r>
          </a:p>
        </p:txBody>
      </p:sp>
      <p:sp>
        <p:nvSpPr>
          <p:cNvPr id="23" name="Rectangle 5"/>
          <p:cNvSpPr>
            <a:spLocks noChangeArrowheads="1"/>
          </p:cNvSpPr>
          <p:nvPr/>
        </p:nvSpPr>
        <p:spPr bwMode="auto">
          <a:xfrm>
            <a:off x="4038600" y="4572000"/>
            <a:ext cx="1295400" cy="685800"/>
          </a:xfrm>
          <a:prstGeom prst="rect">
            <a:avLst/>
          </a:prstGeom>
          <a:solidFill>
            <a:srgbClr val="CCFFFF">
              <a:alpha val="50195"/>
            </a:srgbClr>
          </a:solidFill>
          <a:ln w="31750">
            <a:solidFill>
              <a:srgbClr val="FF3300"/>
            </a:solidFill>
            <a:prstDash val="sysDot"/>
            <a:miter lim="800000"/>
            <a:headEnd/>
            <a:tailEnd/>
          </a:ln>
        </p:spPr>
        <p:txBody>
          <a:bodyPr wrap="none" anchor="ctr"/>
          <a:lstStyle/>
          <a:p>
            <a:pPr algn="ctr" eaLnBrk="1" hangingPunct="1"/>
            <a:r>
              <a:rPr lang="en-US" sz="2400">
                <a:solidFill>
                  <a:schemeClr val="tx1"/>
                </a:solidFill>
                <a:latin typeface="Times New Roman" pitchFamily="18" charset="0"/>
              </a:rPr>
              <a:t>node2    </a:t>
            </a:r>
          </a:p>
        </p:txBody>
      </p:sp>
      <p:sp>
        <p:nvSpPr>
          <p:cNvPr id="24" name="Line 6"/>
          <p:cNvSpPr>
            <a:spLocks noChangeShapeType="1"/>
          </p:cNvSpPr>
          <p:nvPr/>
        </p:nvSpPr>
        <p:spPr bwMode="auto">
          <a:xfrm>
            <a:off x="5029200" y="4953000"/>
            <a:ext cx="914400" cy="0"/>
          </a:xfrm>
          <a:prstGeom prst="line">
            <a:avLst/>
          </a:prstGeom>
          <a:noFill/>
          <a:ln w="28575">
            <a:solidFill>
              <a:schemeClr val="tx1"/>
            </a:solidFill>
            <a:round/>
            <a:headEnd type="oval" w="med" len="med"/>
            <a:tailEnd type="triangle" w="med" len="med"/>
          </a:ln>
        </p:spPr>
        <p:txBody>
          <a:bodyPr/>
          <a:lstStyle/>
          <a:p>
            <a:endParaRPr lang="en-US"/>
          </a:p>
        </p:txBody>
      </p:sp>
      <p:sp>
        <p:nvSpPr>
          <p:cNvPr id="25" name="Rectangle 7"/>
          <p:cNvSpPr>
            <a:spLocks noChangeArrowheads="1"/>
          </p:cNvSpPr>
          <p:nvPr/>
        </p:nvSpPr>
        <p:spPr bwMode="auto">
          <a:xfrm>
            <a:off x="5943600" y="4572000"/>
            <a:ext cx="1295400" cy="685800"/>
          </a:xfrm>
          <a:prstGeom prst="rect">
            <a:avLst/>
          </a:prstGeom>
          <a:solidFill>
            <a:srgbClr val="CCFFFF">
              <a:alpha val="50195"/>
            </a:srgbClr>
          </a:solidFill>
          <a:ln w="31750">
            <a:solidFill>
              <a:srgbClr val="FF3300"/>
            </a:solidFill>
            <a:prstDash val="sysDot"/>
            <a:miter lim="800000"/>
            <a:headEnd/>
            <a:tailEnd/>
          </a:ln>
        </p:spPr>
        <p:txBody>
          <a:bodyPr wrap="none" anchor="ctr"/>
          <a:lstStyle/>
          <a:p>
            <a:pPr algn="ctr" eaLnBrk="1" hangingPunct="1"/>
            <a:r>
              <a:rPr lang="en-US" sz="2400">
                <a:solidFill>
                  <a:schemeClr val="tx1"/>
                </a:solidFill>
                <a:latin typeface="Times New Roman" pitchFamily="18" charset="0"/>
              </a:rPr>
              <a:t>node3    </a:t>
            </a:r>
          </a:p>
        </p:txBody>
      </p:sp>
      <p:sp>
        <p:nvSpPr>
          <p:cNvPr id="26" name="Line 8"/>
          <p:cNvSpPr>
            <a:spLocks noChangeShapeType="1"/>
          </p:cNvSpPr>
          <p:nvPr/>
        </p:nvSpPr>
        <p:spPr bwMode="auto">
          <a:xfrm flipH="1">
            <a:off x="6934200" y="4953000"/>
            <a:ext cx="0" cy="0"/>
          </a:xfrm>
          <a:prstGeom prst="line">
            <a:avLst/>
          </a:prstGeom>
          <a:noFill/>
          <a:ln w="28575">
            <a:solidFill>
              <a:schemeClr val="tx1"/>
            </a:solidFill>
            <a:round/>
            <a:headEnd type="oval" w="med" len="med"/>
            <a:tailEnd type="oval" w="med" len="med"/>
          </a:ln>
        </p:spPr>
        <p:txBody>
          <a:bodyPr/>
          <a:lstStyle/>
          <a:p>
            <a:endParaRPr lang="en-US"/>
          </a:p>
        </p:txBody>
      </p:sp>
      <p:sp>
        <p:nvSpPr>
          <p:cNvPr id="31" name="Freeform 13"/>
          <p:cNvSpPr>
            <a:spLocks/>
          </p:cNvSpPr>
          <p:nvPr/>
        </p:nvSpPr>
        <p:spPr bwMode="auto">
          <a:xfrm>
            <a:off x="3124200" y="4343400"/>
            <a:ext cx="2819400" cy="533400"/>
          </a:xfrm>
          <a:custGeom>
            <a:avLst/>
            <a:gdLst>
              <a:gd name="T0" fmla="*/ 0 w 1776"/>
              <a:gd name="T1" fmla="*/ 466725 h 384"/>
              <a:gd name="T2" fmla="*/ 533400 w 1776"/>
              <a:gd name="T3" fmla="*/ 400050 h 384"/>
              <a:gd name="T4" fmla="*/ 762000 w 1776"/>
              <a:gd name="T5" fmla="*/ 66675 h 384"/>
              <a:gd name="T6" fmla="*/ 2286000 w 1776"/>
              <a:gd name="T7" fmla="*/ 66675 h 384"/>
              <a:gd name="T8" fmla="*/ 2667000 w 1776"/>
              <a:gd name="T9" fmla="*/ 466725 h 384"/>
              <a:gd name="T10" fmla="*/ 2819400 w 1776"/>
              <a:gd name="T11" fmla="*/ 466725 h 384"/>
              <a:gd name="T12" fmla="*/ 0 60000 65536"/>
              <a:gd name="T13" fmla="*/ 0 60000 65536"/>
              <a:gd name="T14" fmla="*/ 0 60000 65536"/>
              <a:gd name="T15" fmla="*/ 0 60000 65536"/>
              <a:gd name="T16" fmla="*/ 0 60000 65536"/>
              <a:gd name="T17" fmla="*/ 0 60000 65536"/>
              <a:gd name="T18" fmla="*/ 0 w 1776"/>
              <a:gd name="T19" fmla="*/ 0 h 384"/>
              <a:gd name="T20" fmla="*/ 1776 w 1776"/>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1776" h="384">
                <a:moveTo>
                  <a:pt x="0" y="336"/>
                </a:moveTo>
                <a:cubicBezTo>
                  <a:pt x="128" y="336"/>
                  <a:pt x="256" y="336"/>
                  <a:pt x="336" y="288"/>
                </a:cubicBezTo>
                <a:cubicBezTo>
                  <a:pt x="416" y="240"/>
                  <a:pt x="296" y="88"/>
                  <a:pt x="480" y="48"/>
                </a:cubicBezTo>
                <a:cubicBezTo>
                  <a:pt x="664" y="8"/>
                  <a:pt x="1240" y="0"/>
                  <a:pt x="1440" y="48"/>
                </a:cubicBezTo>
                <a:cubicBezTo>
                  <a:pt x="1640" y="96"/>
                  <a:pt x="1624" y="288"/>
                  <a:pt x="1680" y="336"/>
                </a:cubicBezTo>
                <a:cubicBezTo>
                  <a:pt x="1736" y="384"/>
                  <a:pt x="1756" y="360"/>
                  <a:pt x="1776" y="336"/>
                </a:cubicBezTo>
              </a:path>
            </a:pathLst>
          </a:custGeom>
          <a:noFill/>
          <a:ln w="28575">
            <a:solidFill>
              <a:schemeClr val="tx1"/>
            </a:solidFill>
            <a:round/>
            <a:headEnd type="oval" w="med" len="med"/>
            <a:tailEnd type="triangle" w="med" len="med"/>
          </a:ln>
        </p:spPr>
        <p:txBody>
          <a:bodyPr/>
          <a:lstStyle/>
          <a:p>
            <a:endParaRPr lang="en-US"/>
          </a:p>
        </p:txBody>
      </p:sp>
      <p:sp>
        <p:nvSpPr>
          <p:cNvPr id="32" name="Line 14"/>
          <p:cNvSpPr>
            <a:spLocks noChangeShapeType="1"/>
          </p:cNvSpPr>
          <p:nvPr/>
        </p:nvSpPr>
        <p:spPr bwMode="auto">
          <a:xfrm>
            <a:off x="4267200" y="5410200"/>
            <a:ext cx="0" cy="609600"/>
          </a:xfrm>
          <a:prstGeom prst="line">
            <a:avLst/>
          </a:prstGeom>
          <a:noFill/>
          <a:ln w="28575">
            <a:solidFill>
              <a:srgbClr val="FF0000"/>
            </a:solidFill>
            <a:round/>
            <a:headEnd type="triangle" w="med" len="med"/>
            <a:tailEnd/>
          </a:ln>
        </p:spPr>
        <p:txBody>
          <a:bodyPr/>
          <a:lstStyle/>
          <a:p>
            <a:endParaRPr lang="en-US"/>
          </a:p>
        </p:txBody>
      </p:sp>
      <p:sp>
        <p:nvSpPr>
          <p:cNvPr id="33" name="Text Box 15"/>
          <p:cNvSpPr txBox="1">
            <a:spLocks noChangeArrowheads="1"/>
          </p:cNvSpPr>
          <p:nvPr/>
        </p:nvSpPr>
        <p:spPr bwMode="auto">
          <a:xfrm>
            <a:off x="3657600" y="5943600"/>
            <a:ext cx="2133600" cy="457200"/>
          </a:xfrm>
          <a:prstGeom prst="rect">
            <a:avLst/>
          </a:prstGeom>
          <a:noFill/>
          <a:ln w="9525">
            <a:noFill/>
            <a:miter lim="800000"/>
            <a:headEnd/>
            <a:tailEnd/>
          </a:ln>
        </p:spPr>
        <p:txBody>
          <a:bodyPr>
            <a:spAutoFit/>
          </a:bodyPr>
          <a:lstStyle/>
          <a:p>
            <a:pPr eaLnBrk="1" hangingPunct="1">
              <a:spcBef>
                <a:spcPct val="50000"/>
              </a:spcBef>
            </a:pPr>
            <a:r>
              <a:rPr lang="en-US" sz="2400">
                <a:solidFill>
                  <a:srgbClr val="FF0000"/>
                </a:solidFill>
                <a:latin typeface="Times New Roman" pitchFamily="18" charset="0"/>
              </a:rPr>
              <a:t>To be deleted</a:t>
            </a:r>
          </a:p>
        </p:txBody>
      </p:sp>
      <p:sp>
        <p:nvSpPr>
          <p:cNvPr id="39" name="Line 6"/>
          <p:cNvSpPr>
            <a:spLocks noChangeShapeType="1"/>
          </p:cNvSpPr>
          <p:nvPr/>
        </p:nvSpPr>
        <p:spPr bwMode="auto">
          <a:xfrm>
            <a:off x="1219200" y="4876800"/>
            <a:ext cx="914400" cy="0"/>
          </a:xfrm>
          <a:prstGeom prst="line">
            <a:avLst/>
          </a:prstGeom>
          <a:noFill/>
          <a:ln w="28575">
            <a:solidFill>
              <a:schemeClr val="tx1"/>
            </a:solidFill>
            <a:round/>
            <a:headEnd type="oval" w="med" len="med"/>
            <a:tailEnd type="triangle" w="med" len="med"/>
          </a:ln>
        </p:spPr>
        <p:txBody>
          <a:bodyPr/>
          <a:lstStyle/>
          <a:p>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458200" cy="5791200"/>
          </a:xfrm>
        </p:spPr>
        <p:txBody>
          <a:bodyPr>
            <a:normAutofit fontScale="32500" lnSpcReduction="20000"/>
          </a:bodyPr>
          <a:lstStyle/>
          <a:p>
            <a:pPr>
              <a:buNone/>
            </a:pPr>
            <a:r>
              <a:rPr lang="en-US" sz="6200" dirty="0" smtClean="0">
                <a:solidFill>
                  <a:schemeClr val="accent1">
                    <a:lumMod val="75000"/>
                  </a:schemeClr>
                </a:solidFill>
              </a:rPr>
              <a:t>void del(</a:t>
            </a:r>
            <a:r>
              <a:rPr lang="en-US" sz="6200" dirty="0" err="1" smtClean="0">
                <a:solidFill>
                  <a:schemeClr val="accent1">
                    <a:lumMod val="75000"/>
                  </a:schemeClr>
                </a:solidFill>
              </a:rPr>
              <a:t>int</a:t>
            </a:r>
            <a:r>
              <a:rPr lang="en-US" sz="6200" dirty="0" smtClean="0">
                <a:solidFill>
                  <a:schemeClr val="accent1">
                    <a:lumMod val="75000"/>
                  </a:schemeClr>
                </a:solidFill>
              </a:rPr>
              <a:t> c)</a:t>
            </a:r>
          </a:p>
          <a:p>
            <a:pPr>
              <a:buNone/>
            </a:pPr>
            <a:r>
              <a:rPr lang="en-US" sz="6200" dirty="0" smtClean="0">
                <a:solidFill>
                  <a:schemeClr val="accent1">
                    <a:lumMod val="75000"/>
                  </a:schemeClr>
                </a:solidFill>
              </a:rPr>
              <a:t>{</a:t>
            </a:r>
          </a:p>
          <a:p>
            <a:pPr>
              <a:buNone/>
            </a:pPr>
            <a:r>
              <a:rPr lang="en-US" sz="6200" dirty="0" smtClean="0">
                <a:solidFill>
                  <a:schemeClr val="accent1">
                    <a:lumMod val="75000"/>
                  </a:schemeClr>
                </a:solidFill>
              </a:rPr>
              <a:t>node* q=start;</a:t>
            </a:r>
          </a:p>
          <a:p>
            <a:pPr>
              <a:buNone/>
            </a:pPr>
            <a:r>
              <a:rPr lang="en-US" sz="6200" dirty="0" smtClean="0">
                <a:solidFill>
                  <a:schemeClr val="accent1">
                    <a:lumMod val="75000"/>
                  </a:schemeClr>
                </a:solidFill>
              </a:rPr>
              <a:t>       for(</a:t>
            </a:r>
            <a:r>
              <a:rPr lang="en-US" sz="6200" dirty="0" err="1" smtClean="0">
                <a:solidFill>
                  <a:schemeClr val="accent1">
                    <a:lumMod val="75000"/>
                  </a:schemeClr>
                </a:solidFill>
              </a:rPr>
              <a:t>int</a:t>
            </a:r>
            <a:r>
              <a:rPr lang="en-US" sz="6200" dirty="0" smtClean="0">
                <a:solidFill>
                  <a:schemeClr val="accent1">
                    <a:lumMod val="75000"/>
                  </a:schemeClr>
                </a:solidFill>
              </a:rPr>
              <a:t> </a:t>
            </a:r>
            <a:r>
              <a:rPr lang="en-US" sz="6200" dirty="0" err="1" smtClean="0">
                <a:solidFill>
                  <a:schemeClr val="accent1">
                    <a:lumMod val="75000"/>
                  </a:schemeClr>
                </a:solidFill>
              </a:rPr>
              <a:t>i</a:t>
            </a:r>
            <a:r>
              <a:rPr lang="en-US" sz="6200" dirty="0" smtClean="0">
                <a:solidFill>
                  <a:schemeClr val="accent1">
                    <a:lumMod val="75000"/>
                  </a:schemeClr>
                </a:solidFill>
              </a:rPr>
              <a:t>=2;i&lt;</a:t>
            </a:r>
            <a:r>
              <a:rPr lang="en-US" sz="6200" dirty="0" err="1" smtClean="0">
                <a:solidFill>
                  <a:schemeClr val="accent1">
                    <a:lumMod val="75000"/>
                  </a:schemeClr>
                </a:solidFill>
              </a:rPr>
              <a:t>c;i</a:t>
            </a:r>
            <a:r>
              <a:rPr lang="en-US" sz="6200" dirty="0" smtClean="0">
                <a:solidFill>
                  <a:schemeClr val="accent1">
                    <a:lumMod val="75000"/>
                  </a:schemeClr>
                </a:solidFill>
              </a:rPr>
              <a:t>++)</a:t>
            </a:r>
          </a:p>
          <a:p>
            <a:pPr>
              <a:buNone/>
            </a:pPr>
            <a:r>
              <a:rPr lang="en-US" sz="6200" dirty="0" smtClean="0">
                <a:solidFill>
                  <a:schemeClr val="accent1">
                    <a:lumMod val="75000"/>
                  </a:schemeClr>
                </a:solidFill>
              </a:rPr>
              <a:t>       {</a:t>
            </a:r>
          </a:p>
          <a:p>
            <a:pPr>
              <a:buNone/>
            </a:pPr>
            <a:r>
              <a:rPr lang="en-US" sz="6200" dirty="0" smtClean="0">
                <a:solidFill>
                  <a:schemeClr val="accent1">
                    <a:lumMod val="75000"/>
                  </a:schemeClr>
                </a:solidFill>
              </a:rPr>
              <a:t>         q=q-&gt;link;</a:t>
            </a:r>
          </a:p>
          <a:p>
            <a:pPr>
              <a:buNone/>
            </a:pPr>
            <a:r>
              <a:rPr lang="en-US" sz="6200" dirty="0" smtClean="0">
                <a:solidFill>
                  <a:schemeClr val="accent1">
                    <a:lumMod val="75000"/>
                  </a:schemeClr>
                </a:solidFill>
              </a:rPr>
              <a:t>                 if(q==NULL)</a:t>
            </a:r>
          </a:p>
          <a:p>
            <a:pPr>
              <a:buNone/>
            </a:pPr>
            <a:r>
              <a:rPr lang="en-US" sz="6200" dirty="0" smtClean="0">
                <a:solidFill>
                  <a:schemeClr val="accent1">
                    <a:lumMod val="75000"/>
                  </a:schemeClr>
                </a:solidFill>
              </a:rPr>
              <a:t>                 </a:t>
            </a:r>
            <a:r>
              <a:rPr lang="en-US" sz="6200" dirty="0" err="1" smtClean="0">
                <a:solidFill>
                  <a:schemeClr val="accent1">
                    <a:lumMod val="75000"/>
                  </a:schemeClr>
                </a:solidFill>
              </a:rPr>
              <a:t>cout</a:t>
            </a:r>
            <a:r>
              <a:rPr lang="en-US" sz="6200" dirty="0" smtClean="0">
                <a:solidFill>
                  <a:schemeClr val="accent1">
                    <a:lumMod val="75000"/>
                  </a:schemeClr>
                </a:solidFill>
              </a:rPr>
              <a:t>&lt;&lt;”\</a:t>
            </a:r>
            <a:r>
              <a:rPr lang="en-US" sz="6200" dirty="0" err="1" smtClean="0">
                <a:solidFill>
                  <a:schemeClr val="accent1">
                    <a:lumMod val="75000"/>
                  </a:schemeClr>
                </a:solidFill>
              </a:rPr>
              <a:t>nNode</a:t>
            </a:r>
            <a:r>
              <a:rPr lang="en-US" sz="6200" dirty="0" smtClean="0">
                <a:solidFill>
                  <a:schemeClr val="accent1">
                    <a:lumMod val="75000"/>
                  </a:schemeClr>
                </a:solidFill>
              </a:rPr>
              <a:t> not found\n”;        </a:t>
            </a:r>
          </a:p>
          <a:p>
            <a:pPr>
              <a:buNone/>
            </a:pPr>
            <a:r>
              <a:rPr lang="en-US" sz="6200" dirty="0" smtClean="0">
                <a:solidFill>
                  <a:schemeClr val="accent1">
                    <a:lumMod val="75000"/>
                  </a:schemeClr>
                </a:solidFill>
              </a:rPr>
              <a:t>       }</a:t>
            </a:r>
          </a:p>
          <a:p>
            <a:pPr>
              <a:buNone/>
            </a:pPr>
            <a:r>
              <a:rPr lang="en-US" sz="6200" dirty="0" smtClean="0">
                <a:solidFill>
                  <a:schemeClr val="accent1">
                    <a:lumMod val="75000"/>
                  </a:schemeClr>
                </a:solidFill>
              </a:rPr>
              <a:t>       if(</a:t>
            </a:r>
            <a:r>
              <a:rPr lang="en-US" sz="6200" dirty="0" err="1" smtClean="0">
                <a:solidFill>
                  <a:schemeClr val="accent1">
                    <a:lumMod val="75000"/>
                  </a:schemeClr>
                </a:solidFill>
              </a:rPr>
              <a:t>i</a:t>
            </a:r>
            <a:r>
              <a:rPr lang="en-US" sz="6200" dirty="0" smtClean="0">
                <a:solidFill>
                  <a:schemeClr val="accent1">
                    <a:lumMod val="75000"/>
                  </a:schemeClr>
                </a:solidFill>
              </a:rPr>
              <a:t>==c)</a:t>
            </a:r>
          </a:p>
          <a:p>
            <a:pPr>
              <a:buNone/>
            </a:pPr>
            <a:r>
              <a:rPr lang="en-US" sz="6200" dirty="0" smtClean="0">
                <a:solidFill>
                  <a:schemeClr val="accent1">
                    <a:lumMod val="75000"/>
                  </a:schemeClr>
                </a:solidFill>
              </a:rPr>
              <a:t>       {</a:t>
            </a:r>
          </a:p>
          <a:p>
            <a:pPr>
              <a:buNone/>
            </a:pPr>
            <a:r>
              <a:rPr lang="en-US" sz="6200" dirty="0" smtClean="0">
                <a:solidFill>
                  <a:schemeClr val="accent1">
                    <a:lumMod val="75000"/>
                  </a:schemeClr>
                </a:solidFill>
              </a:rPr>
              <a:t>         node* p=q-&gt;link;         </a:t>
            </a:r>
            <a:r>
              <a:rPr lang="en-US" sz="6200" dirty="0" smtClean="0">
                <a:solidFill>
                  <a:srgbClr val="FF0000"/>
                </a:solidFill>
              </a:rPr>
              <a:t>//node to be deleted</a:t>
            </a:r>
            <a:r>
              <a:rPr lang="en-US" sz="6200" dirty="0" smtClean="0">
                <a:solidFill>
                  <a:schemeClr val="accent1">
                    <a:lumMod val="75000"/>
                  </a:schemeClr>
                </a:solidFill>
              </a:rPr>
              <a:t>                       </a:t>
            </a:r>
          </a:p>
          <a:p>
            <a:pPr>
              <a:buNone/>
            </a:pPr>
            <a:r>
              <a:rPr lang="en-US" sz="6200" dirty="0" smtClean="0">
                <a:solidFill>
                  <a:schemeClr val="accent1">
                    <a:lumMod val="75000"/>
                  </a:schemeClr>
                </a:solidFill>
              </a:rPr>
              <a:t>        q-&gt;link=p-&gt;link;      </a:t>
            </a:r>
            <a:r>
              <a:rPr lang="en-US" sz="6200" dirty="0" smtClean="0">
                <a:solidFill>
                  <a:srgbClr val="FF0000"/>
                </a:solidFill>
              </a:rPr>
              <a:t>//disconnecting the node p</a:t>
            </a:r>
            <a:endParaRPr lang="en-US" sz="6200" dirty="0" smtClean="0">
              <a:solidFill>
                <a:schemeClr val="accent1">
                  <a:lumMod val="75000"/>
                </a:schemeClr>
              </a:solidFill>
            </a:endParaRPr>
          </a:p>
          <a:p>
            <a:pPr>
              <a:buNone/>
            </a:pPr>
            <a:r>
              <a:rPr lang="en-US" sz="6200" dirty="0" smtClean="0">
                <a:solidFill>
                  <a:schemeClr val="accent1">
                    <a:lumMod val="75000"/>
                  </a:schemeClr>
                </a:solidFill>
              </a:rPr>
              <a:t>        delete p;</a:t>
            </a:r>
          </a:p>
          <a:p>
            <a:pPr>
              <a:buNone/>
            </a:pPr>
            <a:r>
              <a:rPr lang="en-US" sz="6200" dirty="0" smtClean="0">
                <a:solidFill>
                  <a:schemeClr val="accent1">
                    <a:lumMod val="75000"/>
                  </a:schemeClr>
                </a:solidFill>
              </a:rPr>
              <a:t>        </a:t>
            </a:r>
            <a:r>
              <a:rPr lang="en-US" sz="6200" dirty="0" err="1" smtClean="0">
                <a:solidFill>
                  <a:schemeClr val="accent1">
                    <a:lumMod val="75000"/>
                  </a:schemeClr>
                </a:solidFill>
              </a:rPr>
              <a:t>cout</a:t>
            </a:r>
            <a:r>
              <a:rPr lang="en-US" sz="6200" dirty="0" smtClean="0">
                <a:solidFill>
                  <a:schemeClr val="accent1">
                    <a:lumMod val="75000"/>
                  </a:schemeClr>
                </a:solidFill>
              </a:rPr>
              <a:t>&lt;&lt;“Deleted Successfully”;</a:t>
            </a:r>
          </a:p>
          <a:p>
            <a:pPr>
              <a:buNone/>
            </a:pPr>
            <a:r>
              <a:rPr lang="en-US" sz="6200" dirty="0" smtClean="0">
                <a:solidFill>
                  <a:schemeClr val="accent1">
                    <a:lumMod val="75000"/>
                  </a:schemeClr>
                </a:solidFill>
              </a:rPr>
              <a:t>       }</a:t>
            </a:r>
          </a:p>
          <a:p>
            <a:pPr>
              <a:buNone/>
            </a:pPr>
            <a:r>
              <a:rPr lang="en-US" sz="6200" dirty="0" smtClean="0">
                <a:solidFill>
                  <a:schemeClr val="accent1">
                    <a:lumMod val="75000"/>
                  </a:schemeClr>
                </a:solidFill>
              </a:rPr>
              <a:t>}</a:t>
            </a:r>
          </a:p>
          <a:p>
            <a:pPr>
              <a:buNone/>
            </a:pPr>
            <a:r>
              <a:rPr lang="en-US" sz="5600" dirty="0" smtClean="0">
                <a:solidFill>
                  <a:schemeClr val="accent1">
                    <a:lumMod val="75000"/>
                  </a:schemeClr>
                </a:solidFill>
              </a:rPr>
              <a:t> </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914400"/>
          </a:xfrm>
        </p:spPr>
        <p:txBody>
          <a:bodyPr/>
          <a:lstStyle/>
          <a:p>
            <a:r>
              <a:rPr lang="en-US" dirty="0" smtClean="0"/>
              <a:t>Searching a SLL</a:t>
            </a:r>
            <a:endParaRPr lang="en-US" dirty="0"/>
          </a:p>
        </p:txBody>
      </p:sp>
      <p:sp>
        <p:nvSpPr>
          <p:cNvPr id="3" name="Content Placeholder 2"/>
          <p:cNvSpPr>
            <a:spLocks noGrp="1"/>
          </p:cNvSpPr>
          <p:nvPr>
            <p:ph idx="1"/>
          </p:nvPr>
        </p:nvSpPr>
        <p:spPr>
          <a:xfrm>
            <a:off x="304800" y="1524000"/>
            <a:ext cx="8229600" cy="4389120"/>
          </a:xfrm>
        </p:spPr>
        <p:txBody>
          <a:bodyPr>
            <a:normAutofit/>
          </a:bodyPr>
          <a:lstStyle/>
          <a:p>
            <a:r>
              <a:rPr lang="en-US" dirty="0" smtClean="0">
                <a:solidFill>
                  <a:schemeClr val="tx2">
                    <a:lumMod val="60000"/>
                    <a:lumOff val="40000"/>
                  </a:schemeClr>
                </a:solidFill>
              </a:rPr>
              <a:t>Searching involves finding the required element in the list</a:t>
            </a:r>
          </a:p>
          <a:p>
            <a:r>
              <a:rPr lang="en-US" dirty="0" smtClean="0">
                <a:solidFill>
                  <a:schemeClr val="tx2">
                    <a:lumMod val="60000"/>
                    <a:lumOff val="40000"/>
                  </a:schemeClr>
                </a:solidFill>
              </a:rPr>
              <a:t>We can use various techniques of searching like linear search or binary search where binary search is more efficient in case of Arrays</a:t>
            </a:r>
          </a:p>
          <a:p>
            <a:r>
              <a:rPr lang="en-US" dirty="0" smtClean="0">
                <a:solidFill>
                  <a:schemeClr val="tx2">
                    <a:lumMod val="60000"/>
                    <a:lumOff val="40000"/>
                  </a:schemeClr>
                </a:solidFill>
              </a:rPr>
              <a:t>But in case of linked list since random access is not available it would become complex to do binary search in it</a:t>
            </a:r>
          </a:p>
          <a:p>
            <a:r>
              <a:rPr lang="en-US" dirty="0" smtClean="0">
                <a:solidFill>
                  <a:schemeClr val="tx2">
                    <a:lumMod val="60000"/>
                    <a:lumOff val="40000"/>
                  </a:schemeClr>
                </a:solidFill>
              </a:rPr>
              <a:t>We can perform simple linear search traversal </a:t>
            </a:r>
          </a:p>
          <a:p>
            <a:endParaRPr lang="en-US" dirty="0" smtClean="0">
              <a:solidFill>
                <a:schemeClr val="tx2">
                  <a:lumMod val="60000"/>
                  <a:lumOff val="40000"/>
                </a:schemeClr>
              </a:solidFill>
            </a:endParaRPr>
          </a:p>
          <a:p>
            <a:endParaRPr lang="en-US" dirty="0">
              <a:solidFill>
                <a:schemeClr val="tx2">
                  <a:lumMod val="60000"/>
                  <a:lumOff val="40000"/>
                </a:schemeClr>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229600" cy="6096000"/>
          </a:xfrm>
        </p:spPr>
        <p:txBody>
          <a:bodyPr>
            <a:normAutofit/>
          </a:bodyPr>
          <a:lstStyle/>
          <a:p>
            <a:pPr>
              <a:buNone/>
            </a:pPr>
            <a:r>
              <a:rPr lang="en-US" sz="2400" dirty="0" smtClean="0"/>
              <a:t>In  linear  search  each  node  is  traversed  till  the  data  in </a:t>
            </a:r>
          </a:p>
          <a:p>
            <a:pPr>
              <a:buNone/>
            </a:pPr>
            <a:r>
              <a:rPr lang="en-US" sz="2400" dirty="0" smtClean="0"/>
              <a:t>the  node  matches  with  the  required  value</a:t>
            </a:r>
          </a:p>
          <a:p>
            <a:pPr>
              <a:buNone/>
            </a:pPr>
            <a:endParaRPr lang="en-US" sz="2400" dirty="0" smtClean="0"/>
          </a:p>
          <a:p>
            <a:pPr>
              <a:buNone/>
            </a:pPr>
            <a:r>
              <a:rPr lang="en-US" sz="2000" dirty="0" smtClean="0">
                <a:solidFill>
                  <a:schemeClr val="accent1">
                    <a:lumMod val="75000"/>
                  </a:schemeClr>
                </a:solidFill>
              </a:rPr>
              <a:t> void search(</a:t>
            </a:r>
            <a:r>
              <a:rPr lang="en-US" sz="2000" dirty="0" err="1" smtClean="0">
                <a:solidFill>
                  <a:schemeClr val="accent1">
                    <a:lumMod val="75000"/>
                  </a:schemeClr>
                </a:solidFill>
              </a:rPr>
              <a:t>int</a:t>
            </a:r>
            <a:r>
              <a:rPr lang="en-US" sz="2000" dirty="0" smtClean="0">
                <a:solidFill>
                  <a:schemeClr val="accent1">
                    <a:lumMod val="75000"/>
                  </a:schemeClr>
                </a:solidFill>
              </a:rPr>
              <a:t> x)</a:t>
            </a:r>
          </a:p>
          <a:p>
            <a:pPr>
              <a:buNone/>
            </a:pPr>
            <a:r>
              <a:rPr lang="en-US" sz="2000" dirty="0" smtClean="0">
                <a:solidFill>
                  <a:schemeClr val="accent1">
                    <a:lumMod val="75000"/>
                  </a:schemeClr>
                </a:solidFill>
              </a:rPr>
              <a:t>{</a:t>
            </a:r>
          </a:p>
          <a:p>
            <a:pPr>
              <a:buNone/>
            </a:pPr>
            <a:r>
              <a:rPr lang="en-US" sz="2000" dirty="0" smtClean="0">
                <a:solidFill>
                  <a:schemeClr val="accent1">
                    <a:lumMod val="75000"/>
                  </a:schemeClr>
                </a:solidFill>
              </a:rPr>
              <a:t>   node*temp=start;</a:t>
            </a:r>
          </a:p>
          <a:p>
            <a:pPr>
              <a:buNone/>
            </a:pPr>
            <a:r>
              <a:rPr lang="en-US" sz="2000" dirty="0" smtClean="0">
                <a:solidFill>
                  <a:schemeClr val="accent1">
                    <a:lumMod val="75000"/>
                  </a:schemeClr>
                </a:solidFill>
              </a:rPr>
              <a:t>      while(temp!=NULL)</a:t>
            </a:r>
          </a:p>
          <a:p>
            <a:pPr>
              <a:buNone/>
            </a:pPr>
            <a:r>
              <a:rPr lang="en-US" sz="2000" dirty="0" smtClean="0">
                <a:solidFill>
                  <a:schemeClr val="accent1">
                    <a:lumMod val="75000"/>
                  </a:schemeClr>
                </a:solidFill>
              </a:rPr>
              <a:t>         {</a:t>
            </a:r>
          </a:p>
          <a:p>
            <a:pPr>
              <a:buNone/>
            </a:pPr>
            <a:r>
              <a:rPr lang="en-US" sz="2000" dirty="0" smtClean="0">
                <a:solidFill>
                  <a:schemeClr val="accent1">
                    <a:lumMod val="75000"/>
                  </a:schemeClr>
                </a:solidFill>
              </a:rPr>
              <a:t>             if(temp-&gt;data==x)</a:t>
            </a:r>
          </a:p>
          <a:p>
            <a:pPr>
              <a:buNone/>
            </a:pPr>
            <a:r>
              <a:rPr lang="en-US" sz="2000" dirty="0" smtClean="0">
                <a:solidFill>
                  <a:schemeClr val="accent1">
                    <a:lumMod val="75000"/>
                  </a:schemeClr>
                </a:solidFill>
              </a:rPr>
              <a:t>              {</a:t>
            </a:r>
          </a:p>
          <a:p>
            <a:pPr>
              <a:buNone/>
            </a:pPr>
            <a:r>
              <a:rPr lang="en-US" sz="2000" dirty="0" smtClean="0">
                <a:solidFill>
                  <a:schemeClr val="accent1">
                    <a:lumMod val="75000"/>
                  </a:schemeClr>
                </a:solidFill>
              </a:rPr>
              <a:t>                </a:t>
            </a:r>
            <a:r>
              <a:rPr lang="en-US" sz="2000" dirty="0" err="1" smtClean="0">
                <a:solidFill>
                  <a:schemeClr val="accent1">
                    <a:lumMod val="75000"/>
                  </a:schemeClr>
                </a:solidFill>
              </a:rPr>
              <a:t>cout</a:t>
            </a:r>
            <a:r>
              <a:rPr lang="en-US" sz="2000" dirty="0" smtClean="0">
                <a:solidFill>
                  <a:schemeClr val="accent1">
                    <a:lumMod val="75000"/>
                  </a:schemeClr>
                </a:solidFill>
              </a:rPr>
              <a:t>&lt;&lt;“FOUND ”&lt;&lt;temp-&gt;data;</a:t>
            </a:r>
          </a:p>
          <a:p>
            <a:pPr>
              <a:buNone/>
            </a:pPr>
            <a:r>
              <a:rPr lang="en-US" sz="2000" dirty="0" smtClean="0">
                <a:solidFill>
                  <a:schemeClr val="accent1">
                    <a:lumMod val="75000"/>
                  </a:schemeClr>
                </a:solidFill>
              </a:rPr>
              <a:t>                break;</a:t>
            </a:r>
          </a:p>
          <a:p>
            <a:pPr>
              <a:buNone/>
            </a:pPr>
            <a:r>
              <a:rPr lang="en-US" sz="2000" dirty="0" smtClean="0">
                <a:solidFill>
                  <a:schemeClr val="accent1">
                    <a:lumMod val="75000"/>
                  </a:schemeClr>
                </a:solidFill>
              </a:rPr>
              <a:t>              }</a:t>
            </a:r>
          </a:p>
          <a:p>
            <a:pPr>
              <a:buNone/>
            </a:pPr>
            <a:r>
              <a:rPr lang="en-US" sz="2000" dirty="0" smtClean="0">
                <a:solidFill>
                  <a:schemeClr val="accent1">
                    <a:lumMod val="75000"/>
                  </a:schemeClr>
                </a:solidFill>
              </a:rPr>
              <a:t>           temp=temp-&gt;next;</a:t>
            </a:r>
          </a:p>
          <a:p>
            <a:pPr>
              <a:buNone/>
            </a:pPr>
            <a:r>
              <a:rPr lang="en-US" sz="2000" dirty="0" smtClean="0">
                <a:solidFill>
                  <a:schemeClr val="accent1">
                    <a:lumMod val="75000"/>
                  </a:schemeClr>
                </a:solidFill>
              </a:rPr>
              <a:t>         }</a:t>
            </a:r>
          </a:p>
          <a:p>
            <a:pPr>
              <a:buNone/>
            </a:pPr>
            <a:r>
              <a:rPr lang="en-US" sz="2000" dirty="0" smtClean="0">
                <a:solidFill>
                  <a:schemeClr val="accent1">
                    <a:lumMod val="75000"/>
                  </a:schemeClr>
                </a:solidFill>
              </a:rPr>
              <a: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96112"/>
          </a:xfrm>
        </p:spPr>
        <p:txBody>
          <a:bodyPr/>
          <a:lstStyle/>
          <a:p>
            <a:r>
              <a:rPr lang="en-US" dirty="0" smtClean="0"/>
              <a:t>Reversing a linked list</a:t>
            </a:r>
            <a:endParaRPr lang="en-US" dirty="0"/>
          </a:p>
        </p:txBody>
      </p:sp>
      <p:sp>
        <p:nvSpPr>
          <p:cNvPr id="3" name="Content Placeholder 2"/>
          <p:cNvSpPr>
            <a:spLocks noGrp="1"/>
          </p:cNvSpPr>
          <p:nvPr>
            <p:ph idx="1"/>
          </p:nvPr>
        </p:nvSpPr>
        <p:spPr>
          <a:xfrm>
            <a:off x="304800" y="1600200"/>
            <a:ext cx="8305800" cy="1143000"/>
          </a:xfrm>
        </p:spPr>
        <p:txBody>
          <a:bodyPr>
            <a:normAutofit/>
          </a:bodyPr>
          <a:lstStyle/>
          <a:p>
            <a:pPr>
              <a:buFont typeface="Arial" pitchFamily="34" charset="0"/>
              <a:buChar char="•"/>
            </a:pPr>
            <a:r>
              <a:rPr lang="en-US" sz="2800" dirty="0" smtClean="0">
                <a:solidFill>
                  <a:schemeClr val="accent1">
                    <a:lumMod val="75000"/>
                  </a:schemeClr>
                </a:solidFill>
              </a:rPr>
              <a:t>We can reverse a linked list by reversing the direction of the links between 2 nodes</a:t>
            </a:r>
            <a:endParaRPr lang="en-US" sz="2800" dirty="0">
              <a:solidFill>
                <a:schemeClr val="accent1">
                  <a:lumMod val="75000"/>
                </a:schemeClr>
              </a:solidFill>
            </a:endParaRPr>
          </a:p>
        </p:txBody>
      </p:sp>
      <p:pic>
        <p:nvPicPr>
          <p:cNvPr id="4" name="Picture 3" descr="Reverse_Linked_List_Interview_Question.jpg"/>
          <p:cNvPicPr>
            <a:picLocks noChangeAspect="1"/>
          </p:cNvPicPr>
          <p:nvPr/>
        </p:nvPicPr>
        <p:blipFill>
          <a:blip r:embed="rId2" cstate="print"/>
          <a:stretch>
            <a:fillRect/>
          </a:stretch>
        </p:blipFill>
        <p:spPr>
          <a:xfrm>
            <a:off x="0" y="2819400"/>
            <a:ext cx="8763000" cy="350520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229600" cy="2057400"/>
          </a:xfrm>
        </p:spPr>
        <p:txBody>
          <a:bodyPr/>
          <a:lstStyle/>
          <a:p>
            <a:r>
              <a:rPr lang="en-US" dirty="0" smtClean="0">
                <a:solidFill>
                  <a:schemeClr val="accent1">
                    <a:lumMod val="75000"/>
                  </a:schemeClr>
                </a:solidFill>
              </a:rPr>
              <a:t>We make use of 3 structure pointers say </a:t>
            </a:r>
            <a:r>
              <a:rPr lang="en-US" dirty="0" err="1" smtClean="0">
                <a:solidFill>
                  <a:schemeClr val="accent1">
                    <a:lumMod val="75000"/>
                  </a:schemeClr>
                </a:solidFill>
              </a:rPr>
              <a:t>p,q,r</a:t>
            </a:r>
            <a:endParaRPr lang="en-US" dirty="0" smtClean="0">
              <a:solidFill>
                <a:schemeClr val="accent1">
                  <a:lumMod val="75000"/>
                </a:schemeClr>
              </a:solidFill>
            </a:endParaRPr>
          </a:p>
          <a:p>
            <a:endParaRPr lang="en-US" dirty="0" smtClean="0">
              <a:solidFill>
                <a:schemeClr val="accent1">
                  <a:lumMod val="75000"/>
                </a:schemeClr>
              </a:solidFill>
            </a:endParaRPr>
          </a:p>
          <a:p>
            <a:r>
              <a:rPr lang="en-US" dirty="0" smtClean="0">
                <a:solidFill>
                  <a:schemeClr val="accent1">
                    <a:lumMod val="75000"/>
                  </a:schemeClr>
                </a:solidFill>
              </a:rPr>
              <a:t>At any instant q will point to the node next to p and r will point to the node next to q</a:t>
            </a:r>
            <a:endParaRPr lang="en-US" dirty="0">
              <a:solidFill>
                <a:schemeClr val="accent1">
                  <a:lumMod val="75000"/>
                </a:schemeClr>
              </a:solidFill>
            </a:endParaRPr>
          </a:p>
        </p:txBody>
      </p:sp>
      <p:sp>
        <p:nvSpPr>
          <p:cNvPr id="4" name="Rectangle 3"/>
          <p:cNvSpPr/>
          <p:nvPr/>
        </p:nvSpPr>
        <p:spPr>
          <a:xfrm>
            <a:off x="1905000" y="4038600"/>
            <a:ext cx="1143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p:nvSpPr>
        <p:spPr>
          <a:xfrm>
            <a:off x="3810000" y="4038600"/>
            <a:ext cx="1143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5715000" y="4038600"/>
            <a:ext cx="11430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4" idx="3"/>
            <a:endCxn id="6" idx="1"/>
          </p:cNvCxnSpPr>
          <p:nvPr/>
        </p:nvCxnSpPr>
        <p:spPr>
          <a:xfrm>
            <a:off x="3048000" y="4267200"/>
            <a:ext cx="76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953000" y="4267200"/>
            <a:ext cx="762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Elbow Connector 12"/>
          <p:cNvCxnSpPr>
            <a:stCxn id="7" idx="3"/>
          </p:cNvCxnSpPr>
          <p:nvPr/>
        </p:nvCxnSpPr>
        <p:spPr>
          <a:xfrm flipV="1">
            <a:off x="6858000" y="3810000"/>
            <a:ext cx="914400" cy="4572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848600" y="3657600"/>
            <a:ext cx="990600" cy="369332"/>
          </a:xfrm>
          <a:prstGeom prst="rect">
            <a:avLst/>
          </a:prstGeom>
          <a:noFill/>
        </p:spPr>
        <p:txBody>
          <a:bodyPr wrap="square" rtlCol="0">
            <a:spAutoFit/>
          </a:bodyPr>
          <a:lstStyle/>
          <a:p>
            <a:r>
              <a:rPr lang="en-US" dirty="0" smtClean="0"/>
              <a:t>NULL     </a:t>
            </a:r>
            <a:endParaRPr lang="en-US" dirty="0"/>
          </a:p>
        </p:txBody>
      </p:sp>
      <p:cxnSp>
        <p:nvCxnSpPr>
          <p:cNvPr id="17" name="Elbow Connector 16"/>
          <p:cNvCxnSpPr/>
          <p:nvPr/>
        </p:nvCxnSpPr>
        <p:spPr>
          <a:xfrm>
            <a:off x="1219200" y="3810000"/>
            <a:ext cx="685800" cy="3810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81000" y="3581400"/>
            <a:ext cx="990600" cy="369332"/>
          </a:xfrm>
          <a:prstGeom prst="rect">
            <a:avLst/>
          </a:prstGeom>
          <a:noFill/>
        </p:spPr>
        <p:txBody>
          <a:bodyPr wrap="square" rtlCol="0">
            <a:spAutoFit/>
          </a:bodyPr>
          <a:lstStyle/>
          <a:p>
            <a:r>
              <a:rPr lang="en-US" dirty="0" smtClean="0"/>
              <a:t>Head     </a:t>
            </a:r>
            <a:endParaRPr lang="en-US" dirty="0"/>
          </a:p>
        </p:txBody>
      </p:sp>
      <p:sp>
        <p:nvSpPr>
          <p:cNvPr id="20" name="TextBox 19"/>
          <p:cNvSpPr txBox="1"/>
          <p:nvPr/>
        </p:nvSpPr>
        <p:spPr>
          <a:xfrm>
            <a:off x="2286000" y="3581400"/>
            <a:ext cx="381000" cy="369332"/>
          </a:xfrm>
          <a:prstGeom prst="rect">
            <a:avLst/>
          </a:prstGeom>
          <a:noFill/>
        </p:spPr>
        <p:txBody>
          <a:bodyPr wrap="square" rtlCol="0">
            <a:spAutoFit/>
          </a:bodyPr>
          <a:lstStyle/>
          <a:p>
            <a:r>
              <a:rPr lang="en-US" dirty="0" smtClean="0"/>
              <a:t>P</a:t>
            </a:r>
            <a:endParaRPr lang="en-US" dirty="0"/>
          </a:p>
        </p:txBody>
      </p:sp>
      <p:sp>
        <p:nvSpPr>
          <p:cNvPr id="21" name="TextBox 20"/>
          <p:cNvSpPr txBox="1"/>
          <p:nvPr/>
        </p:nvSpPr>
        <p:spPr>
          <a:xfrm>
            <a:off x="4191000" y="3581400"/>
            <a:ext cx="381000" cy="369332"/>
          </a:xfrm>
          <a:prstGeom prst="rect">
            <a:avLst/>
          </a:prstGeom>
          <a:noFill/>
        </p:spPr>
        <p:txBody>
          <a:bodyPr wrap="square" rtlCol="0">
            <a:spAutoFit/>
          </a:bodyPr>
          <a:lstStyle/>
          <a:p>
            <a:r>
              <a:rPr lang="en-US" dirty="0" smtClean="0"/>
              <a:t>q</a:t>
            </a:r>
            <a:endParaRPr lang="en-US" dirty="0"/>
          </a:p>
        </p:txBody>
      </p:sp>
      <p:sp>
        <p:nvSpPr>
          <p:cNvPr id="22" name="TextBox 21"/>
          <p:cNvSpPr txBox="1"/>
          <p:nvPr/>
        </p:nvSpPr>
        <p:spPr>
          <a:xfrm>
            <a:off x="6019800" y="3581400"/>
            <a:ext cx="381000" cy="369332"/>
          </a:xfrm>
          <a:prstGeom prst="rect">
            <a:avLst/>
          </a:prstGeom>
          <a:noFill/>
        </p:spPr>
        <p:txBody>
          <a:bodyPr wrap="square" rtlCol="0">
            <a:spAutoFit/>
          </a:bodyPr>
          <a:lstStyle/>
          <a:p>
            <a:r>
              <a:rPr lang="en-US" dirty="0" smtClean="0"/>
              <a:t>r</a:t>
            </a:r>
            <a:endParaRPr lang="en-US" dirty="0"/>
          </a:p>
        </p:txBody>
      </p:sp>
      <p:cxnSp>
        <p:nvCxnSpPr>
          <p:cNvPr id="24" name="Curved Connector 23"/>
          <p:cNvCxnSpPr/>
          <p:nvPr/>
        </p:nvCxnSpPr>
        <p:spPr>
          <a:xfrm flipH="1">
            <a:off x="838200" y="4191000"/>
            <a:ext cx="990600" cy="762000"/>
          </a:xfrm>
          <a:prstGeom prst="curvedConnector3">
            <a:avLst>
              <a:gd name="adj1" fmla="val 7207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0" y="4800600"/>
            <a:ext cx="990600" cy="369332"/>
          </a:xfrm>
          <a:prstGeom prst="rect">
            <a:avLst/>
          </a:prstGeom>
          <a:noFill/>
        </p:spPr>
        <p:txBody>
          <a:bodyPr wrap="square" rtlCol="0">
            <a:spAutoFit/>
          </a:bodyPr>
          <a:lstStyle/>
          <a:p>
            <a:r>
              <a:rPr lang="en-US" dirty="0" smtClean="0"/>
              <a:t>NULL     </a:t>
            </a:r>
            <a:endParaRPr lang="en-US" dirty="0"/>
          </a:p>
        </p:txBody>
      </p:sp>
      <p:cxnSp>
        <p:nvCxnSpPr>
          <p:cNvPr id="28" name="Curved Connector 27"/>
          <p:cNvCxnSpPr>
            <a:stCxn id="6" idx="3"/>
            <a:endCxn id="4" idx="3"/>
          </p:cNvCxnSpPr>
          <p:nvPr/>
        </p:nvCxnSpPr>
        <p:spPr>
          <a:xfrm flipH="1">
            <a:off x="3048000" y="4267200"/>
            <a:ext cx="1905000" cy="12700"/>
          </a:xfrm>
          <a:prstGeom prst="curvedConnector5">
            <a:avLst>
              <a:gd name="adj1" fmla="val -12000"/>
              <a:gd name="adj2" fmla="val -3600000"/>
              <a:gd name="adj3" fmla="val 80000"/>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04800" y="5257800"/>
            <a:ext cx="8839200" cy="1384995"/>
          </a:xfrm>
          <a:prstGeom prst="rect">
            <a:avLst/>
          </a:prstGeom>
          <a:noFill/>
        </p:spPr>
        <p:txBody>
          <a:bodyPr wrap="square" rtlCol="0">
            <a:spAutoFit/>
          </a:bodyPr>
          <a:lstStyle/>
          <a:p>
            <a:pPr>
              <a:buFont typeface="Arial" pitchFamily="34" charset="0"/>
              <a:buChar char="•"/>
            </a:pPr>
            <a:r>
              <a:rPr lang="en-US" sz="2800" dirty="0" smtClean="0">
                <a:solidFill>
                  <a:schemeClr val="accent1">
                    <a:lumMod val="75000"/>
                  </a:schemeClr>
                </a:solidFill>
              </a:rPr>
              <a:t> For next iteration p=q and q=r</a:t>
            </a:r>
          </a:p>
          <a:p>
            <a:endParaRPr lang="en-US" sz="2800" dirty="0" smtClean="0">
              <a:solidFill>
                <a:schemeClr val="accent1">
                  <a:lumMod val="75000"/>
                </a:schemeClr>
              </a:solidFill>
            </a:endParaRPr>
          </a:p>
          <a:p>
            <a:pPr>
              <a:buFont typeface="Arial" pitchFamily="34" charset="0"/>
              <a:buChar char="•"/>
            </a:pPr>
            <a:r>
              <a:rPr lang="en-US" sz="2800" dirty="0" smtClean="0">
                <a:solidFill>
                  <a:schemeClr val="accent1">
                    <a:lumMod val="75000"/>
                  </a:schemeClr>
                </a:solidFill>
              </a:rPr>
              <a:t> At the end we will change head to the last node</a:t>
            </a:r>
            <a:endParaRPr lang="en-US" sz="2800" dirty="0">
              <a:solidFill>
                <a:schemeClr val="accent1">
                  <a:lumMod val="75000"/>
                </a:schemeClr>
              </a:solidFill>
            </a:endParaRPr>
          </a:p>
        </p:txBody>
      </p:sp>
      <p:sp>
        <p:nvSpPr>
          <p:cNvPr id="30" name="TextBox 29"/>
          <p:cNvSpPr txBox="1"/>
          <p:nvPr/>
        </p:nvSpPr>
        <p:spPr>
          <a:xfrm>
            <a:off x="4191000" y="3581400"/>
            <a:ext cx="304800" cy="369332"/>
          </a:xfrm>
          <a:prstGeom prst="rect">
            <a:avLst/>
          </a:prstGeom>
          <a:noFill/>
        </p:spPr>
        <p:txBody>
          <a:bodyPr wrap="square" rtlCol="0">
            <a:spAutoFit/>
          </a:bodyPr>
          <a:lstStyle/>
          <a:p>
            <a:r>
              <a:rPr lang="en-US" dirty="0" smtClean="0"/>
              <a:t>p</a:t>
            </a:r>
            <a:endParaRPr lang="en-US" dirty="0"/>
          </a:p>
        </p:txBody>
      </p:sp>
      <p:sp>
        <p:nvSpPr>
          <p:cNvPr id="32" name="TextBox 31"/>
          <p:cNvSpPr txBox="1"/>
          <p:nvPr/>
        </p:nvSpPr>
        <p:spPr>
          <a:xfrm>
            <a:off x="6019800" y="3581400"/>
            <a:ext cx="304800" cy="369332"/>
          </a:xfrm>
          <a:prstGeom prst="rect">
            <a:avLst/>
          </a:prstGeom>
          <a:noFill/>
        </p:spPr>
        <p:txBody>
          <a:bodyPr wrap="square" rtlCol="0">
            <a:spAutoFit/>
          </a:bodyPr>
          <a:lstStyle/>
          <a:p>
            <a:r>
              <a:rPr lang="en-US" dirty="0" smtClean="0"/>
              <a:t>q</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xit" presetSubtype="0" fill="hold" nodeType="clickEffect">
                                  <p:stCondLst>
                                    <p:cond delay="0"/>
                                  </p:stCondLst>
                                  <p:childTnLst>
                                    <p:anim calcmode="lin" valueType="num">
                                      <p:cBhvr>
                                        <p:cTn id="16" dur="500"/>
                                        <p:tgtEl>
                                          <p:spTgt spid="10"/>
                                        </p:tgtEl>
                                        <p:attrNameLst>
                                          <p:attrName>ppt_w</p:attrName>
                                        </p:attrNameLst>
                                      </p:cBhvr>
                                      <p:tavLst>
                                        <p:tav tm="0">
                                          <p:val>
                                            <p:strVal val="ppt_w"/>
                                          </p:val>
                                        </p:tav>
                                        <p:tav tm="100000">
                                          <p:val>
                                            <p:fltVal val="0"/>
                                          </p:val>
                                        </p:tav>
                                      </p:tavLst>
                                    </p:anim>
                                    <p:anim calcmode="lin" valueType="num">
                                      <p:cBhvr>
                                        <p:cTn id="17" dur="500"/>
                                        <p:tgtEl>
                                          <p:spTgt spid="10"/>
                                        </p:tgtEl>
                                        <p:attrNameLst>
                                          <p:attrName>ppt_h</p:attrName>
                                        </p:attrNameLst>
                                      </p:cBhvr>
                                      <p:tavLst>
                                        <p:tav tm="0">
                                          <p:val>
                                            <p:strVal val="ppt_h"/>
                                          </p:val>
                                        </p:tav>
                                        <p:tav tm="100000">
                                          <p:val>
                                            <p:fltVal val="0"/>
                                          </p:val>
                                        </p:tav>
                                      </p:tavLst>
                                    </p:anim>
                                    <p:animEffect transition="out" filter="fade">
                                      <p:cBhvr>
                                        <p:cTn id="18" dur="500"/>
                                        <p:tgtEl>
                                          <p:spTgt spid="10"/>
                                        </p:tgtEl>
                                      </p:cBhvr>
                                    </p:animEffect>
                                    <p:set>
                                      <p:cBhvr>
                                        <p:cTn id="19" dur="1" fill="hold">
                                          <p:stCondLst>
                                            <p:cond delay="499"/>
                                          </p:stCondLst>
                                        </p:cTn>
                                        <p:tgtEl>
                                          <p:spTgt spid="10"/>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21" presetClass="entr" presetSubtype="4"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heel(4)">
                                      <p:cBhvr>
                                        <p:cTn id="24" dur="20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box(in)">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dissolv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xit" presetSubtype="0" fill="hold" nodeType="clickEffect">
                                  <p:stCondLst>
                                    <p:cond delay="0"/>
                                  </p:stCondLst>
                                  <p:childTnLst>
                                    <p:animEffect transition="out" filter="dissolve">
                                      <p:cBhvr>
                                        <p:cTn id="38" dur="500"/>
                                        <p:tgtEl>
                                          <p:spTgt spid="11"/>
                                        </p:tgtEl>
                                      </p:cBhvr>
                                    </p:animEffect>
                                    <p:set>
                                      <p:cBhvr>
                                        <p:cTn id="39" dur="1" fill="hold">
                                          <p:stCondLst>
                                            <p:cond delay="499"/>
                                          </p:stCondLst>
                                        </p:cTn>
                                        <p:tgtEl>
                                          <p:spTgt spid="11"/>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0" presetClass="entr" presetSubtype="0" fill="hold" nodeType="click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wedge">
                                      <p:cBhvr>
                                        <p:cTn id="44" dur="2000"/>
                                        <p:tgtEl>
                                          <p:spTgt spid="28"/>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xit" presetSubtype="0" fill="hold" grpId="1" nodeType="clickEffect">
                                  <p:stCondLst>
                                    <p:cond delay="0"/>
                                  </p:stCondLst>
                                  <p:childTnLst>
                                    <p:animEffect transition="out" filter="dissolve">
                                      <p:cBhvr>
                                        <p:cTn id="48" dur="500"/>
                                        <p:tgtEl>
                                          <p:spTgt spid="20"/>
                                        </p:tgtEl>
                                      </p:cBhvr>
                                    </p:animEffect>
                                    <p:set>
                                      <p:cBhvr>
                                        <p:cTn id="49" dur="1" fill="hold">
                                          <p:stCondLst>
                                            <p:cond delay="499"/>
                                          </p:stCondLst>
                                        </p:cTn>
                                        <p:tgtEl>
                                          <p:spTgt spid="20"/>
                                        </p:tgtEl>
                                        <p:attrNameLst>
                                          <p:attrName>style.visibility</p:attrName>
                                        </p:attrNameLst>
                                      </p:cBhvr>
                                      <p:to>
                                        <p:strVal val="hidden"/>
                                      </p:to>
                                    </p:set>
                                  </p:childTnLst>
                                </p:cTn>
                              </p:par>
                              <p:par>
                                <p:cTn id="50" presetID="9" presetClass="exit" presetSubtype="0" fill="hold" grpId="1" nodeType="withEffect">
                                  <p:stCondLst>
                                    <p:cond delay="0"/>
                                  </p:stCondLst>
                                  <p:childTnLst>
                                    <p:animEffect transition="out" filter="dissolve">
                                      <p:cBhvr>
                                        <p:cTn id="51" dur="500"/>
                                        <p:tgtEl>
                                          <p:spTgt spid="21"/>
                                        </p:tgtEl>
                                      </p:cBhvr>
                                    </p:animEffect>
                                    <p:set>
                                      <p:cBhvr>
                                        <p:cTn id="52" dur="1" fill="hold">
                                          <p:stCondLst>
                                            <p:cond delay="499"/>
                                          </p:stCondLst>
                                        </p:cTn>
                                        <p:tgtEl>
                                          <p:spTgt spid="21"/>
                                        </p:tgtEl>
                                        <p:attrNameLst>
                                          <p:attrName>style.visibility</p:attrName>
                                        </p:attrNameLst>
                                      </p:cBhvr>
                                      <p:to>
                                        <p:strVal val="hidden"/>
                                      </p:to>
                                    </p:set>
                                  </p:childTnLst>
                                </p:cTn>
                              </p:par>
                              <p:par>
                                <p:cTn id="53" presetID="9" presetClass="exit" presetSubtype="0" fill="hold" grpId="1" nodeType="withEffect">
                                  <p:stCondLst>
                                    <p:cond delay="0"/>
                                  </p:stCondLst>
                                  <p:childTnLst>
                                    <p:animEffect transition="out" filter="dissolve">
                                      <p:cBhvr>
                                        <p:cTn id="54" dur="500"/>
                                        <p:tgtEl>
                                          <p:spTgt spid="22"/>
                                        </p:tgtEl>
                                      </p:cBhvr>
                                    </p:animEffect>
                                    <p:set>
                                      <p:cBhvr>
                                        <p:cTn id="55" dur="1" fill="hold">
                                          <p:stCondLst>
                                            <p:cond delay="499"/>
                                          </p:stCondLst>
                                        </p:cTn>
                                        <p:tgtEl>
                                          <p:spTgt spid="22"/>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16" presetClass="entr" presetSubtype="26"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barn(inHorizontal)">
                                      <p:cBhvr>
                                        <p:cTn id="60" dur="500"/>
                                        <p:tgtEl>
                                          <p:spTgt spid="32"/>
                                        </p:tgtEl>
                                      </p:cBhvr>
                                    </p:animEffect>
                                  </p:childTnLst>
                                </p:cTn>
                              </p:par>
                              <p:par>
                                <p:cTn id="61" presetID="16" presetClass="entr" presetSubtype="26"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barn(inHorizontal)">
                                      <p:cBhvr>
                                        <p:cTn id="6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1" grpId="0"/>
      <p:bldP spid="21" grpId="1"/>
      <p:bldP spid="22" grpId="0"/>
      <p:bldP spid="22" grpId="1"/>
      <p:bldP spid="26" grpId="0"/>
      <p:bldP spid="30" grpId="0"/>
      <p:bldP spid="3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838200"/>
          </a:xfrm>
        </p:spPr>
        <p:txBody>
          <a:bodyPr/>
          <a:lstStyle/>
          <a:p>
            <a:r>
              <a:rPr lang="en-US" dirty="0" smtClean="0"/>
              <a:t>                    Code</a:t>
            </a:r>
            <a:endParaRPr lang="en-US" dirty="0"/>
          </a:p>
        </p:txBody>
      </p:sp>
      <p:sp>
        <p:nvSpPr>
          <p:cNvPr id="3" name="Content Placeholder 2"/>
          <p:cNvSpPr>
            <a:spLocks noGrp="1"/>
          </p:cNvSpPr>
          <p:nvPr>
            <p:ph idx="1"/>
          </p:nvPr>
        </p:nvSpPr>
        <p:spPr>
          <a:xfrm>
            <a:off x="457200" y="914400"/>
            <a:ext cx="8229600" cy="5943600"/>
          </a:xfrm>
        </p:spPr>
        <p:txBody>
          <a:bodyPr>
            <a:normAutofit fontScale="70000" lnSpcReduction="20000"/>
          </a:bodyPr>
          <a:lstStyle/>
          <a:p>
            <a:pPr>
              <a:buNone/>
            </a:pPr>
            <a:r>
              <a:rPr lang="en-US" dirty="0" smtClean="0">
                <a:solidFill>
                  <a:schemeClr val="accent1">
                    <a:lumMod val="75000"/>
                  </a:schemeClr>
                </a:solidFill>
              </a:rPr>
              <a:t>void reverse()</a:t>
            </a:r>
          </a:p>
          <a:p>
            <a:pPr>
              <a:buNone/>
            </a:pPr>
            <a:r>
              <a:rPr lang="en-US" dirty="0" smtClean="0">
                <a:solidFill>
                  <a:schemeClr val="accent1">
                    <a:lumMod val="75000"/>
                  </a:schemeClr>
                </a:solidFill>
              </a:rPr>
              <a:t>{</a:t>
            </a:r>
          </a:p>
          <a:p>
            <a:pPr>
              <a:buNone/>
            </a:pPr>
            <a:r>
              <a:rPr lang="en-US" dirty="0" smtClean="0">
                <a:solidFill>
                  <a:schemeClr val="accent1">
                    <a:lumMod val="75000"/>
                  </a:schemeClr>
                </a:solidFill>
              </a:rPr>
              <a:t>node*p,*q,*r;</a:t>
            </a:r>
          </a:p>
          <a:p>
            <a:pPr>
              <a:buNone/>
            </a:pPr>
            <a:r>
              <a:rPr lang="en-US" dirty="0" smtClean="0">
                <a:solidFill>
                  <a:schemeClr val="accent1">
                    <a:lumMod val="75000"/>
                  </a:schemeClr>
                </a:solidFill>
              </a:rPr>
              <a:t>    if(start==NULL)</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a:t>
            </a:r>
            <a:r>
              <a:rPr lang="en-US" dirty="0" err="1" smtClean="0">
                <a:solidFill>
                  <a:schemeClr val="accent1">
                    <a:lumMod val="75000"/>
                  </a:schemeClr>
                </a:solidFill>
              </a:rPr>
              <a:t>cout</a:t>
            </a:r>
            <a:r>
              <a:rPr lang="en-US" dirty="0" smtClean="0">
                <a:solidFill>
                  <a:schemeClr val="accent1">
                    <a:lumMod val="75000"/>
                  </a:schemeClr>
                </a:solidFill>
              </a:rPr>
              <a:t>&lt;&lt;"\</a:t>
            </a:r>
            <a:r>
              <a:rPr lang="en-US" dirty="0" err="1" smtClean="0">
                <a:solidFill>
                  <a:schemeClr val="accent1">
                    <a:lumMod val="75000"/>
                  </a:schemeClr>
                </a:solidFill>
              </a:rPr>
              <a:t>nList</a:t>
            </a:r>
            <a:r>
              <a:rPr lang="en-US" dirty="0" smtClean="0">
                <a:solidFill>
                  <a:schemeClr val="accent1">
                    <a:lumMod val="75000"/>
                  </a:schemeClr>
                </a:solidFill>
              </a:rPr>
              <a:t> is empty\n";</a:t>
            </a:r>
          </a:p>
          <a:p>
            <a:pPr>
              <a:buNone/>
            </a:pPr>
            <a:r>
              <a:rPr lang="en-US" dirty="0" smtClean="0">
                <a:solidFill>
                  <a:schemeClr val="accent1">
                    <a:lumMod val="75000"/>
                  </a:schemeClr>
                </a:solidFill>
              </a:rPr>
              <a:t>     return;</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p=start;</a:t>
            </a:r>
          </a:p>
          <a:p>
            <a:pPr>
              <a:buNone/>
            </a:pPr>
            <a:r>
              <a:rPr lang="en-US" dirty="0" smtClean="0">
                <a:solidFill>
                  <a:schemeClr val="accent1">
                    <a:lumMod val="75000"/>
                  </a:schemeClr>
                </a:solidFill>
              </a:rPr>
              <a:t>q=p-&gt;link;    </a:t>
            </a:r>
          </a:p>
          <a:p>
            <a:pPr>
              <a:buNone/>
            </a:pPr>
            <a:r>
              <a:rPr lang="en-US" dirty="0" smtClean="0">
                <a:solidFill>
                  <a:schemeClr val="accent1">
                    <a:lumMod val="75000"/>
                  </a:schemeClr>
                </a:solidFill>
              </a:rPr>
              <a:t>p-&gt;link=NULL;</a:t>
            </a:r>
          </a:p>
          <a:p>
            <a:pPr>
              <a:buNone/>
            </a:pPr>
            <a:r>
              <a:rPr lang="en-US" dirty="0" smtClean="0">
                <a:solidFill>
                  <a:schemeClr val="accent1">
                    <a:lumMod val="75000"/>
                  </a:schemeClr>
                </a:solidFill>
              </a:rPr>
              <a:t>   while(q!=NULL)</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r=q-&gt;link;</a:t>
            </a:r>
          </a:p>
          <a:p>
            <a:pPr>
              <a:buNone/>
            </a:pPr>
            <a:r>
              <a:rPr lang="en-US" dirty="0" smtClean="0">
                <a:solidFill>
                  <a:schemeClr val="accent1">
                    <a:lumMod val="75000"/>
                  </a:schemeClr>
                </a:solidFill>
              </a:rPr>
              <a:t>    q-&gt;link=p;</a:t>
            </a:r>
          </a:p>
          <a:p>
            <a:pPr>
              <a:buNone/>
            </a:pPr>
            <a:r>
              <a:rPr lang="en-US" dirty="0" smtClean="0">
                <a:solidFill>
                  <a:schemeClr val="accent1">
                    <a:lumMod val="75000"/>
                  </a:schemeClr>
                </a:solidFill>
              </a:rPr>
              <a:t>    p=q;</a:t>
            </a:r>
          </a:p>
          <a:p>
            <a:pPr>
              <a:buNone/>
            </a:pPr>
            <a:r>
              <a:rPr lang="en-US" dirty="0" smtClean="0">
                <a:solidFill>
                  <a:schemeClr val="accent1">
                    <a:lumMod val="75000"/>
                  </a:schemeClr>
                </a:solidFill>
              </a:rPr>
              <a:t>    q=r;</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start=p;</a:t>
            </a:r>
          </a:p>
          <a:p>
            <a:pPr>
              <a:buNone/>
            </a:pPr>
            <a:r>
              <a:rPr lang="en-US" dirty="0" smtClean="0">
                <a:solidFill>
                  <a:schemeClr val="accent1">
                    <a:lumMod val="75000"/>
                  </a:schemeClr>
                </a:solidFill>
              </a:rPr>
              <a:t>   </a:t>
            </a:r>
            <a:r>
              <a:rPr lang="en-US" dirty="0" err="1" smtClean="0">
                <a:solidFill>
                  <a:schemeClr val="accent1">
                    <a:lumMod val="75000"/>
                  </a:schemeClr>
                </a:solidFill>
              </a:rPr>
              <a:t>cout</a:t>
            </a:r>
            <a:r>
              <a:rPr lang="en-US" dirty="0" smtClean="0">
                <a:solidFill>
                  <a:schemeClr val="accent1">
                    <a:lumMod val="75000"/>
                  </a:schemeClr>
                </a:solidFill>
              </a:rPr>
              <a:t>&lt;&lt;"\</a:t>
            </a:r>
            <a:r>
              <a:rPr lang="en-US" dirty="0" err="1" smtClean="0">
                <a:solidFill>
                  <a:schemeClr val="accent1">
                    <a:lumMod val="75000"/>
                  </a:schemeClr>
                </a:solidFill>
              </a:rPr>
              <a:t>nReversed</a:t>
            </a:r>
            <a:r>
              <a:rPr lang="en-US" dirty="0" smtClean="0">
                <a:solidFill>
                  <a:schemeClr val="accent1">
                    <a:lumMod val="75000"/>
                  </a:schemeClr>
                </a:solidFill>
              </a:rPr>
              <a:t> successfully";</a:t>
            </a:r>
          </a:p>
          <a:p>
            <a:pPr>
              <a:buNone/>
            </a:pPr>
            <a:r>
              <a:rPr lang="en-US" dirty="0" smtClean="0">
                <a:solidFill>
                  <a:schemeClr val="accent1">
                    <a:lumMod val="75000"/>
                  </a:schemeClr>
                </a:solidFill>
              </a:rPr>
              <a:t>}</a:t>
            </a:r>
            <a:endParaRPr lang="en-US"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52"/>
          <p:cNvGraphicFramePr>
            <a:graphicFrameLocks noGrp="1"/>
          </p:cNvGraphicFramePr>
          <p:nvPr/>
        </p:nvGraphicFramePr>
        <p:xfrm>
          <a:off x="381000" y="1371600"/>
          <a:ext cx="8496300" cy="5001137"/>
        </p:xfrm>
        <a:graphic>
          <a:graphicData uri="http://schemas.openxmlformats.org/drawingml/2006/table">
            <a:tbl>
              <a:tblPr/>
              <a:tblGrid>
                <a:gridCol w="1912938"/>
                <a:gridCol w="2997200"/>
                <a:gridCol w="3586162"/>
              </a:tblGrid>
              <a:tr h="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cs typeface="Times New Roman" pitchFamily="18" charset="0"/>
                        </a:rPr>
                        <a:t>Operation</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ID-Array Complexity</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Singly-linked list Complexity</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99"/>
                    </a:solidFill>
                  </a:tcPr>
                </a:tc>
              </a:tr>
              <a:tr h="3984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Insert at beginning</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O(n)</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O(1)</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040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Insert at end</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O(1)</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O(1) if the list has </a:t>
                      </a: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tail</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 reference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O(n) if the list has no </a:t>
                      </a:r>
                      <a:r>
                        <a:rPr kumimoji="0" lang="en-US" sz="1600" b="1" i="0" u="none" strike="noStrike" cap="none" normalizeH="0" baseline="0" smtClean="0">
                          <a:ln>
                            <a:noFill/>
                          </a:ln>
                          <a:solidFill>
                            <a:schemeClr val="tx1"/>
                          </a:solidFill>
                          <a:effectLst/>
                          <a:latin typeface="Times New Roman" pitchFamily="18" charset="0"/>
                          <a:cs typeface="Times New Roman" pitchFamily="18" charset="0"/>
                        </a:rPr>
                        <a:t>tail</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 reference</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84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Insert at middle</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O(n)</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O(n)</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Delete at beginning</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O(n)</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O(1)</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Delete at end</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O(1)</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O(n)</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19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Delete at middle</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   O(1) access followed by O(n) shift</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       O(n) search, followed by O(1) delete</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619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Search</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O(n)       linear search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O(log n)    Binary search</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O(n)</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2551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Indexing: What is the element at a given position  k?</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O(1)</a:t>
                      </a:r>
                      <a:endParaRPr kumimoji="0" lang="en-US" sz="1600" b="0" i="0" u="none" strike="noStrike" cap="none" normalizeH="0" baseline="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Times New Roman" pitchFamily="18" charset="0"/>
                          <a:cs typeface="Times New Roman" pitchFamily="18" charset="0"/>
                        </a:rPr>
                        <a:t>O(n)</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txBody>
                  <a:tcPr marL="90000" marR="90000" marT="46800" marB="468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 name="TextBox 4"/>
          <p:cNvSpPr txBox="1"/>
          <p:nvPr/>
        </p:nvSpPr>
        <p:spPr>
          <a:xfrm>
            <a:off x="1219200" y="228600"/>
            <a:ext cx="6172200" cy="830997"/>
          </a:xfrm>
          <a:prstGeom prst="rect">
            <a:avLst/>
          </a:prstGeom>
          <a:noFill/>
        </p:spPr>
        <p:txBody>
          <a:bodyPr wrap="square" rtlCol="0">
            <a:spAutoFit/>
          </a:bodyPr>
          <a:lstStyle/>
          <a:p>
            <a:r>
              <a:rPr lang="en-US" sz="2400" dirty="0" smtClean="0">
                <a:solidFill>
                  <a:srgbClr val="FF0000"/>
                </a:solidFill>
              </a:rPr>
              <a:t>COMPLEXITY  OF  VARIOUS  OPERATIONS IN    ARRAYS  AND  SLL</a:t>
            </a:r>
            <a:endParaRPr lang="en-US" sz="2400" dirty="0">
              <a:solidFill>
                <a:srgbClr val="FF0000"/>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0"/>
            <a:ext cx="6781800" cy="685800"/>
          </a:xfrm>
        </p:spPr>
        <p:txBody>
          <a:bodyPr>
            <a:normAutofit fontScale="90000"/>
          </a:bodyPr>
          <a:lstStyle/>
          <a:p>
            <a:r>
              <a:rPr lang="en-US" dirty="0" smtClean="0"/>
              <a:t>Doubly  Linked  List</a:t>
            </a:r>
            <a:endParaRPr lang="en-US" dirty="0"/>
          </a:p>
        </p:txBody>
      </p:sp>
      <p:sp>
        <p:nvSpPr>
          <p:cNvPr id="7" name="Content Placeholder 2"/>
          <p:cNvSpPr>
            <a:spLocks noGrp="1"/>
          </p:cNvSpPr>
          <p:nvPr>
            <p:ph idx="1"/>
          </p:nvPr>
        </p:nvSpPr>
        <p:spPr>
          <a:xfrm>
            <a:off x="228600" y="990600"/>
            <a:ext cx="8458200" cy="5638800"/>
          </a:xfrm>
        </p:spPr>
        <p:txBody>
          <a:bodyPr>
            <a:noAutofit/>
          </a:bodyPr>
          <a:lstStyle/>
          <a:p>
            <a:pPr marL="1051560" indent="-914400">
              <a:buNone/>
            </a:pPr>
            <a:endParaRPr lang="en-US" sz="2000" dirty="0" smtClean="0"/>
          </a:p>
          <a:p>
            <a:pPr marL="1051560" indent="-914400">
              <a:buNone/>
            </a:pPr>
            <a:r>
              <a:rPr lang="en-US" sz="2000" b="1" dirty="0" smtClean="0">
                <a:solidFill>
                  <a:schemeClr val="accent1">
                    <a:lumMod val="75000"/>
                  </a:schemeClr>
                </a:solidFill>
              </a:rPr>
              <a:t>1.    Doubly linked list</a:t>
            </a:r>
            <a:r>
              <a:rPr lang="en-US" sz="2000" dirty="0" smtClean="0">
                <a:solidFill>
                  <a:schemeClr val="accent1">
                    <a:lumMod val="75000"/>
                  </a:schemeClr>
                </a:solidFill>
              </a:rPr>
              <a:t> is a linked data structure that consists of a set of sequentially linked records called nodes.</a:t>
            </a:r>
          </a:p>
          <a:p>
            <a:pPr marL="1051560" indent="-914400">
              <a:buNone/>
            </a:pPr>
            <a:endParaRPr lang="en-US" sz="2000" dirty="0" smtClean="0">
              <a:solidFill>
                <a:schemeClr val="accent1">
                  <a:lumMod val="75000"/>
                </a:schemeClr>
              </a:solidFill>
            </a:endParaRPr>
          </a:p>
          <a:p>
            <a:pPr marL="651510" indent="-514350">
              <a:buNone/>
            </a:pPr>
            <a:r>
              <a:rPr lang="en-US" sz="2000" dirty="0" smtClean="0">
                <a:solidFill>
                  <a:schemeClr val="accent1">
                    <a:lumMod val="75000"/>
                  </a:schemeClr>
                </a:solidFill>
              </a:rPr>
              <a:t>2 .        Each node contains  three fields ::</a:t>
            </a:r>
          </a:p>
          <a:p>
            <a:pPr marL="651510" indent="-514350">
              <a:buNone/>
            </a:pPr>
            <a:r>
              <a:rPr lang="en-US" sz="2000" dirty="0" smtClean="0">
                <a:solidFill>
                  <a:schemeClr val="accent1">
                    <a:lumMod val="75000"/>
                  </a:schemeClr>
                </a:solidFill>
              </a:rPr>
              <a:t>              -: one is data part which contain  data  only.             </a:t>
            </a:r>
          </a:p>
          <a:p>
            <a:pPr marL="651510" indent="-514350">
              <a:buNone/>
            </a:pPr>
            <a:r>
              <a:rPr lang="en-US" sz="2000" dirty="0" smtClean="0">
                <a:solidFill>
                  <a:schemeClr val="accent1">
                    <a:lumMod val="75000"/>
                  </a:schemeClr>
                </a:solidFill>
              </a:rPr>
              <a:t>              -:two other field is links part  that are  point </a:t>
            </a:r>
          </a:p>
          <a:p>
            <a:pPr marL="651510" indent="-514350">
              <a:buNone/>
            </a:pPr>
            <a:r>
              <a:rPr lang="en-US" sz="2000" dirty="0" smtClean="0">
                <a:solidFill>
                  <a:schemeClr val="accent1">
                    <a:lumMod val="75000"/>
                  </a:schemeClr>
                </a:solidFill>
              </a:rPr>
              <a:t>                 or references to the previous or to the next </a:t>
            </a:r>
          </a:p>
          <a:p>
            <a:pPr marL="651510" indent="-514350">
              <a:buNone/>
            </a:pPr>
            <a:r>
              <a:rPr lang="en-US" sz="2000" dirty="0" smtClean="0">
                <a:solidFill>
                  <a:schemeClr val="accent1">
                    <a:lumMod val="75000"/>
                  </a:schemeClr>
                </a:solidFill>
              </a:rPr>
              <a:t>                 node in the sequence of nodes.  </a:t>
            </a:r>
          </a:p>
          <a:p>
            <a:pPr marL="651510" indent="-514350">
              <a:buNone/>
            </a:pPr>
            <a:endParaRPr lang="en-US" sz="2000" dirty="0" smtClean="0">
              <a:solidFill>
                <a:schemeClr val="accent1">
                  <a:lumMod val="75000"/>
                </a:schemeClr>
              </a:solidFill>
            </a:endParaRPr>
          </a:p>
          <a:p>
            <a:pPr marL="651510" indent="-514350">
              <a:buNone/>
            </a:pPr>
            <a:r>
              <a:rPr lang="en-US" sz="2000" dirty="0" smtClean="0">
                <a:solidFill>
                  <a:schemeClr val="accent1">
                    <a:lumMod val="75000"/>
                  </a:schemeClr>
                </a:solidFill>
              </a:rPr>
              <a:t>3.         The beginning and ending nodes' </a:t>
            </a:r>
            <a:r>
              <a:rPr lang="en-US" sz="2000" b="1" dirty="0" smtClean="0">
                <a:solidFill>
                  <a:schemeClr val="accent1">
                    <a:lumMod val="75000"/>
                  </a:schemeClr>
                </a:solidFill>
              </a:rPr>
              <a:t>previous</a:t>
            </a:r>
            <a:r>
              <a:rPr lang="en-US" sz="2000" dirty="0" smtClean="0">
                <a:solidFill>
                  <a:schemeClr val="accent1">
                    <a:lumMod val="75000"/>
                  </a:schemeClr>
                </a:solidFill>
              </a:rPr>
              <a:t> and  </a:t>
            </a:r>
            <a:r>
              <a:rPr lang="en-US" sz="2000" b="1" dirty="0" smtClean="0">
                <a:solidFill>
                  <a:schemeClr val="accent1">
                    <a:lumMod val="75000"/>
                  </a:schemeClr>
                </a:solidFill>
              </a:rPr>
              <a:t>next</a:t>
            </a:r>
            <a:endParaRPr lang="en-US" sz="2000" dirty="0" smtClean="0">
              <a:solidFill>
                <a:schemeClr val="accent1">
                  <a:lumMod val="75000"/>
                </a:schemeClr>
              </a:solidFill>
            </a:endParaRPr>
          </a:p>
          <a:p>
            <a:pPr marL="651510" indent="-514350">
              <a:buNone/>
            </a:pPr>
            <a:r>
              <a:rPr lang="en-US" sz="2000" dirty="0" smtClean="0">
                <a:solidFill>
                  <a:schemeClr val="accent1">
                    <a:lumMod val="75000"/>
                  </a:schemeClr>
                </a:solidFill>
              </a:rPr>
              <a:t>             links, respectively, point to some kind of terminator,</a:t>
            </a:r>
          </a:p>
          <a:p>
            <a:pPr marL="651510" indent="-514350">
              <a:buNone/>
            </a:pPr>
            <a:r>
              <a:rPr lang="en-US" sz="2000" dirty="0" smtClean="0">
                <a:solidFill>
                  <a:schemeClr val="accent1">
                    <a:lumMod val="75000"/>
                  </a:schemeClr>
                </a:solidFill>
              </a:rPr>
              <a:t>             typically a sentinel node or null to facilitate traversal </a:t>
            </a:r>
          </a:p>
          <a:p>
            <a:pPr marL="651510" indent="-514350">
              <a:buNone/>
            </a:pPr>
            <a:r>
              <a:rPr lang="en-US" sz="2000" dirty="0" smtClean="0">
                <a:solidFill>
                  <a:schemeClr val="accent1">
                    <a:lumMod val="75000"/>
                  </a:schemeClr>
                </a:solidFill>
              </a:rPr>
              <a:t>              of the list.  </a:t>
            </a:r>
          </a:p>
          <a:p>
            <a:pPr marL="651510" indent="-514350">
              <a:buNone/>
            </a:pPr>
            <a:r>
              <a:rPr lang="en-US" sz="2400" dirty="0" smtClean="0"/>
              <a:t>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endParaRPr lang="en-US" dirty="0" smtClean="0"/>
          </a:p>
          <a:p>
            <a:pPr>
              <a:buNone/>
            </a:pPr>
            <a:r>
              <a:rPr lang="en-US" dirty="0" smtClean="0"/>
              <a:t>                                      </a:t>
            </a:r>
            <a:r>
              <a:rPr lang="en-US" dirty="0" smtClean="0">
                <a:solidFill>
                  <a:schemeClr val="accent1">
                    <a:lumMod val="75000"/>
                  </a:schemeClr>
                </a:solidFill>
              </a:rPr>
              <a:t>NODE</a:t>
            </a:r>
          </a:p>
          <a:p>
            <a:pPr>
              <a:buNone/>
            </a:pPr>
            <a:endParaRPr lang="en-US" dirty="0" smtClean="0"/>
          </a:p>
          <a:p>
            <a:pPr>
              <a:buNone/>
            </a:pPr>
            <a:r>
              <a:rPr lang="en-US" dirty="0" smtClean="0"/>
              <a:t>                                                                            </a:t>
            </a:r>
            <a:br>
              <a:rPr lang="en-US" dirty="0" smtClean="0"/>
            </a:br>
            <a:endParaRPr lang="en-US" dirty="0" smtClean="0"/>
          </a:p>
          <a:p>
            <a:pPr>
              <a:buNone/>
            </a:pPr>
            <a:r>
              <a:rPr lang="en-US" dirty="0" smtClean="0"/>
              <a:t>            A                               B                                          C</a:t>
            </a:r>
          </a:p>
          <a:p>
            <a:pPr>
              <a:buNone/>
            </a:pPr>
            <a:r>
              <a:rPr lang="en-US" dirty="0" smtClean="0"/>
              <a:t>   </a:t>
            </a:r>
          </a:p>
          <a:p>
            <a:pPr>
              <a:buNone/>
            </a:pPr>
            <a:endParaRPr lang="en-US" dirty="0" smtClean="0"/>
          </a:p>
          <a:p>
            <a:pPr>
              <a:buNone/>
            </a:pPr>
            <a:endParaRPr lang="en-US" dirty="0" smtClean="0"/>
          </a:p>
          <a:p>
            <a:pPr>
              <a:buNone/>
            </a:pPr>
            <a:endParaRPr lang="en-US" dirty="0" smtClean="0"/>
          </a:p>
          <a:p>
            <a:pPr>
              <a:buNone/>
            </a:pPr>
            <a:r>
              <a:rPr lang="en-US" dirty="0" smtClean="0">
                <a:solidFill>
                  <a:schemeClr val="accent1">
                    <a:lumMod val="75000"/>
                  </a:schemeClr>
                </a:solidFill>
              </a:rPr>
              <a:t>A doubly linked list contain three fields: an integer value, the link to the next node, and the link to the previous node</a:t>
            </a:r>
            <a:r>
              <a:rPr lang="en-US" dirty="0" smtClean="0"/>
              <a:t>.</a:t>
            </a:r>
          </a:p>
        </p:txBody>
      </p:sp>
      <p:graphicFrame>
        <p:nvGraphicFramePr>
          <p:cNvPr id="5" name="Table 4"/>
          <p:cNvGraphicFramePr>
            <a:graphicFrameLocks noGrp="1"/>
          </p:cNvGraphicFramePr>
          <p:nvPr/>
        </p:nvGraphicFramePr>
        <p:xfrm>
          <a:off x="1676400" y="1066800"/>
          <a:ext cx="4495800" cy="370840"/>
        </p:xfrm>
        <a:graphic>
          <a:graphicData uri="http://schemas.openxmlformats.org/drawingml/2006/table">
            <a:tbl>
              <a:tblPr firstRow="1" bandRow="1">
                <a:tableStyleId>{5C22544A-7EE6-4342-B048-85BDC9FD1C3A}</a:tableStyleId>
              </a:tblPr>
              <a:tblGrid>
                <a:gridCol w="1498600"/>
                <a:gridCol w="1498600"/>
                <a:gridCol w="1498600"/>
              </a:tblGrid>
              <a:tr h="370840">
                <a:tc>
                  <a:txBody>
                    <a:bodyPr/>
                    <a:lstStyle/>
                    <a:p>
                      <a:r>
                        <a:rPr lang="en-US" dirty="0" smtClean="0"/>
                        <a:t>   previous</a:t>
                      </a:r>
                      <a:endParaRPr lang="en-US" dirty="0"/>
                    </a:p>
                  </a:txBody>
                  <a:tcPr/>
                </a:tc>
                <a:tc>
                  <a:txBody>
                    <a:bodyPr/>
                    <a:lstStyle/>
                    <a:p>
                      <a:r>
                        <a:rPr lang="en-US" dirty="0" smtClean="0"/>
                        <a:t>  data</a:t>
                      </a:r>
                      <a:endParaRPr lang="en-US" dirty="0"/>
                    </a:p>
                  </a:txBody>
                  <a:tcPr/>
                </a:tc>
                <a:tc>
                  <a:txBody>
                    <a:bodyPr/>
                    <a:lstStyle/>
                    <a:p>
                      <a:r>
                        <a:rPr lang="en-US" dirty="0" smtClean="0"/>
                        <a:t>     next</a:t>
                      </a:r>
                      <a:endParaRPr lang="en-US" dirty="0"/>
                    </a:p>
                  </a:txBody>
                  <a:tcPr/>
                </a:tc>
              </a:tr>
            </a:tbl>
          </a:graphicData>
        </a:graphic>
      </p:graphicFrame>
      <p:graphicFrame>
        <p:nvGraphicFramePr>
          <p:cNvPr id="6" name="Table 5"/>
          <p:cNvGraphicFramePr>
            <a:graphicFrameLocks noGrp="1"/>
          </p:cNvGraphicFramePr>
          <p:nvPr/>
        </p:nvGraphicFramePr>
        <p:xfrm>
          <a:off x="0" y="2895600"/>
          <a:ext cx="2743200" cy="365760"/>
        </p:xfrm>
        <a:graphic>
          <a:graphicData uri="http://schemas.openxmlformats.org/drawingml/2006/table">
            <a:tbl>
              <a:tblPr firstRow="1" bandRow="1">
                <a:tableStyleId>{5C22544A-7EE6-4342-B048-85BDC9FD1C3A}</a:tableStyleId>
              </a:tblPr>
              <a:tblGrid>
                <a:gridCol w="914400"/>
                <a:gridCol w="914400"/>
                <a:gridCol w="914400"/>
              </a:tblGrid>
              <a:tr h="142240">
                <a:tc>
                  <a:txBody>
                    <a:bodyPr/>
                    <a:lstStyle/>
                    <a:p>
                      <a:r>
                        <a:rPr lang="en-US" dirty="0" smtClean="0"/>
                        <a:t> NULL</a:t>
                      </a:r>
                      <a:endParaRPr lang="en-US" dirty="0"/>
                    </a:p>
                  </a:txBody>
                  <a:tcPr/>
                </a:tc>
                <a:tc>
                  <a:txBody>
                    <a:bodyPr/>
                    <a:lstStyle/>
                    <a:p>
                      <a:r>
                        <a:rPr lang="en-US" dirty="0" smtClean="0"/>
                        <a:t>   11</a:t>
                      </a:r>
                      <a:endParaRPr lang="en-US" dirty="0"/>
                    </a:p>
                  </a:txBody>
                  <a:tcPr/>
                </a:tc>
                <a:tc>
                  <a:txBody>
                    <a:bodyPr/>
                    <a:lstStyle/>
                    <a:p>
                      <a:r>
                        <a:rPr lang="en-US" dirty="0" smtClean="0"/>
                        <a:t>  786</a:t>
                      </a:r>
                      <a:endParaRPr lang="en-US" dirty="0"/>
                    </a:p>
                  </a:txBody>
                  <a:tcPr/>
                </a:tc>
              </a:tr>
            </a:tbl>
          </a:graphicData>
        </a:graphic>
      </p:graphicFrame>
      <p:cxnSp>
        <p:nvCxnSpPr>
          <p:cNvPr id="8" name="Elbow Connector 7"/>
          <p:cNvCxnSpPr/>
          <p:nvPr/>
        </p:nvCxnSpPr>
        <p:spPr>
          <a:xfrm>
            <a:off x="5562600" y="3200400"/>
            <a:ext cx="762000" cy="5334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124200" y="3505200"/>
            <a:ext cx="9144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786</a:t>
            </a:r>
            <a:endParaRPr lang="en-US" dirty="0"/>
          </a:p>
        </p:txBody>
      </p:sp>
      <p:sp>
        <p:nvSpPr>
          <p:cNvPr id="19" name="Oval 18"/>
          <p:cNvSpPr/>
          <p:nvPr/>
        </p:nvSpPr>
        <p:spPr>
          <a:xfrm>
            <a:off x="0" y="3429000"/>
            <a:ext cx="9144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200</a:t>
            </a:r>
            <a:endParaRPr lang="en-US" dirty="0"/>
          </a:p>
        </p:txBody>
      </p:sp>
      <p:sp>
        <p:nvSpPr>
          <p:cNvPr id="21" name="Oval 20"/>
          <p:cNvSpPr/>
          <p:nvPr/>
        </p:nvSpPr>
        <p:spPr>
          <a:xfrm>
            <a:off x="6324600" y="3505200"/>
            <a:ext cx="9144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400</a:t>
            </a:r>
            <a:endParaRPr lang="en-US" dirty="0"/>
          </a:p>
        </p:txBody>
      </p:sp>
      <p:graphicFrame>
        <p:nvGraphicFramePr>
          <p:cNvPr id="22" name="Table 21"/>
          <p:cNvGraphicFramePr>
            <a:graphicFrameLocks noGrp="1"/>
          </p:cNvGraphicFramePr>
          <p:nvPr/>
        </p:nvGraphicFramePr>
        <p:xfrm>
          <a:off x="3200400" y="2971800"/>
          <a:ext cx="2438400" cy="365760"/>
        </p:xfrm>
        <a:graphic>
          <a:graphicData uri="http://schemas.openxmlformats.org/drawingml/2006/table">
            <a:tbl>
              <a:tblPr firstRow="1" bandRow="1">
                <a:tableStyleId>{5C22544A-7EE6-4342-B048-85BDC9FD1C3A}</a:tableStyleId>
              </a:tblPr>
              <a:tblGrid>
                <a:gridCol w="812800"/>
                <a:gridCol w="812800"/>
                <a:gridCol w="812800"/>
              </a:tblGrid>
              <a:tr h="228600">
                <a:tc>
                  <a:txBody>
                    <a:bodyPr/>
                    <a:lstStyle/>
                    <a:p>
                      <a:r>
                        <a:rPr lang="en-US" dirty="0" smtClean="0"/>
                        <a:t>  200</a:t>
                      </a:r>
                      <a:endParaRPr lang="en-US" dirty="0"/>
                    </a:p>
                  </a:txBody>
                  <a:tcPr/>
                </a:tc>
                <a:tc>
                  <a:txBody>
                    <a:bodyPr/>
                    <a:lstStyle/>
                    <a:p>
                      <a:r>
                        <a:rPr lang="en-US" dirty="0" smtClean="0"/>
                        <a:t>656</a:t>
                      </a:r>
                      <a:endParaRPr lang="en-US" dirty="0"/>
                    </a:p>
                  </a:txBody>
                  <a:tcPr/>
                </a:tc>
                <a:tc>
                  <a:txBody>
                    <a:bodyPr/>
                    <a:lstStyle/>
                    <a:p>
                      <a:r>
                        <a:rPr lang="en-US" dirty="0" smtClean="0"/>
                        <a:t>  400</a:t>
                      </a:r>
                      <a:endParaRPr lang="en-US" dirty="0"/>
                    </a:p>
                  </a:txBody>
                  <a:tcPr/>
                </a:tc>
              </a:tr>
            </a:tbl>
          </a:graphicData>
        </a:graphic>
      </p:graphicFrame>
      <p:graphicFrame>
        <p:nvGraphicFramePr>
          <p:cNvPr id="23" name="Table 22"/>
          <p:cNvGraphicFramePr>
            <a:graphicFrameLocks noGrp="1"/>
          </p:cNvGraphicFramePr>
          <p:nvPr/>
        </p:nvGraphicFramePr>
        <p:xfrm>
          <a:off x="6400800" y="2971800"/>
          <a:ext cx="2743200" cy="365760"/>
        </p:xfrm>
        <a:graphic>
          <a:graphicData uri="http://schemas.openxmlformats.org/drawingml/2006/table">
            <a:tbl>
              <a:tblPr firstRow="1" bandRow="1">
                <a:tableStyleId>{5C22544A-7EE6-4342-B048-85BDC9FD1C3A}</a:tableStyleId>
              </a:tblPr>
              <a:tblGrid>
                <a:gridCol w="762000"/>
                <a:gridCol w="990600"/>
                <a:gridCol w="990600"/>
              </a:tblGrid>
              <a:tr h="304800">
                <a:tc>
                  <a:txBody>
                    <a:bodyPr/>
                    <a:lstStyle/>
                    <a:p>
                      <a:r>
                        <a:rPr lang="en-US" dirty="0" smtClean="0"/>
                        <a:t>  786</a:t>
                      </a:r>
                      <a:endParaRPr lang="en-US" dirty="0"/>
                    </a:p>
                  </a:txBody>
                  <a:tcPr/>
                </a:tc>
                <a:tc>
                  <a:txBody>
                    <a:bodyPr/>
                    <a:lstStyle/>
                    <a:p>
                      <a:r>
                        <a:rPr lang="en-US" dirty="0" smtClean="0"/>
                        <a:t>   777</a:t>
                      </a:r>
                      <a:endParaRPr lang="en-US" dirty="0"/>
                    </a:p>
                  </a:txBody>
                  <a:tcPr/>
                </a:tc>
                <a:tc>
                  <a:txBody>
                    <a:bodyPr/>
                    <a:lstStyle/>
                    <a:p>
                      <a:r>
                        <a:rPr lang="en-US" dirty="0" smtClean="0"/>
                        <a:t>  NULL</a:t>
                      </a:r>
                      <a:endParaRPr lang="en-US" dirty="0"/>
                    </a:p>
                  </a:txBody>
                  <a:tcPr/>
                </a:tc>
              </a:tr>
            </a:tbl>
          </a:graphicData>
        </a:graphic>
      </p:graphicFrame>
      <p:cxnSp>
        <p:nvCxnSpPr>
          <p:cNvPr id="24" name="Elbow Connector 23"/>
          <p:cNvCxnSpPr/>
          <p:nvPr/>
        </p:nvCxnSpPr>
        <p:spPr>
          <a:xfrm rot="16200000" flipH="1">
            <a:off x="2705100" y="3162300"/>
            <a:ext cx="533400" cy="4572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fontScale="90000"/>
          </a:bodyPr>
          <a:lstStyle/>
          <a:p>
            <a:r>
              <a:rPr lang="en-US" dirty="0" smtClean="0"/>
              <a:t>DLL’s compared to SLL’s</a:t>
            </a:r>
            <a:endParaRPr lang="en-US" dirty="0"/>
          </a:p>
        </p:txBody>
      </p:sp>
      <p:sp>
        <p:nvSpPr>
          <p:cNvPr id="5" name="Rectangle 3"/>
          <p:cNvSpPr txBox="1">
            <a:spLocks noChangeArrowheads="1"/>
          </p:cNvSpPr>
          <p:nvPr/>
        </p:nvSpPr>
        <p:spPr>
          <a:xfrm>
            <a:off x="381000" y="1828800"/>
            <a:ext cx="4203700" cy="4760913"/>
          </a:xfrm>
          <a:prstGeom prst="rect">
            <a:avLst/>
          </a:prstGeom>
        </p:spPr>
        <p:txBody>
          <a:bodyPr vert="horz">
            <a:norm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smtClean="0">
                <a:ln>
                  <a:noFill/>
                </a:ln>
                <a:solidFill>
                  <a:schemeClr val="accent5">
                    <a:lumMod val="75000"/>
                  </a:schemeClr>
                </a:solidFill>
                <a:effectLst/>
                <a:uLnTx/>
                <a:uFillTx/>
                <a:latin typeface="+mn-lt"/>
                <a:ea typeface="+mn-ea"/>
                <a:cs typeface="+mn-cs"/>
              </a:rPr>
              <a:t>Advantages:</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r>
              <a:rPr kumimoji="0" lang="en-US" sz="2400" b="0" i="0" u="none" strike="noStrike" kern="1200" cap="none" spc="0" normalizeH="0" baseline="0" noProof="0" dirty="0" smtClean="0">
                <a:ln>
                  <a:noFill/>
                </a:ln>
                <a:solidFill>
                  <a:schemeClr val="accent1">
                    <a:lumMod val="75000"/>
                  </a:schemeClr>
                </a:solidFill>
                <a:effectLst/>
                <a:uLnTx/>
                <a:uFillTx/>
                <a:latin typeface="+mn-lt"/>
                <a:ea typeface="+mn-ea"/>
                <a:cs typeface="+mn-cs"/>
              </a:rPr>
              <a:t>Can be traversed in either direction (may be essential for some programs)</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r>
              <a:rPr kumimoji="0" lang="en-US" sz="2400" b="0" i="0" u="none" strike="noStrike" kern="1200" cap="none" spc="0" normalizeH="0" baseline="0" noProof="0" dirty="0" smtClean="0">
                <a:ln>
                  <a:noFill/>
                </a:ln>
                <a:solidFill>
                  <a:schemeClr val="accent1">
                    <a:lumMod val="75000"/>
                  </a:schemeClr>
                </a:solidFill>
                <a:effectLst/>
                <a:uLnTx/>
                <a:uFillTx/>
                <a:latin typeface="+mn-lt"/>
                <a:ea typeface="+mn-ea"/>
                <a:cs typeface="+mn-cs"/>
              </a:rPr>
              <a:t>Some operations, such as deletion and inserting before a node, become easier</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Rectangle 4"/>
          <p:cNvSpPr txBox="1">
            <a:spLocks noChangeArrowheads="1"/>
          </p:cNvSpPr>
          <p:nvPr/>
        </p:nvSpPr>
        <p:spPr>
          <a:xfrm>
            <a:off x="4724400" y="1828800"/>
            <a:ext cx="4203700" cy="4760913"/>
          </a:xfrm>
          <a:prstGeom prst="rect">
            <a:avLst/>
          </a:prstGeom>
        </p:spPr>
        <p:txBody>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Char char=""/>
              <a:tabLst/>
              <a:defRPr/>
            </a:pPr>
            <a:r>
              <a:rPr kumimoji="0" lang="en-US" sz="2600" b="0" i="0" u="none" strike="noStrike" kern="1200" cap="none" spc="0" normalizeH="0" baseline="0" noProof="0" dirty="0" smtClean="0">
                <a:ln>
                  <a:noFill/>
                </a:ln>
                <a:solidFill>
                  <a:srgbClr val="FF0000"/>
                </a:solidFill>
                <a:effectLst/>
                <a:uLnTx/>
                <a:uFillTx/>
                <a:latin typeface="+mn-lt"/>
                <a:ea typeface="+mn-ea"/>
                <a:cs typeface="+mn-cs"/>
              </a:rPr>
              <a:t>Disadvantages:</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r>
              <a:rPr kumimoji="0" lang="en-US" sz="2400" b="0" i="0" u="none" strike="noStrike" kern="1200" cap="none" spc="0" normalizeH="0" baseline="0" noProof="0" dirty="0" smtClean="0">
                <a:ln>
                  <a:noFill/>
                </a:ln>
                <a:solidFill>
                  <a:schemeClr val="accent1">
                    <a:lumMod val="75000"/>
                  </a:schemeClr>
                </a:solidFill>
                <a:effectLst/>
                <a:uLnTx/>
                <a:uFillTx/>
                <a:latin typeface="+mn-lt"/>
                <a:ea typeface="+mn-ea"/>
                <a:cs typeface="+mn-cs"/>
              </a:rPr>
              <a:t>Requires more space</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r>
              <a:rPr kumimoji="0" lang="en-US" sz="2400" b="0" i="0" u="none" strike="noStrike" kern="1200" cap="none" spc="0" normalizeH="0" baseline="0" noProof="0" dirty="0" smtClean="0">
                <a:ln>
                  <a:noFill/>
                </a:ln>
                <a:solidFill>
                  <a:schemeClr val="accent1">
                    <a:lumMod val="75000"/>
                  </a:schemeClr>
                </a:solidFill>
                <a:effectLst/>
                <a:uLnTx/>
                <a:uFillTx/>
                <a:latin typeface="+mn-lt"/>
                <a:ea typeface="+mn-ea"/>
                <a:cs typeface="+mn-cs"/>
              </a:rPr>
              <a:t>List manipulations are slower (because more links must be changed)</a:t>
            </a:r>
          </a:p>
          <a:p>
            <a:pPr marL="640080" marR="0" lvl="1" indent="-246888" algn="l" defTabSz="914400" rtl="0" eaLnBrk="1" fontAlgn="auto" latinLnBrk="0" hangingPunct="1">
              <a:lnSpc>
                <a:spcPct val="100000"/>
              </a:lnSpc>
              <a:spcBef>
                <a:spcPct val="20000"/>
              </a:spcBef>
              <a:spcAft>
                <a:spcPts val="0"/>
              </a:spcAft>
              <a:buClr>
                <a:schemeClr val="accent1"/>
              </a:buClr>
              <a:buSzPct val="85000"/>
              <a:buFont typeface="Wingdings 2"/>
              <a:buChar char=""/>
              <a:tabLst/>
              <a:defRPr/>
            </a:pPr>
            <a:r>
              <a:rPr kumimoji="0" lang="en-US" sz="2400" b="0" i="0" u="none" strike="noStrike" kern="1200" cap="none" spc="0" normalizeH="0" baseline="0" noProof="0" dirty="0" smtClean="0">
                <a:ln>
                  <a:noFill/>
                </a:ln>
                <a:solidFill>
                  <a:schemeClr val="accent1">
                    <a:lumMod val="75000"/>
                  </a:schemeClr>
                </a:solidFill>
                <a:effectLst/>
                <a:uLnTx/>
                <a:uFillTx/>
                <a:latin typeface="+mn-lt"/>
                <a:ea typeface="+mn-ea"/>
                <a:cs typeface="+mn-cs"/>
              </a:rPr>
              <a:t>Greater chance of having bugs (because more links must be manipulated)</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8229600" cy="896112"/>
          </a:xfrm>
        </p:spPr>
        <p:txBody>
          <a:bodyPr/>
          <a:lstStyle/>
          <a:p>
            <a:r>
              <a:rPr lang="en-US" dirty="0" smtClean="0"/>
              <a:t>Structure of DLL</a:t>
            </a:r>
            <a:endParaRPr lang="en-US" dirty="0"/>
          </a:p>
        </p:txBody>
      </p:sp>
      <p:sp>
        <p:nvSpPr>
          <p:cNvPr id="3" name="Content Placeholder 2"/>
          <p:cNvSpPr>
            <a:spLocks noGrp="1"/>
          </p:cNvSpPr>
          <p:nvPr>
            <p:ph idx="1"/>
          </p:nvPr>
        </p:nvSpPr>
        <p:spPr>
          <a:xfrm>
            <a:off x="304800" y="1905000"/>
            <a:ext cx="8229600" cy="2590800"/>
          </a:xfrm>
        </p:spPr>
        <p:txBody>
          <a:bodyPr>
            <a:normAutofit fontScale="92500" lnSpcReduction="10000"/>
          </a:bodyPr>
          <a:lstStyle/>
          <a:p>
            <a:pPr>
              <a:buNone/>
            </a:pPr>
            <a:r>
              <a:rPr lang="en-US" dirty="0" smtClean="0">
                <a:solidFill>
                  <a:schemeClr val="accent1">
                    <a:lumMod val="75000"/>
                  </a:schemeClr>
                </a:solidFill>
              </a:rPr>
              <a:t>  </a:t>
            </a:r>
            <a:r>
              <a:rPr lang="en-US" dirty="0" err="1" smtClean="0">
                <a:solidFill>
                  <a:schemeClr val="accent1">
                    <a:lumMod val="75000"/>
                  </a:schemeClr>
                </a:solidFill>
              </a:rPr>
              <a:t>struct</a:t>
            </a:r>
            <a:r>
              <a:rPr lang="en-US" dirty="0" smtClean="0">
                <a:solidFill>
                  <a:schemeClr val="accent1">
                    <a:lumMod val="75000"/>
                  </a:schemeClr>
                </a:solidFill>
              </a:rPr>
              <a:t> node</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a:t>
            </a:r>
            <a:r>
              <a:rPr lang="en-US" dirty="0" err="1" smtClean="0">
                <a:solidFill>
                  <a:schemeClr val="accent1">
                    <a:lumMod val="75000"/>
                  </a:schemeClr>
                </a:solidFill>
              </a:rPr>
              <a:t>int</a:t>
            </a:r>
            <a:r>
              <a:rPr lang="en-US" dirty="0" smtClean="0">
                <a:solidFill>
                  <a:schemeClr val="accent1">
                    <a:lumMod val="75000"/>
                  </a:schemeClr>
                </a:solidFill>
              </a:rPr>
              <a:t> data;</a:t>
            </a:r>
          </a:p>
          <a:p>
            <a:pPr>
              <a:buNone/>
            </a:pPr>
            <a:r>
              <a:rPr lang="en-US" dirty="0" smtClean="0">
                <a:solidFill>
                  <a:schemeClr val="accent1">
                    <a:lumMod val="75000"/>
                  </a:schemeClr>
                </a:solidFill>
              </a:rPr>
              <a:t>     node*next;</a:t>
            </a:r>
          </a:p>
          <a:p>
            <a:pPr>
              <a:buNone/>
            </a:pPr>
            <a:r>
              <a:rPr lang="en-US" dirty="0" smtClean="0">
                <a:solidFill>
                  <a:schemeClr val="accent1">
                    <a:lumMod val="75000"/>
                  </a:schemeClr>
                </a:solidFill>
              </a:rPr>
              <a:t>     node*previous;   </a:t>
            </a:r>
            <a:r>
              <a:rPr lang="en-US" dirty="0" smtClean="0">
                <a:solidFill>
                  <a:srgbClr val="FF0000"/>
                </a:solidFill>
              </a:rPr>
              <a:t>//holds the address of previous node</a:t>
            </a:r>
            <a:r>
              <a:rPr lang="en-US" dirty="0" smtClean="0">
                <a:solidFill>
                  <a:schemeClr val="accent1">
                    <a:lumMod val="75000"/>
                  </a:schemeClr>
                </a:solidFill>
              </a:rPr>
              <a:t>   </a:t>
            </a:r>
          </a:p>
          <a:p>
            <a:pPr>
              <a:buNone/>
            </a:pPr>
            <a:r>
              <a:rPr lang="en-US" dirty="0" smtClean="0">
                <a:solidFill>
                  <a:schemeClr val="accent1">
                    <a:lumMod val="75000"/>
                  </a:schemeClr>
                </a:solidFill>
              </a:rPr>
              <a:t>  };</a:t>
            </a:r>
          </a:p>
          <a:p>
            <a:pPr>
              <a:buNone/>
            </a:pPr>
            <a:endParaRPr lang="en-US" dirty="0">
              <a:solidFill>
                <a:schemeClr val="accent1">
                  <a:lumMod val="75000"/>
                </a:schemeClr>
              </a:solidFill>
            </a:endParaRPr>
          </a:p>
        </p:txBody>
      </p:sp>
      <p:sp>
        <p:nvSpPr>
          <p:cNvPr id="4" name="Rectangle 4"/>
          <p:cNvSpPr>
            <a:spLocks noChangeArrowheads="1"/>
          </p:cNvSpPr>
          <p:nvPr/>
        </p:nvSpPr>
        <p:spPr bwMode="auto">
          <a:xfrm>
            <a:off x="2057400" y="5562600"/>
            <a:ext cx="3962400" cy="838200"/>
          </a:xfrm>
          <a:prstGeom prst="rect">
            <a:avLst/>
          </a:prstGeom>
          <a:solidFill>
            <a:srgbClr val="FFFF66"/>
          </a:solidFill>
          <a:ln w="38100">
            <a:solidFill>
              <a:schemeClr val="tx1"/>
            </a:solidFill>
            <a:miter lim="800000"/>
            <a:headEnd/>
            <a:tailEnd/>
          </a:ln>
          <a:effectLst/>
        </p:spPr>
        <p:txBody>
          <a:bodyPr wrap="none" anchor="ctr"/>
          <a:lstStyle/>
          <a:p>
            <a:endParaRPr lang="en-US"/>
          </a:p>
        </p:txBody>
      </p:sp>
      <p:sp>
        <p:nvSpPr>
          <p:cNvPr id="5" name="Line 5"/>
          <p:cNvSpPr>
            <a:spLocks noChangeShapeType="1"/>
          </p:cNvSpPr>
          <p:nvPr/>
        </p:nvSpPr>
        <p:spPr bwMode="auto">
          <a:xfrm>
            <a:off x="2971800" y="5562600"/>
            <a:ext cx="0" cy="838200"/>
          </a:xfrm>
          <a:prstGeom prst="line">
            <a:avLst/>
          </a:prstGeom>
          <a:noFill/>
          <a:ln w="38100">
            <a:solidFill>
              <a:schemeClr val="tx1"/>
            </a:solidFill>
            <a:round/>
            <a:headEnd/>
            <a:tailEnd/>
          </a:ln>
          <a:effectLst/>
        </p:spPr>
        <p:txBody>
          <a:bodyPr/>
          <a:lstStyle/>
          <a:p>
            <a:endParaRPr lang="en-US"/>
          </a:p>
        </p:txBody>
      </p:sp>
      <p:sp>
        <p:nvSpPr>
          <p:cNvPr id="6" name="Line 5"/>
          <p:cNvSpPr>
            <a:spLocks noChangeShapeType="1"/>
          </p:cNvSpPr>
          <p:nvPr/>
        </p:nvSpPr>
        <p:spPr bwMode="auto">
          <a:xfrm>
            <a:off x="5029200" y="5562600"/>
            <a:ext cx="0" cy="838200"/>
          </a:xfrm>
          <a:prstGeom prst="line">
            <a:avLst/>
          </a:prstGeom>
          <a:noFill/>
          <a:ln w="38100">
            <a:solidFill>
              <a:schemeClr val="tx1"/>
            </a:solidFill>
            <a:round/>
            <a:headEnd/>
            <a:tailEnd/>
          </a:ln>
          <a:effectLst/>
        </p:spPr>
        <p:txBody>
          <a:bodyPr/>
          <a:lstStyle/>
          <a:p>
            <a:endParaRPr lang="en-US"/>
          </a:p>
        </p:txBody>
      </p:sp>
      <p:sp>
        <p:nvSpPr>
          <p:cNvPr id="7" name="Text Box 9"/>
          <p:cNvSpPr txBox="1">
            <a:spLocks noChangeArrowheads="1"/>
          </p:cNvSpPr>
          <p:nvPr/>
        </p:nvSpPr>
        <p:spPr bwMode="auto">
          <a:xfrm>
            <a:off x="3352800" y="4876800"/>
            <a:ext cx="1143000" cy="457200"/>
          </a:xfrm>
          <a:prstGeom prst="rect">
            <a:avLst/>
          </a:prstGeom>
          <a:noFill/>
          <a:ln w="9525">
            <a:noFill/>
            <a:miter lim="800000"/>
            <a:headEnd/>
            <a:tailEnd/>
          </a:ln>
          <a:effectLst/>
        </p:spPr>
        <p:txBody>
          <a:bodyPr>
            <a:spAutoFit/>
          </a:bodyPr>
          <a:lstStyle/>
          <a:p>
            <a:pPr>
              <a:spcBef>
                <a:spcPct val="50000"/>
              </a:spcBef>
            </a:pPr>
            <a:r>
              <a:rPr lang="en-US" sz="2400" dirty="0" smtClean="0">
                <a:solidFill>
                  <a:schemeClr val="bg1"/>
                </a:solidFill>
              </a:rPr>
              <a:t>.</a:t>
            </a:r>
            <a:r>
              <a:rPr lang="en-US" sz="2400" dirty="0" smtClean="0">
                <a:solidFill>
                  <a:schemeClr val="accent1">
                    <a:lumMod val="75000"/>
                  </a:schemeClr>
                </a:solidFill>
              </a:rPr>
              <a:t>Data</a:t>
            </a:r>
            <a:endParaRPr lang="en-US" sz="2400" dirty="0">
              <a:solidFill>
                <a:schemeClr val="accent1">
                  <a:lumMod val="75000"/>
                </a:schemeClr>
              </a:solidFill>
            </a:endParaRPr>
          </a:p>
        </p:txBody>
      </p:sp>
      <p:sp>
        <p:nvSpPr>
          <p:cNvPr id="8" name="Text Box 9"/>
          <p:cNvSpPr txBox="1">
            <a:spLocks noChangeArrowheads="1"/>
          </p:cNvSpPr>
          <p:nvPr/>
        </p:nvSpPr>
        <p:spPr bwMode="auto">
          <a:xfrm>
            <a:off x="5105400" y="4876800"/>
            <a:ext cx="990600" cy="461665"/>
          </a:xfrm>
          <a:prstGeom prst="rect">
            <a:avLst/>
          </a:prstGeom>
          <a:noFill/>
          <a:ln w="9525">
            <a:noFill/>
            <a:miter lim="800000"/>
            <a:headEnd/>
            <a:tailEnd/>
          </a:ln>
          <a:effectLst/>
        </p:spPr>
        <p:txBody>
          <a:bodyPr wrap="square">
            <a:spAutoFit/>
          </a:bodyPr>
          <a:lstStyle/>
          <a:p>
            <a:pPr>
              <a:spcBef>
                <a:spcPct val="50000"/>
              </a:spcBef>
            </a:pPr>
            <a:r>
              <a:rPr lang="en-US" sz="2400" dirty="0" smtClean="0">
                <a:solidFill>
                  <a:schemeClr val="bg1"/>
                </a:solidFill>
              </a:rPr>
              <a:t>.</a:t>
            </a:r>
            <a:r>
              <a:rPr lang="en-US" sz="2400" dirty="0" smtClean="0">
                <a:solidFill>
                  <a:schemeClr val="accent1">
                    <a:lumMod val="75000"/>
                  </a:schemeClr>
                </a:solidFill>
              </a:rPr>
              <a:t>next</a:t>
            </a:r>
            <a:endParaRPr lang="en-US" sz="2400" dirty="0">
              <a:solidFill>
                <a:schemeClr val="bg1"/>
              </a:solidFill>
            </a:endParaRPr>
          </a:p>
        </p:txBody>
      </p:sp>
      <p:sp>
        <p:nvSpPr>
          <p:cNvPr id="9" name="Text Box 9"/>
          <p:cNvSpPr txBox="1">
            <a:spLocks noChangeArrowheads="1"/>
          </p:cNvSpPr>
          <p:nvPr/>
        </p:nvSpPr>
        <p:spPr bwMode="auto">
          <a:xfrm>
            <a:off x="1600200" y="4953000"/>
            <a:ext cx="1447800" cy="830997"/>
          </a:xfrm>
          <a:prstGeom prst="rect">
            <a:avLst/>
          </a:prstGeom>
          <a:noFill/>
          <a:ln w="9525">
            <a:noFill/>
            <a:miter lim="800000"/>
            <a:headEnd/>
            <a:tailEnd/>
          </a:ln>
          <a:effectLst/>
        </p:spPr>
        <p:txBody>
          <a:bodyPr wrap="square">
            <a:spAutoFit/>
          </a:bodyPr>
          <a:lstStyle/>
          <a:p>
            <a:pPr>
              <a:spcBef>
                <a:spcPct val="50000"/>
              </a:spcBef>
            </a:pPr>
            <a:r>
              <a:rPr lang="en-US" sz="2400" dirty="0" smtClean="0">
                <a:solidFill>
                  <a:schemeClr val="accent1">
                    <a:lumMod val="75000"/>
                  </a:schemeClr>
                </a:solidFill>
              </a:rPr>
              <a:t>previous</a:t>
            </a:r>
            <a:r>
              <a:rPr lang="en-US" sz="2400" dirty="0" smtClean="0">
                <a:solidFill>
                  <a:schemeClr val="bg1"/>
                </a:solidFill>
              </a:rPr>
              <a:t>.inf</a:t>
            </a:r>
            <a:endParaRPr lang="en-US" sz="2400" dirty="0">
              <a:solidFill>
                <a:schemeClr val="bg1"/>
              </a:solidFill>
            </a:endParaRPr>
          </a:p>
        </p:txBody>
      </p:sp>
      <p:sp>
        <p:nvSpPr>
          <p:cNvPr id="10" name="Line 10"/>
          <p:cNvSpPr>
            <a:spLocks noChangeShapeType="1"/>
          </p:cNvSpPr>
          <p:nvPr/>
        </p:nvSpPr>
        <p:spPr bwMode="auto">
          <a:xfrm flipH="1">
            <a:off x="1295400" y="5943600"/>
            <a:ext cx="1066800" cy="0"/>
          </a:xfrm>
          <a:prstGeom prst="line">
            <a:avLst/>
          </a:prstGeom>
          <a:noFill/>
          <a:ln w="76200">
            <a:solidFill>
              <a:srgbClr val="FF0000"/>
            </a:solidFill>
            <a:round/>
            <a:headEnd/>
            <a:tailEnd type="triangle" w="med" len="med"/>
          </a:ln>
          <a:effectLst/>
        </p:spPr>
        <p:txBody>
          <a:bodyPr/>
          <a:lstStyle/>
          <a:p>
            <a:endParaRPr lang="en-US"/>
          </a:p>
        </p:txBody>
      </p:sp>
      <p:sp>
        <p:nvSpPr>
          <p:cNvPr id="11" name="Line 11"/>
          <p:cNvSpPr>
            <a:spLocks noChangeShapeType="1"/>
          </p:cNvSpPr>
          <p:nvPr/>
        </p:nvSpPr>
        <p:spPr bwMode="auto">
          <a:xfrm>
            <a:off x="5715000" y="5943600"/>
            <a:ext cx="1143000" cy="0"/>
          </a:xfrm>
          <a:prstGeom prst="line">
            <a:avLst/>
          </a:prstGeom>
          <a:noFill/>
          <a:ln w="76200">
            <a:solidFill>
              <a:srgbClr val="FF0000"/>
            </a:solidFill>
            <a:round/>
            <a:headEnd/>
            <a:tailEnd type="triangle" w="med" len="med"/>
          </a:ln>
          <a:effectLst/>
        </p:spPr>
        <p:txBody>
          <a:bodyPr/>
          <a:lstStyle/>
          <a:p>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9"/>
          <p:cNvPicPr>
            <a:picLocks noChangeAspect="1" noChangeArrowheads="1"/>
          </p:cNvPicPr>
          <p:nvPr/>
        </p:nvPicPr>
        <p:blipFill>
          <a:blip r:embed="rId2" cstate="print"/>
          <a:srcRect/>
          <a:stretch>
            <a:fillRect/>
          </a:stretch>
        </p:blipFill>
        <p:spPr bwMode="auto">
          <a:xfrm>
            <a:off x="990600" y="1752600"/>
            <a:ext cx="6400800" cy="1457325"/>
          </a:xfrm>
          <a:prstGeom prst="rect">
            <a:avLst/>
          </a:prstGeom>
          <a:noFill/>
          <a:ln w="9525">
            <a:noFill/>
            <a:miter lim="800000"/>
            <a:headEnd/>
            <a:tailEnd/>
          </a:ln>
        </p:spPr>
      </p:pic>
      <p:pic>
        <p:nvPicPr>
          <p:cNvPr id="5" name="Picture 10"/>
          <p:cNvPicPr>
            <a:picLocks noChangeAspect="1" noChangeArrowheads="1"/>
          </p:cNvPicPr>
          <p:nvPr/>
        </p:nvPicPr>
        <p:blipFill>
          <a:blip r:embed="rId3" cstate="print"/>
          <a:srcRect/>
          <a:stretch>
            <a:fillRect/>
          </a:stretch>
        </p:blipFill>
        <p:spPr bwMode="auto">
          <a:xfrm>
            <a:off x="1143000" y="4343400"/>
            <a:ext cx="6781800" cy="1574800"/>
          </a:xfrm>
          <a:prstGeom prst="rect">
            <a:avLst/>
          </a:prstGeom>
          <a:noFill/>
          <a:ln w="9525">
            <a:noFill/>
            <a:miter lim="800000"/>
            <a:headEnd/>
            <a:tailEnd/>
          </a:ln>
        </p:spPr>
      </p:pic>
      <p:sp>
        <p:nvSpPr>
          <p:cNvPr id="6" name="Title 1"/>
          <p:cNvSpPr>
            <a:spLocks noGrp="1"/>
          </p:cNvSpPr>
          <p:nvPr>
            <p:ph type="title"/>
          </p:nvPr>
        </p:nvSpPr>
        <p:spPr>
          <a:xfrm>
            <a:off x="381000" y="533400"/>
            <a:ext cx="8229600" cy="819912"/>
          </a:xfrm>
        </p:spPr>
        <p:txBody>
          <a:bodyPr/>
          <a:lstStyle/>
          <a:p>
            <a:r>
              <a:rPr lang="en-US" dirty="0" smtClean="0"/>
              <a:t>Inserting at beginning</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6019800"/>
          </a:xfrm>
        </p:spPr>
        <p:txBody>
          <a:bodyPr>
            <a:normAutofit fontScale="85000" lnSpcReduction="20000"/>
          </a:bodyPr>
          <a:lstStyle/>
          <a:p>
            <a:pPr>
              <a:buNone/>
            </a:pPr>
            <a:r>
              <a:rPr lang="en-US" dirty="0" smtClean="0">
                <a:solidFill>
                  <a:schemeClr val="accent1">
                    <a:lumMod val="75000"/>
                  </a:schemeClr>
                </a:solidFill>
              </a:rPr>
              <a:t>void </a:t>
            </a:r>
            <a:r>
              <a:rPr lang="en-US" dirty="0" err="1" smtClean="0">
                <a:solidFill>
                  <a:schemeClr val="accent1">
                    <a:lumMod val="75000"/>
                  </a:schemeClr>
                </a:solidFill>
              </a:rPr>
              <a:t>insert_beg</a:t>
            </a:r>
            <a:r>
              <a:rPr lang="en-US" dirty="0" smtClean="0">
                <a:solidFill>
                  <a:schemeClr val="accent1">
                    <a:lumMod val="75000"/>
                  </a:schemeClr>
                </a:solidFill>
              </a:rPr>
              <a:t>(node *p)</a:t>
            </a:r>
          </a:p>
          <a:p>
            <a:pPr>
              <a:buNone/>
            </a:pPr>
            <a:r>
              <a:rPr lang="en-US" dirty="0" smtClean="0">
                <a:solidFill>
                  <a:schemeClr val="accent1">
                    <a:lumMod val="75000"/>
                  </a:schemeClr>
                </a:solidFill>
              </a:rPr>
              <a:t>{</a:t>
            </a:r>
          </a:p>
          <a:p>
            <a:pPr>
              <a:buNone/>
            </a:pPr>
            <a:r>
              <a:rPr lang="en-US" dirty="0" smtClean="0">
                <a:solidFill>
                  <a:schemeClr val="accent1">
                    <a:lumMod val="75000"/>
                  </a:schemeClr>
                </a:solidFill>
              </a:rPr>
              <a:t>   if(start==NULL)</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start=p;</a:t>
            </a:r>
          </a:p>
          <a:p>
            <a:pPr>
              <a:buNone/>
            </a:pPr>
            <a:r>
              <a:rPr lang="en-US" dirty="0" smtClean="0">
                <a:solidFill>
                  <a:schemeClr val="accent1">
                    <a:lumMod val="75000"/>
                  </a:schemeClr>
                </a:solidFill>
              </a:rPr>
              <a:t>     </a:t>
            </a:r>
            <a:r>
              <a:rPr lang="en-US" dirty="0" err="1" smtClean="0">
                <a:solidFill>
                  <a:schemeClr val="accent1">
                    <a:lumMod val="75000"/>
                  </a:schemeClr>
                </a:solidFill>
              </a:rPr>
              <a:t>cout</a:t>
            </a:r>
            <a:r>
              <a:rPr lang="en-US" dirty="0" smtClean="0">
                <a:solidFill>
                  <a:schemeClr val="accent1">
                    <a:lumMod val="75000"/>
                  </a:schemeClr>
                </a:solidFill>
              </a:rPr>
              <a:t>&lt;&lt;"\</a:t>
            </a:r>
            <a:r>
              <a:rPr lang="en-US" dirty="0" err="1" smtClean="0">
                <a:solidFill>
                  <a:schemeClr val="accent1">
                    <a:lumMod val="75000"/>
                  </a:schemeClr>
                </a:solidFill>
              </a:rPr>
              <a:t>nNode</a:t>
            </a:r>
            <a:r>
              <a:rPr lang="en-US" dirty="0" smtClean="0">
                <a:solidFill>
                  <a:schemeClr val="accent1">
                    <a:lumMod val="75000"/>
                  </a:schemeClr>
                </a:solidFill>
              </a:rPr>
              <a:t> inserted successfully at the beginning\m";</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else</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node* temp=start;</a:t>
            </a:r>
          </a:p>
          <a:p>
            <a:pPr>
              <a:buNone/>
            </a:pPr>
            <a:r>
              <a:rPr lang="en-US" dirty="0" smtClean="0">
                <a:solidFill>
                  <a:schemeClr val="accent1">
                    <a:lumMod val="75000"/>
                  </a:schemeClr>
                </a:solidFill>
              </a:rPr>
              <a:t>   start=p;</a:t>
            </a:r>
          </a:p>
          <a:p>
            <a:pPr>
              <a:buNone/>
            </a:pPr>
            <a:r>
              <a:rPr lang="en-US" dirty="0" smtClean="0">
                <a:solidFill>
                  <a:schemeClr val="accent1">
                    <a:lumMod val="75000"/>
                  </a:schemeClr>
                </a:solidFill>
              </a:rPr>
              <a:t>   temp-&gt;previous=p;</a:t>
            </a:r>
            <a:r>
              <a:rPr lang="en-US" dirty="0" smtClean="0">
                <a:solidFill>
                  <a:srgbClr val="FF0000"/>
                </a:solidFill>
              </a:rPr>
              <a:t>    //making 1</a:t>
            </a:r>
            <a:r>
              <a:rPr lang="en-US" baseline="30000" dirty="0" smtClean="0">
                <a:solidFill>
                  <a:srgbClr val="FF0000"/>
                </a:solidFill>
              </a:rPr>
              <a:t>st</a:t>
            </a:r>
            <a:r>
              <a:rPr lang="en-US" dirty="0" smtClean="0">
                <a:solidFill>
                  <a:srgbClr val="FF0000"/>
                </a:solidFill>
              </a:rPr>
              <a:t> node’s previous point to the new node</a:t>
            </a:r>
            <a:endParaRPr lang="en-US" dirty="0" smtClean="0">
              <a:solidFill>
                <a:schemeClr val="accent1">
                  <a:lumMod val="75000"/>
                </a:schemeClr>
              </a:solidFill>
            </a:endParaRPr>
          </a:p>
          <a:p>
            <a:pPr>
              <a:buNone/>
            </a:pPr>
            <a:r>
              <a:rPr lang="en-US" dirty="0" smtClean="0">
                <a:solidFill>
                  <a:schemeClr val="accent1">
                    <a:lumMod val="75000"/>
                  </a:schemeClr>
                </a:solidFill>
              </a:rPr>
              <a:t>   p-&gt;next=temp;          </a:t>
            </a:r>
            <a:r>
              <a:rPr lang="en-US" dirty="0" smtClean="0">
                <a:solidFill>
                  <a:srgbClr val="FF0000"/>
                </a:solidFill>
              </a:rPr>
              <a:t>//making next of the new node point to the 1st node</a:t>
            </a:r>
            <a:endParaRPr lang="en-US" dirty="0" smtClean="0">
              <a:solidFill>
                <a:schemeClr val="accent1">
                  <a:lumMod val="75000"/>
                </a:schemeClr>
              </a:solidFill>
            </a:endParaRPr>
          </a:p>
          <a:p>
            <a:pPr>
              <a:buNone/>
            </a:pPr>
            <a:r>
              <a:rPr lang="en-US" dirty="0" smtClean="0">
                <a:solidFill>
                  <a:schemeClr val="accent1">
                    <a:lumMod val="75000"/>
                  </a:schemeClr>
                </a:solidFill>
              </a:rPr>
              <a:t>   </a:t>
            </a:r>
            <a:r>
              <a:rPr lang="en-US" dirty="0" err="1" smtClean="0">
                <a:solidFill>
                  <a:schemeClr val="accent1">
                    <a:lumMod val="75000"/>
                  </a:schemeClr>
                </a:solidFill>
              </a:rPr>
              <a:t>cout</a:t>
            </a:r>
            <a:r>
              <a:rPr lang="en-US" dirty="0" smtClean="0">
                <a:solidFill>
                  <a:schemeClr val="accent1">
                    <a:lumMod val="75000"/>
                  </a:schemeClr>
                </a:solidFill>
              </a:rPr>
              <a:t>&lt;&lt;"\</a:t>
            </a:r>
            <a:r>
              <a:rPr lang="en-US" dirty="0" err="1" smtClean="0">
                <a:solidFill>
                  <a:schemeClr val="accent1">
                    <a:lumMod val="75000"/>
                  </a:schemeClr>
                </a:solidFill>
              </a:rPr>
              <a:t>nNode</a:t>
            </a:r>
            <a:r>
              <a:rPr lang="en-US" dirty="0" smtClean="0">
                <a:solidFill>
                  <a:schemeClr val="accent1">
                    <a:lumMod val="75000"/>
                  </a:schemeClr>
                </a:solidFill>
              </a:rPr>
              <a:t> inserted successfully at the beginning\n";</a:t>
            </a:r>
          </a:p>
          <a:p>
            <a:pPr>
              <a:buNone/>
            </a:pPr>
            <a:r>
              <a:rPr lang="en-US" dirty="0" smtClean="0">
                <a:solidFill>
                  <a:schemeClr val="accent1">
                    <a:lumMod val="75000"/>
                  </a:schemeClr>
                </a:solidFill>
              </a:rPr>
              <a:t>   }</a:t>
            </a:r>
          </a:p>
          <a:p>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cstate="print"/>
          <a:srcRect/>
          <a:stretch>
            <a:fillRect/>
          </a:stretch>
        </p:blipFill>
        <p:spPr bwMode="auto">
          <a:xfrm>
            <a:off x="533400" y="1981200"/>
            <a:ext cx="7848600" cy="1828800"/>
          </a:xfrm>
          <a:prstGeom prst="rect">
            <a:avLst/>
          </a:prstGeom>
          <a:noFill/>
          <a:ln w="9525">
            <a:noFill/>
            <a:miter lim="800000"/>
            <a:headEnd/>
            <a:tailEnd/>
          </a:ln>
        </p:spPr>
      </p:pic>
      <p:grpSp>
        <p:nvGrpSpPr>
          <p:cNvPr id="2" name="Group 22"/>
          <p:cNvGrpSpPr>
            <a:grpSpLocks/>
          </p:cNvGrpSpPr>
          <p:nvPr/>
        </p:nvGrpSpPr>
        <p:grpSpPr bwMode="auto">
          <a:xfrm>
            <a:off x="838200" y="4648200"/>
            <a:ext cx="7391400" cy="1751013"/>
            <a:chOff x="2200" y="2931"/>
            <a:chExt cx="3084" cy="1103"/>
          </a:xfrm>
        </p:grpSpPr>
        <p:pic>
          <p:nvPicPr>
            <p:cNvPr id="6" name="Picture 18"/>
            <p:cNvPicPr>
              <a:picLocks noChangeAspect="1" noChangeArrowheads="1"/>
            </p:cNvPicPr>
            <p:nvPr/>
          </p:nvPicPr>
          <p:blipFill>
            <a:blip r:embed="rId3" cstate="print"/>
            <a:srcRect/>
            <a:stretch>
              <a:fillRect/>
            </a:stretch>
          </p:blipFill>
          <p:spPr bwMode="auto">
            <a:xfrm>
              <a:off x="2200" y="2931"/>
              <a:ext cx="3084" cy="1103"/>
            </a:xfrm>
            <a:prstGeom prst="rect">
              <a:avLst/>
            </a:prstGeom>
            <a:noFill/>
            <a:ln w="9525">
              <a:noFill/>
              <a:miter lim="800000"/>
              <a:headEnd/>
              <a:tailEnd/>
            </a:ln>
          </p:spPr>
        </p:pic>
        <p:pic>
          <p:nvPicPr>
            <p:cNvPr id="7" name="Picture 21"/>
            <p:cNvPicPr>
              <a:picLocks noChangeAspect="1" noChangeArrowheads="1"/>
            </p:cNvPicPr>
            <p:nvPr/>
          </p:nvPicPr>
          <p:blipFill>
            <a:blip r:embed="rId4" cstate="print"/>
            <a:srcRect/>
            <a:stretch>
              <a:fillRect/>
            </a:stretch>
          </p:blipFill>
          <p:spPr bwMode="auto">
            <a:xfrm>
              <a:off x="4740" y="2976"/>
              <a:ext cx="204" cy="168"/>
            </a:xfrm>
            <a:prstGeom prst="rect">
              <a:avLst/>
            </a:prstGeom>
            <a:noFill/>
            <a:ln w="9525">
              <a:noFill/>
              <a:miter lim="800000"/>
              <a:headEnd/>
              <a:tailEnd/>
            </a:ln>
          </p:spPr>
        </p:pic>
      </p:grpSp>
      <p:sp>
        <p:nvSpPr>
          <p:cNvPr id="8" name="Title 1"/>
          <p:cNvSpPr>
            <a:spLocks noGrp="1"/>
          </p:cNvSpPr>
          <p:nvPr>
            <p:ph type="title"/>
          </p:nvPr>
        </p:nvSpPr>
        <p:spPr>
          <a:xfrm>
            <a:off x="304800" y="533400"/>
            <a:ext cx="8229600" cy="743712"/>
          </a:xfrm>
        </p:spPr>
        <p:txBody>
          <a:bodyPr>
            <a:normAutofit fontScale="90000"/>
          </a:bodyPr>
          <a:lstStyle/>
          <a:p>
            <a:r>
              <a:rPr lang="en-US" dirty="0" smtClean="0"/>
              <a:t>Inserting at the end</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867400"/>
          </a:xfrm>
        </p:spPr>
        <p:txBody>
          <a:bodyPr>
            <a:normAutofit fontScale="77500" lnSpcReduction="20000"/>
          </a:bodyPr>
          <a:lstStyle/>
          <a:p>
            <a:pPr>
              <a:buNone/>
            </a:pPr>
            <a:r>
              <a:rPr lang="en-US" dirty="0" smtClean="0">
                <a:solidFill>
                  <a:schemeClr val="accent1">
                    <a:lumMod val="75000"/>
                  </a:schemeClr>
                </a:solidFill>
              </a:rPr>
              <a:t>void </a:t>
            </a:r>
            <a:r>
              <a:rPr lang="en-US" dirty="0" err="1" smtClean="0">
                <a:solidFill>
                  <a:schemeClr val="accent1">
                    <a:lumMod val="75000"/>
                  </a:schemeClr>
                </a:solidFill>
              </a:rPr>
              <a:t>insert_end</a:t>
            </a:r>
            <a:r>
              <a:rPr lang="en-US" dirty="0" smtClean="0">
                <a:solidFill>
                  <a:schemeClr val="accent1">
                    <a:lumMod val="75000"/>
                  </a:schemeClr>
                </a:solidFill>
              </a:rPr>
              <a:t>(node* p)</a:t>
            </a:r>
          </a:p>
          <a:p>
            <a:pPr>
              <a:buNone/>
            </a:pPr>
            <a:r>
              <a:rPr lang="en-US" dirty="0" smtClean="0">
                <a:solidFill>
                  <a:schemeClr val="accent1">
                    <a:lumMod val="75000"/>
                  </a:schemeClr>
                </a:solidFill>
              </a:rPr>
              <a:t>{</a:t>
            </a:r>
          </a:p>
          <a:p>
            <a:pPr>
              <a:buNone/>
            </a:pPr>
            <a:r>
              <a:rPr lang="en-US" dirty="0" smtClean="0">
                <a:solidFill>
                  <a:schemeClr val="accent1">
                    <a:lumMod val="75000"/>
                  </a:schemeClr>
                </a:solidFill>
              </a:rPr>
              <a:t>     if(start==NULL)</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start=p;</a:t>
            </a:r>
          </a:p>
          <a:p>
            <a:pPr>
              <a:buNone/>
            </a:pPr>
            <a:r>
              <a:rPr lang="en-US" dirty="0" smtClean="0">
                <a:solidFill>
                  <a:schemeClr val="accent1">
                    <a:lumMod val="75000"/>
                  </a:schemeClr>
                </a:solidFill>
              </a:rPr>
              <a:t>     </a:t>
            </a:r>
            <a:r>
              <a:rPr lang="en-US" dirty="0" err="1" smtClean="0">
                <a:solidFill>
                  <a:schemeClr val="accent1">
                    <a:lumMod val="75000"/>
                  </a:schemeClr>
                </a:solidFill>
              </a:rPr>
              <a:t>cout</a:t>
            </a:r>
            <a:r>
              <a:rPr lang="en-US" dirty="0" smtClean="0">
                <a:solidFill>
                  <a:schemeClr val="accent1">
                    <a:lumMod val="75000"/>
                  </a:schemeClr>
                </a:solidFill>
              </a:rPr>
              <a:t>&lt;&lt;"\</a:t>
            </a:r>
            <a:r>
              <a:rPr lang="en-US" dirty="0" err="1" smtClean="0">
                <a:solidFill>
                  <a:schemeClr val="accent1">
                    <a:lumMod val="75000"/>
                  </a:schemeClr>
                </a:solidFill>
              </a:rPr>
              <a:t>nNode</a:t>
            </a:r>
            <a:r>
              <a:rPr lang="en-US" dirty="0" smtClean="0">
                <a:solidFill>
                  <a:schemeClr val="accent1">
                    <a:lumMod val="75000"/>
                  </a:schemeClr>
                </a:solidFill>
              </a:rPr>
              <a:t> inserted successfully at the end";</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else</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node* temp=start;</a:t>
            </a:r>
          </a:p>
          <a:p>
            <a:pPr>
              <a:buNone/>
            </a:pPr>
            <a:r>
              <a:rPr lang="en-US" dirty="0" smtClean="0">
                <a:solidFill>
                  <a:schemeClr val="accent1">
                    <a:lumMod val="75000"/>
                  </a:schemeClr>
                </a:solidFill>
              </a:rPr>
              <a:t>	   while(temp-&gt;next!=NULL)</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temp=temp-&gt;next;</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temp-&gt;next=p;</a:t>
            </a:r>
          </a:p>
          <a:p>
            <a:pPr>
              <a:buNone/>
            </a:pPr>
            <a:r>
              <a:rPr lang="en-US" dirty="0" smtClean="0">
                <a:solidFill>
                  <a:schemeClr val="accent1">
                    <a:lumMod val="75000"/>
                  </a:schemeClr>
                </a:solidFill>
              </a:rPr>
              <a:t>      p-&gt;previous=temp;</a:t>
            </a:r>
          </a:p>
          <a:p>
            <a:pPr>
              <a:buNone/>
            </a:pPr>
            <a:r>
              <a:rPr lang="en-US" dirty="0" smtClean="0">
                <a:solidFill>
                  <a:schemeClr val="accent1">
                    <a:lumMod val="75000"/>
                  </a:schemeClr>
                </a:solidFill>
              </a:rPr>
              <a:t>      </a:t>
            </a:r>
            <a:r>
              <a:rPr lang="en-US" dirty="0" err="1" smtClean="0">
                <a:solidFill>
                  <a:schemeClr val="accent1">
                    <a:lumMod val="75000"/>
                  </a:schemeClr>
                </a:solidFill>
              </a:rPr>
              <a:t>cout</a:t>
            </a:r>
            <a:r>
              <a:rPr lang="en-US" dirty="0" smtClean="0">
                <a:solidFill>
                  <a:schemeClr val="accent1">
                    <a:lumMod val="75000"/>
                  </a:schemeClr>
                </a:solidFill>
              </a:rPr>
              <a:t>&lt;&lt;"\</a:t>
            </a:r>
            <a:r>
              <a:rPr lang="en-US" dirty="0" err="1" smtClean="0">
                <a:solidFill>
                  <a:schemeClr val="accent1">
                    <a:lumMod val="75000"/>
                  </a:schemeClr>
                </a:solidFill>
              </a:rPr>
              <a:t>nNode</a:t>
            </a:r>
            <a:r>
              <a:rPr lang="en-US" dirty="0" smtClean="0">
                <a:solidFill>
                  <a:schemeClr val="accent1">
                    <a:lumMod val="75000"/>
                  </a:schemeClr>
                </a:solidFill>
              </a:rPr>
              <a:t> inserted successfully at the end\n";</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a:t>
            </a:r>
          </a:p>
          <a:p>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l3.png"/>
          <p:cNvPicPr>
            <a:picLocks noChangeAspect="1"/>
          </p:cNvPicPr>
          <p:nvPr/>
        </p:nvPicPr>
        <p:blipFill>
          <a:blip r:embed="rId2" cstate="print"/>
          <a:stretch>
            <a:fillRect/>
          </a:stretch>
        </p:blipFill>
        <p:spPr>
          <a:xfrm>
            <a:off x="685800" y="1371600"/>
            <a:ext cx="6906589" cy="1428950"/>
          </a:xfrm>
          <a:prstGeom prst="rect">
            <a:avLst/>
          </a:prstGeom>
        </p:spPr>
      </p:pic>
      <p:sp>
        <p:nvSpPr>
          <p:cNvPr id="7" name="TextBox 6"/>
          <p:cNvSpPr txBox="1"/>
          <p:nvPr/>
        </p:nvSpPr>
        <p:spPr>
          <a:xfrm>
            <a:off x="1371600" y="2971800"/>
            <a:ext cx="6172200" cy="707886"/>
          </a:xfrm>
          <a:prstGeom prst="rect">
            <a:avLst/>
          </a:prstGeom>
          <a:noFill/>
        </p:spPr>
        <p:txBody>
          <a:bodyPr wrap="square" rtlCol="0">
            <a:spAutoFit/>
          </a:bodyPr>
          <a:lstStyle/>
          <a:p>
            <a:r>
              <a:rPr lang="en-US" sz="2000" dirty="0" smtClean="0">
                <a:solidFill>
                  <a:srgbClr val="FF0000"/>
                </a:solidFill>
              </a:rPr>
              <a:t>Making next and previous pointer of the node to be inserted point accordingly</a:t>
            </a:r>
          </a:p>
        </p:txBody>
      </p:sp>
      <p:pic>
        <p:nvPicPr>
          <p:cNvPr id="8" name="Picture 8"/>
          <p:cNvPicPr>
            <a:picLocks noChangeAspect="1" noChangeArrowheads="1"/>
          </p:cNvPicPr>
          <p:nvPr/>
        </p:nvPicPr>
        <p:blipFill>
          <a:blip r:embed="rId3" cstate="print"/>
          <a:srcRect/>
          <a:stretch>
            <a:fillRect/>
          </a:stretch>
        </p:blipFill>
        <p:spPr bwMode="auto">
          <a:xfrm>
            <a:off x="1219200" y="3886200"/>
            <a:ext cx="6781800" cy="1479550"/>
          </a:xfrm>
          <a:prstGeom prst="rect">
            <a:avLst/>
          </a:prstGeom>
          <a:noFill/>
          <a:ln w="9525">
            <a:noFill/>
            <a:miter lim="800000"/>
            <a:headEnd/>
            <a:tailEnd/>
          </a:ln>
        </p:spPr>
      </p:pic>
      <p:sp>
        <p:nvSpPr>
          <p:cNvPr id="9" name="TextBox 8"/>
          <p:cNvSpPr txBox="1"/>
          <p:nvPr/>
        </p:nvSpPr>
        <p:spPr>
          <a:xfrm>
            <a:off x="1371600" y="5791200"/>
            <a:ext cx="6553200" cy="646331"/>
          </a:xfrm>
          <a:prstGeom prst="rect">
            <a:avLst/>
          </a:prstGeom>
          <a:noFill/>
        </p:spPr>
        <p:txBody>
          <a:bodyPr wrap="square" rtlCol="0">
            <a:spAutoFit/>
          </a:bodyPr>
          <a:lstStyle/>
          <a:p>
            <a:r>
              <a:rPr lang="en-US" dirty="0" smtClean="0">
                <a:solidFill>
                  <a:srgbClr val="FF0000"/>
                </a:solidFill>
              </a:rPr>
              <a:t>Adjusting the next and previous pointers of the nodes b/w which the new node accordingly</a:t>
            </a:r>
            <a:endParaRPr lang="en-US" dirty="0">
              <a:solidFill>
                <a:srgbClr val="FF0000"/>
              </a:solidFill>
            </a:endParaRPr>
          </a:p>
        </p:txBody>
      </p:sp>
      <p:sp>
        <p:nvSpPr>
          <p:cNvPr id="10" name="Title 1"/>
          <p:cNvSpPr>
            <a:spLocks noGrp="1"/>
          </p:cNvSpPr>
          <p:nvPr>
            <p:ph type="title"/>
          </p:nvPr>
        </p:nvSpPr>
        <p:spPr>
          <a:xfrm>
            <a:off x="304800" y="381000"/>
            <a:ext cx="8229600" cy="762000"/>
          </a:xfrm>
        </p:spPr>
        <p:txBody>
          <a:bodyPr>
            <a:normAutofit fontScale="90000"/>
          </a:bodyPr>
          <a:lstStyle/>
          <a:p>
            <a:r>
              <a:rPr lang="en-US" dirty="0" smtClean="0"/>
              <a:t>Inserting after a node</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800600"/>
          </a:xfrm>
        </p:spPr>
        <p:txBody>
          <a:bodyPr>
            <a:normAutofit fontScale="85000" lnSpcReduction="20000"/>
          </a:bodyPr>
          <a:lstStyle/>
          <a:p>
            <a:pPr>
              <a:buNone/>
            </a:pPr>
            <a:r>
              <a:rPr lang="en-US" dirty="0" smtClean="0">
                <a:solidFill>
                  <a:schemeClr val="accent1">
                    <a:lumMod val="75000"/>
                  </a:schemeClr>
                </a:solidFill>
              </a:rPr>
              <a:t>void </a:t>
            </a:r>
            <a:r>
              <a:rPr lang="en-US" dirty="0" err="1" smtClean="0">
                <a:solidFill>
                  <a:schemeClr val="accent1">
                    <a:lumMod val="75000"/>
                  </a:schemeClr>
                </a:solidFill>
              </a:rPr>
              <a:t>insert_after</a:t>
            </a:r>
            <a:r>
              <a:rPr lang="en-US" dirty="0" smtClean="0">
                <a:solidFill>
                  <a:schemeClr val="accent1">
                    <a:lumMod val="75000"/>
                  </a:schemeClr>
                </a:solidFill>
              </a:rPr>
              <a:t>(</a:t>
            </a:r>
            <a:r>
              <a:rPr lang="en-US" dirty="0" err="1" smtClean="0">
                <a:solidFill>
                  <a:schemeClr val="accent1">
                    <a:lumMod val="75000"/>
                  </a:schemeClr>
                </a:solidFill>
              </a:rPr>
              <a:t>int</a:t>
            </a:r>
            <a:r>
              <a:rPr lang="en-US" dirty="0" smtClean="0">
                <a:solidFill>
                  <a:schemeClr val="accent1">
                    <a:lumMod val="75000"/>
                  </a:schemeClr>
                </a:solidFill>
              </a:rPr>
              <a:t> </a:t>
            </a:r>
            <a:r>
              <a:rPr lang="en-US" dirty="0" err="1" smtClean="0">
                <a:solidFill>
                  <a:schemeClr val="accent1">
                    <a:lumMod val="75000"/>
                  </a:schemeClr>
                </a:solidFill>
              </a:rPr>
              <a:t>c,node</a:t>
            </a:r>
            <a:r>
              <a:rPr lang="en-US" dirty="0" smtClean="0">
                <a:solidFill>
                  <a:schemeClr val="accent1">
                    <a:lumMod val="75000"/>
                  </a:schemeClr>
                </a:solidFill>
              </a:rPr>
              <a:t>* p)</a:t>
            </a:r>
          </a:p>
          <a:p>
            <a:pPr>
              <a:buNone/>
            </a:pPr>
            <a:r>
              <a:rPr lang="en-US" dirty="0" smtClean="0">
                <a:solidFill>
                  <a:schemeClr val="accent1">
                    <a:lumMod val="75000"/>
                  </a:schemeClr>
                </a:solidFill>
              </a:rPr>
              <a:t>{</a:t>
            </a:r>
          </a:p>
          <a:p>
            <a:pPr>
              <a:buNone/>
            </a:pPr>
            <a:r>
              <a:rPr lang="en-US" dirty="0" smtClean="0">
                <a:solidFill>
                  <a:schemeClr val="accent1">
                    <a:lumMod val="75000"/>
                  </a:schemeClr>
                </a:solidFill>
              </a:rPr>
              <a:t>     temp=start;</a:t>
            </a:r>
          </a:p>
          <a:p>
            <a:pPr>
              <a:buNone/>
            </a:pPr>
            <a:r>
              <a:rPr lang="en-US" dirty="0" smtClean="0">
                <a:solidFill>
                  <a:schemeClr val="accent1">
                    <a:lumMod val="75000"/>
                  </a:schemeClr>
                </a:solidFill>
              </a:rPr>
              <a:t>     for(</a:t>
            </a:r>
            <a:r>
              <a:rPr lang="en-US" dirty="0" err="1" smtClean="0">
                <a:solidFill>
                  <a:schemeClr val="accent1">
                    <a:lumMod val="75000"/>
                  </a:schemeClr>
                </a:solidFill>
              </a:rPr>
              <a:t>int</a:t>
            </a:r>
            <a:r>
              <a:rPr lang="en-US" dirty="0" smtClean="0">
                <a:solidFill>
                  <a:schemeClr val="accent1">
                    <a:lumMod val="75000"/>
                  </a:schemeClr>
                </a:solidFill>
              </a:rPr>
              <a:t> </a:t>
            </a:r>
            <a:r>
              <a:rPr lang="en-US" dirty="0" err="1" smtClean="0">
                <a:solidFill>
                  <a:schemeClr val="accent1">
                    <a:lumMod val="75000"/>
                  </a:schemeClr>
                </a:solidFill>
              </a:rPr>
              <a:t>i</a:t>
            </a:r>
            <a:r>
              <a:rPr lang="en-US" dirty="0" smtClean="0">
                <a:solidFill>
                  <a:schemeClr val="accent1">
                    <a:lumMod val="75000"/>
                  </a:schemeClr>
                </a:solidFill>
              </a:rPr>
              <a:t>=1;i&lt;c-1;i++)</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temp=temp-&gt;next;</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p-&gt;next=temp-&gt;next;   </a:t>
            </a:r>
          </a:p>
          <a:p>
            <a:pPr>
              <a:buNone/>
            </a:pPr>
            <a:r>
              <a:rPr lang="en-US" dirty="0" smtClean="0">
                <a:solidFill>
                  <a:schemeClr val="accent1">
                    <a:lumMod val="75000"/>
                  </a:schemeClr>
                </a:solidFill>
              </a:rPr>
              <a:t>     temp-&gt;next-&gt;previous=p;</a:t>
            </a:r>
          </a:p>
          <a:p>
            <a:pPr>
              <a:buNone/>
            </a:pPr>
            <a:r>
              <a:rPr lang="en-US" dirty="0" smtClean="0">
                <a:solidFill>
                  <a:schemeClr val="accent1">
                    <a:lumMod val="75000"/>
                  </a:schemeClr>
                </a:solidFill>
              </a:rPr>
              <a:t>     temp-&gt;next=p;</a:t>
            </a:r>
          </a:p>
          <a:p>
            <a:pPr>
              <a:buNone/>
            </a:pPr>
            <a:r>
              <a:rPr lang="en-US" dirty="0" smtClean="0">
                <a:solidFill>
                  <a:schemeClr val="accent1">
                    <a:lumMod val="75000"/>
                  </a:schemeClr>
                </a:solidFill>
              </a:rPr>
              <a:t>     p-&gt;previous=temp;</a:t>
            </a:r>
          </a:p>
          <a:p>
            <a:pPr>
              <a:buNone/>
            </a:pPr>
            <a:r>
              <a:rPr lang="en-US" dirty="0" smtClean="0">
                <a:solidFill>
                  <a:schemeClr val="accent1">
                    <a:lumMod val="75000"/>
                  </a:schemeClr>
                </a:solidFill>
              </a:rPr>
              <a:t>     </a:t>
            </a:r>
            <a:r>
              <a:rPr lang="en-US" dirty="0" err="1" smtClean="0">
                <a:solidFill>
                  <a:schemeClr val="accent1">
                    <a:lumMod val="75000"/>
                  </a:schemeClr>
                </a:solidFill>
              </a:rPr>
              <a:t>cout</a:t>
            </a:r>
            <a:r>
              <a:rPr lang="en-US" dirty="0" smtClean="0">
                <a:solidFill>
                  <a:schemeClr val="accent1">
                    <a:lumMod val="75000"/>
                  </a:schemeClr>
                </a:solidFill>
              </a:rPr>
              <a:t>&lt;&lt;"\</a:t>
            </a:r>
            <a:r>
              <a:rPr lang="en-US" dirty="0" err="1" smtClean="0">
                <a:solidFill>
                  <a:schemeClr val="accent1">
                    <a:lumMod val="75000"/>
                  </a:schemeClr>
                </a:solidFill>
              </a:rPr>
              <a:t>nInserted</a:t>
            </a:r>
            <a:r>
              <a:rPr lang="en-US" dirty="0" smtClean="0">
                <a:solidFill>
                  <a:schemeClr val="accent1">
                    <a:lumMod val="75000"/>
                  </a:schemeClr>
                </a:solidFill>
              </a:rPr>
              <a:t> successfully";</a:t>
            </a:r>
          </a:p>
          <a:p>
            <a:pPr>
              <a:buNone/>
            </a:pPr>
            <a:r>
              <a:rPr lang="en-US" dirty="0" smtClean="0">
                <a:solidFill>
                  <a:schemeClr val="accent1">
                    <a:lumMod val="75000"/>
                  </a:schemeClr>
                </a:solidFill>
              </a:rPr>
              <a:t>}</a:t>
            </a:r>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8229600" cy="762000"/>
          </a:xfrm>
        </p:spPr>
        <p:txBody>
          <a:bodyPr>
            <a:normAutofit fontScale="90000"/>
          </a:bodyPr>
          <a:lstStyle/>
          <a:p>
            <a:r>
              <a:rPr lang="en-US" dirty="0" smtClean="0"/>
              <a:t>Deleting a node</a:t>
            </a:r>
            <a:endParaRPr lang="en-US" dirty="0"/>
          </a:p>
        </p:txBody>
      </p:sp>
      <p:sp>
        <p:nvSpPr>
          <p:cNvPr id="4" name="Rectangle 3"/>
          <p:cNvSpPr>
            <a:spLocks noGrp="1" noChangeArrowheads="1"/>
          </p:cNvSpPr>
          <p:nvPr>
            <p:ph idx="1"/>
          </p:nvPr>
        </p:nvSpPr>
        <p:spPr>
          <a:xfrm>
            <a:off x="457200" y="1935480"/>
            <a:ext cx="8229600" cy="1036320"/>
          </a:xfrm>
        </p:spPr>
        <p:txBody>
          <a:bodyPr/>
          <a:lstStyle/>
          <a:p>
            <a:pPr eaLnBrk="1" hangingPunct="1">
              <a:buFont typeface="Arial" pitchFamily="34" charset="0"/>
              <a:buChar char="•"/>
            </a:pPr>
            <a:r>
              <a:rPr lang="en-US" sz="2400" dirty="0" smtClean="0">
                <a:solidFill>
                  <a:schemeClr val="accent1">
                    <a:lumMod val="75000"/>
                  </a:schemeClr>
                </a:solidFill>
              </a:rPr>
              <a:t>Node deletion from a DLL involves changing </a:t>
            </a:r>
            <a:r>
              <a:rPr lang="en-US" sz="2400" i="1" dirty="0" smtClean="0">
                <a:solidFill>
                  <a:schemeClr val="accent1">
                    <a:lumMod val="75000"/>
                  </a:schemeClr>
                </a:solidFill>
              </a:rPr>
              <a:t>two</a:t>
            </a:r>
            <a:r>
              <a:rPr lang="en-US" sz="2400" dirty="0" smtClean="0">
                <a:solidFill>
                  <a:schemeClr val="accent1">
                    <a:lumMod val="75000"/>
                  </a:schemeClr>
                </a:solidFill>
              </a:rPr>
              <a:t> links</a:t>
            </a:r>
          </a:p>
          <a:p>
            <a:pPr eaLnBrk="1" hangingPunct="1">
              <a:buFont typeface="Arial" pitchFamily="34" charset="0"/>
              <a:buChar char="•"/>
            </a:pPr>
            <a:r>
              <a:rPr lang="en-US" sz="2400" dirty="0" smtClean="0">
                <a:solidFill>
                  <a:schemeClr val="accent1">
                    <a:lumMod val="75000"/>
                  </a:schemeClr>
                </a:solidFill>
              </a:rPr>
              <a:t>In this </a:t>
            </a:r>
            <a:r>
              <a:rPr lang="en-US" sz="2400" dirty="0" err="1" smtClean="0">
                <a:solidFill>
                  <a:schemeClr val="accent1">
                    <a:lumMod val="75000"/>
                  </a:schemeClr>
                </a:solidFill>
              </a:rPr>
              <a:t>example,we</a:t>
            </a:r>
            <a:r>
              <a:rPr lang="en-US" sz="2400" dirty="0" smtClean="0">
                <a:solidFill>
                  <a:schemeClr val="accent1">
                    <a:lumMod val="75000"/>
                  </a:schemeClr>
                </a:solidFill>
              </a:rPr>
              <a:t> will delete node </a:t>
            </a:r>
            <a:r>
              <a:rPr lang="en-US" sz="2400" dirty="0" smtClean="0">
                <a:solidFill>
                  <a:schemeClr val="accent1">
                    <a:lumMod val="75000"/>
                  </a:schemeClr>
                </a:solidFill>
                <a:latin typeface="Consolas" pitchFamily="49" charset="0"/>
              </a:rPr>
              <a:t>b</a:t>
            </a:r>
          </a:p>
        </p:txBody>
      </p:sp>
      <p:grpSp>
        <p:nvGrpSpPr>
          <p:cNvPr id="5" name="Group 54"/>
          <p:cNvGrpSpPr>
            <a:grpSpLocks/>
          </p:cNvGrpSpPr>
          <p:nvPr/>
        </p:nvGrpSpPr>
        <p:grpSpPr bwMode="auto">
          <a:xfrm>
            <a:off x="685800" y="2971800"/>
            <a:ext cx="7543800" cy="1600200"/>
            <a:chOff x="480" y="2208"/>
            <a:chExt cx="4752" cy="1152"/>
          </a:xfrm>
        </p:grpSpPr>
        <p:grpSp>
          <p:nvGrpSpPr>
            <p:cNvPr id="6" name="Group 6"/>
            <p:cNvGrpSpPr>
              <a:grpSpLocks/>
            </p:cNvGrpSpPr>
            <p:nvPr/>
          </p:nvGrpSpPr>
          <p:grpSpPr bwMode="auto">
            <a:xfrm>
              <a:off x="480" y="2208"/>
              <a:ext cx="816" cy="576"/>
              <a:chOff x="4224" y="960"/>
              <a:chExt cx="528" cy="576"/>
            </a:xfrm>
          </p:grpSpPr>
          <p:sp>
            <p:nvSpPr>
              <p:cNvPr id="42" name="Line 7"/>
              <p:cNvSpPr>
                <a:spLocks noChangeShapeType="1"/>
              </p:cNvSpPr>
              <p:nvPr/>
            </p:nvSpPr>
            <p:spPr bwMode="auto">
              <a:xfrm>
                <a:off x="4512" y="1248"/>
                <a:ext cx="192" cy="288"/>
              </a:xfrm>
              <a:prstGeom prst="line">
                <a:avLst/>
              </a:prstGeom>
              <a:noFill/>
              <a:ln w="28575">
                <a:solidFill>
                  <a:schemeClr val="tx1"/>
                </a:solidFill>
                <a:round/>
                <a:headEnd/>
                <a:tailEnd type="triangle" w="med" len="med"/>
              </a:ln>
            </p:spPr>
            <p:txBody>
              <a:bodyPr wrap="none" anchor="ctr"/>
              <a:lstStyle/>
              <a:p>
                <a:endParaRPr lang="en-US"/>
              </a:p>
            </p:txBody>
          </p:sp>
          <p:sp>
            <p:nvSpPr>
              <p:cNvPr id="43" name="Text Box 8"/>
              <p:cNvSpPr txBox="1">
                <a:spLocks noChangeArrowheads="1"/>
              </p:cNvSpPr>
              <p:nvPr/>
            </p:nvSpPr>
            <p:spPr bwMode="auto">
              <a:xfrm>
                <a:off x="4224" y="960"/>
                <a:ext cx="528" cy="291"/>
              </a:xfrm>
              <a:prstGeom prst="rect">
                <a:avLst/>
              </a:prstGeom>
              <a:noFill/>
              <a:ln w="12700">
                <a:noFill/>
                <a:miter lim="800000"/>
                <a:headEnd/>
                <a:tailEnd/>
              </a:ln>
            </p:spPr>
            <p:txBody>
              <a:bodyPr>
                <a:spAutoFit/>
              </a:bodyPr>
              <a:lstStyle/>
              <a:p>
                <a:pPr>
                  <a:spcBef>
                    <a:spcPct val="50000"/>
                  </a:spcBef>
                </a:pPr>
                <a:r>
                  <a:rPr lang="en-US">
                    <a:solidFill>
                      <a:schemeClr val="accent2"/>
                    </a:solidFill>
                    <a:latin typeface="Consolas" pitchFamily="49" charset="0"/>
                  </a:rPr>
                  <a:t>myDLL</a:t>
                </a:r>
              </a:p>
            </p:txBody>
          </p:sp>
        </p:grpSp>
        <p:sp>
          <p:nvSpPr>
            <p:cNvPr id="7" name="Rectangle 10"/>
            <p:cNvSpPr>
              <a:spLocks noChangeArrowheads="1"/>
            </p:cNvSpPr>
            <p:nvPr/>
          </p:nvSpPr>
          <p:spPr bwMode="auto">
            <a:xfrm>
              <a:off x="1248" y="2784"/>
              <a:ext cx="288" cy="288"/>
            </a:xfrm>
            <a:prstGeom prst="rect">
              <a:avLst/>
            </a:prstGeom>
            <a:noFill/>
            <a:ln w="19050">
              <a:solidFill>
                <a:schemeClr val="tx1"/>
              </a:solidFill>
              <a:miter lim="800000"/>
              <a:headEnd/>
              <a:tailEnd/>
            </a:ln>
          </p:spPr>
          <p:txBody>
            <a:bodyPr wrap="none" anchor="ctr"/>
            <a:lstStyle/>
            <a:p>
              <a:endParaRPr lang="en-US"/>
            </a:p>
          </p:txBody>
        </p:sp>
        <p:sp>
          <p:nvSpPr>
            <p:cNvPr id="8" name="Oval 11"/>
            <p:cNvSpPr>
              <a:spLocks noChangeArrowheads="1"/>
            </p:cNvSpPr>
            <p:nvPr/>
          </p:nvSpPr>
          <p:spPr bwMode="auto">
            <a:xfrm>
              <a:off x="1344" y="2832"/>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9" name="Line 12"/>
            <p:cNvSpPr>
              <a:spLocks noChangeShapeType="1"/>
            </p:cNvSpPr>
            <p:nvPr/>
          </p:nvSpPr>
          <p:spPr bwMode="auto">
            <a:xfrm>
              <a:off x="1392" y="2880"/>
              <a:ext cx="432" cy="0"/>
            </a:xfrm>
            <a:prstGeom prst="line">
              <a:avLst/>
            </a:prstGeom>
            <a:noFill/>
            <a:ln w="19050">
              <a:solidFill>
                <a:schemeClr val="tx1"/>
              </a:solidFill>
              <a:round/>
              <a:headEnd/>
              <a:tailEnd type="triangle" w="lg" len="lg"/>
            </a:ln>
          </p:spPr>
          <p:txBody>
            <a:bodyPr wrap="none" anchor="ctr"/>
            <a:lstStyle/>
            <a:p>
              <a:endParaRPr lang="en-US"/>
            </a:p>
          </p:txBody>
        </p:sp>
        <p:sp>
          <p:nvSpPr>
            <p:cNvPr id="10" name="Rectangle 13"/>
            <p:cNvSpPr>
              <a:spLocks noChangeArrowheads="1"/>
            </p:cNvSpPr>
            <p:nvPr/>
          </p:nvSpPr>
          <p:spPr bwMode="auto">
            <a:xfrm>
              <a:off x="1248" y="3072"/>
              <a:ext cx="288" cy="288"/>
            </a:xfrm>
            <a:prstGeom prst="rect">
              <a:avLst/>
            </a:prstGeom>
            <a:noFill/>
            <a:ln w="19050">
              <a:solidFill>
                <a:schemeClr val="tx1"/>
              </a:solidFill>
              <a:miter lim="800000"/>
              <a:headEnd/>
              <a:tailEnd/>
            </a:ln>
          </p:spPr>
          <p:txBody>
            <a:bodyPr wrap="none" anchor="ctr"/>
            <a:lstStyle/>
            <a:p>
              <a:endParaRPr lang="en-US"/>
            </a:p>
          </p:txBody>
        </p:sp>
        <p:sp>
          <p:nvSpPr>
            <p:cNvPr id="11" name="Oval 14"/>
            <p:cNvSpPr>
              <a:spLocks noChangeArrowheads="1"/>
            </p:cNvSpPr>
            <p:nvPr/>
          </p:nvSpPr>
          <p:spPr bwMode="auto">
            <a:xfrm>
              <a:off x="1344" y="3168"/>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12" name="Line 15"/>
            <p:cNvSpPr>
              <a:spLocks noChangeShapeType="1"/>
            </p:cNvSpPr>
            <p:nvPr/>
          </p:nvSpPr>
          <p:spPr bwMode="auto">
            <a:xfrm>
              <a:off x="1392" y="3216"/>
              <a:ext cx="2016" cy="0"/>
            </a:xfrm>
            <a:prstGeom prst="line">
              <a:avLst/>
            </a:prstGeom>
            <a:noFill/>
            <a:ln w="19050">
              <a:solidFill>
                <a:schemeClr val="accent2"/>
              </a:solidFill>
              <a:round/>
              <a:headEnd/>
              <a:tailEnd type="none" w="lg" len="lg"/>
            </a:ln>
          </p:spPr>
          <p:txBody>
            <a:bodyPr wrap="none" anchor="ctr"/>
            <a:lstStyle/>
            <a:p>
              <a:endParaRPr lang="en-US"/>
            </a:p>
          </p:txBody>
        </p:sp>
        <p:grpSp>
          <p:nvGrpSpPr>
            <p:cNvPr id="13" name="Group 17"/>
            <p:cNvGrpSpPr>
              <a:grpSpLocks/>
            </p:cNvGrpSpPr>
            <p:nvPr/>
          </p:nvGrpSpPr>
          <p:grpSpPr bwMode="auto">
            <a:xfrm>
              <a:off x="1824" y="2784"/>
              <a:ext cx="864" cy="288"/>
              <a:chOff x="1824" y="3840"/>
              <a:chExt cx="864" cy="288"/>
            </a:xfrm>
          </p:grpSpPr>
          <p:sp>
            <p:nvSpPr>
              <p:cNvPr id="39" name="Rectangle 18"/>
              <p:cNvSpPr>
                <a:spLocks noChangeArrowheads="1"/>
              </p:cNvSpPr>
              <p:nvPr/>
            </p:nvSpPr>
            <p:spPr bwMode="auto">
              <a:xfrm>
                <a:off x="1824" y="3840"/>
                <a:ext cx="288" cy="288"/>
              </a:xfrm>
              <a:prstGeom prst="rect">
                <a:avLst/>
              </a:prstGeom>
              <a:noFill/>
              <a:ln w="19050">
                <a:solidFill>
                  <a:schemeClr val="tx1"/>
                </a:solidFill>
                <a:miter lim="800000"/>
                <a:headEnd/>
                <a:tailEnd/>
              </a:ln>
            </p:spPr>
            <p:txBody>
              <a:bodyPr wrap="none" anchor="ctr"/>
              <a:lstStyle/>
              <a:p>
                <a:endParaRPr lang="en-US"/>
              </a:p>
            </p:txBody>
          </p:sp>
          <p:sp>
            <p:nvSpPr>
              <p:cNvPr id="40" name="Rectangle 19"/>
              <p:cNvSpPr>
                <a:spLocks noChangeArrowheads="1"/>
              </p:cNvSpPr>
              <p:nvPr/>
            </p:nvSpPr>
            <p:spPr bwMode="auto">
              <a:xfrm>
                <a:off x="2400" y="3840"/>
                <a:ext cx="288" cy="288"/>
              </a:xfrm>
              <a:prstGeom prst="rect">
                <a:avLst/>
              </a:prstGeom>
              <a:noFill/>
              <a:ln w="19050">
                <a:solidFill>
                  <a:schemeClr val="tx1"/>
                </a:solidFill>
                <a:miter lim="800000"/>
                <a:headEnd/>
                <a:tailEnd/>
              </a:ln>
            </p:spPr>
            <p:txBody>
              <a:bodyPr wrap="none" anchor="ctr"/>
              <a:lstStyle/>
              <a:p>
                <a:endParaRPr lang="en-US"/>
              </a:p>
            </p:txBody>
          </p:sp>
          <p:sp>
            <p:nvSpPr>
              <p:cNvPr id="41" name="Rectangle 20"/>
              <p:cNvSpPr>
                <a:spLocks noChangeArrowheads="1"/>
              </p:cNvSpPr>
              <p:nvPr/>
            </p:nvSpPr>
            <p:spPr bwMode="auto">
              <a:xfrm>
                <a:off x="2112" y="3840"/>
                <a:ext cx="288" cy="288"/>
              </a:xfrm>
              <a:prstGeom prst="rect">
                <a:avLst/>
              </a:prstGeom>
              <a:noFill/>
              <a:ln w="19050">
                <a:solidFill>
                  <a:schemeClr val="tx1"/>
                </a:solidFill>
                <a:miter lim="800000"/>
                <a:headEnd/>
                <a:tailEnd/>
              </a:ln>
            </p:spPr>
            <p:txBody>
              <a:bodyPr wrap="none" anchor="ctr"/>
              <a:lstStyle/>
              <a:p>
                <a:endParaRPr lang="en-US"/>
              </a:p>
            </p:txBody>
          </p:sp>
        </p:grpSp>
        <p:grpSp>
          <p:nvGrpSpPr>
            <p:cNvPr id="14" name="Group 21"/>
            <p:cNvGrpSpPr>
              <a:grpSpLocks/>
            </p:cNvGrpSpPr>
            <p:nvPr/>
          </p:nvGrpSpPr>
          <p:grpSpPr bwMode="auto">
            <a:xfrm>
              <a:off x="2496" y="2832"/>
              <a:ext cx="480" cy="96"/>
              <a:chOff x="2496" y="3888"/>
              <a:chExt cx="480" cy="96"/>
            </a:xfrm>
          </p:grpSpPr>
          <p:sp>
            <p:nvSpPr>
              <p:cNvPr id="37" name="Oval 22"/>
              <p:cNvSpPr>
                <a:spLocks noChangeArrowheads="1"/>
              </p:cNvSpPr>
              <p:nvPr/>
            </p:nvSpPr>
            <p:spPr bwMode="auto">
              <a:xfrm>
                <a:off x="2496" y="3888"/>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38" name="Line 23"/>
              <p:cNvSpPr>
                <a:spLocks noChangeShapeType="1"/>
              </p:cNvSpPr>
              <p:nvPr/>
            </p:nvSpPr>
            <p:spPr bwMode="auto">
              <a:xfrm>
                <a:off x="2544" y="3936"/>
                <a:ext cx="432" cy="0"/>
              </a:xfrm>
              <a:prstGeom prst="line">
                <a:avLst/>
              </a:prstGeom>
              <a:noFill/>
              <a:ln w="19050">
                <a:solidFill>
                  <a:schemeClr val="tx1"/>
                </a:solidFill>
                <a:round/>
                <a:headEnd/>
                <a:tailEnd type="triangle" w="lg" len="lg"/>
              </a:ln>
            </p:spPr>
            <p:txBody>
              <a:bodyPr wrap="none" anchor="ctr"/>
              <a:lstStyle/>
              <a:p>
                <a:endParaRPr lang="en-US"/>
              </a:p>
            </p:txBody>
          </p:sp>
        </p:grpSp>
        <p:sp>
          <p:nvSpPr>
            <p:cNvPr id="15" name="Oval 24"/>
            <p:cNvSpPr>
              <a:spLocks noChangeArrowheads="1"/>
            </p:cNvSpPr>
            <p:nvPr/>
          </p:nvSpPr>
          <p:spPr bwMode="auto">
            <a:xfrm>
              <a:off x="1920" y="2928"/>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16" name="Rectangle 26"/>
            <p:cNvSpPr>
              <a:spLocks noChangeArrowheads="1"/>
            </p:cNvSpPr>
            <p:nvPr/>
          </p:nvSpPr>
          <p:spPr bwMode="auto">
            <a:xfrm>
              <a:off x="2976" y="2784"/>
              <a:ext cx="288" cy="288"/>
            </a:xfrm>
            <a:prstGeom prst="rect">
              <a:avLst/>
            </a:prstGeom>
            <a:noFill/>
            <a:ln w="19050">
              <a:solidFill>
                <a:schemeClr val="tx1"/>
              </a:solidFill>
              <a:miter lim="800000"/>
              <a:headEnd/>
              <a:tailEnd/>
            </a:ln>
          </p:spPr>
          <p:txBody>
            <a:bodyPr wrap="none" anchor="ctr"/>
            <a:lstStyle/>
            <a:p>
              <a:endParaRPr lang="en-US"/>
            </a:p>
          </p:txBody>
        </p:sp>
        <p:sp>
          <p:nvSpPr>
            <p:cNvPr id="17" name="Rectangle 27"/>
            <p:cNvSpPr>
              <a:spLocks noChangeArrowheads="1"/>
            </p:cNvSpPr>
            <p:nvPr/>
          </p:nvSpPr>
          <p:spPr bwMode="auto">
            <a:xfrm>
              <a:off x="3552" y="2784"/>
              <a:ext cx="288" cy="288"/>
            </a:xfrm>
            <a:prstGeom prst="rect">
              <a:avLst/>
            </a:prstGeom>
            <a:noFill/>
            <a:ln w="19050">
              <a:solidFill>
                <a:schemeClr val="tx1"/>
              </a:solidFill>
              <a:miter lim="800000"/>
              <a:headEnd/>
              <a:tailEnd/>
            </a:ln>
          </p:spPr>
          <p:txBody>
            <a:bodyPr wrap="none" anchor="ctr"/>
            <a:lstStyle/>
            <a:p>
              <a:endParaRPr lang="en-US"/>
            </a:p>
          </p:txBody>
        </p:sp>
        <p:sp>
          <p:nvSpPr>
            <p:cNvPr id="18" name="Rectangle 28"/>
            <p:cNvSpPr>
              <a:spLocks noChangeArrowheads="1"/>
            </p:cNvSpPr>
            <p:nvPr/>
          </p:nvSpPr>
          <p:spPr bwMode="auto">
            <a:xfrm>
              <a:off x="3264" y="2784"/>
              <a:ext cx="288" cy="288"/>
            </a:xfrm>
            <a:prstGeom prst="rect">
              <a:avLst/>
            </a:prstGeom>
            <a:noFill/>
            <a:ln w="19050">
              <a:solidFill>
                <a:schemeClr val="tx1"/>
              </a:solidFill>
              <a:miter lim="800000"/>
              <a:headEnd/>
              <a:tailEnd/>
            </a:ln>
          </p:spPr>
          <p:txBody>
            <a:bodyPr wrap="none" anchor="ctr"/>
            <a:lstStyle/>
            <a:p>
              <a:endParaRPr lang="en-US"/>
            </a:p>
          </p:txBody>
        </p:sp>
        <p:sp>
          <p:nvSpPr>
            <p:cNvPr id="19" name="Oval 29"/>
            <p:cNvSpPr>
              <a:spLocks noChangeArrowheads="1"/>
            </p:cNvSpPr>
            <p:nvPr/>
          </p:nvSpPr>
          <p:spPr bwMode="auto">
            <a:xfrm>
              <a:off x="3648" y="2832"/>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20" name="Oval 30"/>
            <p:cNvSpPr>
              <a:spLocks noChangeArrowheads="1"/>
            </p:cNvSpPr>
            <p:nvPr/>
          </p:nvSpPr>
          <p:spPr bwMode="auto">
            <a:xfrm>
              <a:off x="3072" y="2928"/>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21" name="Line 31"/>
            <p:cNvSpPr>
              <a:spLocks noChangeShapeType="1"/>
            </p:cNvSpPr>
            <p:nvPr/>
          </p:nvSpPr>
          <p:spPr bwMode="auto">
            <a:xfrm>
              <a:off x="3696" y="2880"/>
              <a:ext cx="432" cy="0"/>
            </a:xfrm>
            <a:prstGeom prst="line">
              <a:avLst/>
            </a:prstGeom>
            <a:noFill/>
            <a:ln w="19050">
              <a:solidFill>
                <a:schemeClr val="tx1"/>
              </a:solidFill>
              <a:round/>
              <a:headEnd/>
              <a:tailEnd type="triangle" w="lg" len="lg"/>
            </a:ln>
          </p:spPr>
          <p:txBody>
            <a:bodyPr wrap="none" anchor="ctr"/>
            <a:lstStyle/>
            <a:p>
              <a:endParaRPr lang="en-US"/>
            </a:p>
          </p:txBody>
        </p:sp>
        <p:sp>
          <p:nvSpPr>
            <p:cNvPr id="22" name="Line 32"/>
            <p:cNvSpPr>
              <a:spLocks noChangeShapeType="1"/>
            </p:cNvSpPr>
            <p:nvPr/>
          </p:nvSpPr>
          <p:spPr bwMode="auto">
            <a:xfrm flipH="1">
              <a:off x="2688" y="2975"/>
              <a:ext cx="432" cy="1"/>
            </a:xfrm>
            <a:prstGeom prst="line">
              <a:avLst/>
            </a:prstGeom>
            <a:noFill/>
            <a:ln w="19050">
              <a:solidFill>
                <a:schemeClr val="accent2"/>
              </a:solidFill>
              <a:round/>
              <a:headEnd/>
              <a:tailEnd type="triangle" w="lg" len="lg"/>
            </a:ln>
          </p:spPr>
          <p:txBody>
            <a:bodyPr wrap="none" anchor="ctr"/>
            <a:lstStyle/>
            <a:p>
              <a:endParaRPr lang="en-US"/>
            </a:p>
          </p:txBody>
        </p:sp>
        <p:grpSp>
          <p:nvGrpSpPr>
            <p:cNvPr id="23" name="Group 34"/>
            <p:cNvGrpSpPr>
              <a:grpSpLocks/>
            </p:cNvGrpSpPr>
            <p:nvPr/>
          </p:nvGrpSpPr>
          <p:grpSpPr bwMode="auto">
            <a:xfrm>
              <a:off x="4128" y="2784"/>
              <a:ext cx="864" cy="288"/>
              <a:chOff x="1824" y="3840"/>
              <a:chExt cx="864" cy="288"/>
            </a:xfrm>
          </p:grpSpPr>
          <p:sp>
            <p:nvSpPr>
              <p:cNvPr id="34" name="Rectangle 35"/>
              <p:cNvSpPr>
                <a:spLocks noChangeArrowheads="1"/>
              </p:cNvSpPr>
              <p:nvPr/>
            </p:nvSpPr>
            <p:spPr bwMode="auto">
              <a:xfrm>
                <a:off x="1824" y="3840"/>
                <a:ext cx="288" cy="288"/>
              </a:xfrm>
              <a:prstGeom prst="rect">
                <a:avLst/>
              </a:prstGeom>
              <a:noFill/>
              <a:ln w="19050">
                <a:solidFill>
                  <a:schemeClr val="tx1"/>
                </a:solidFill>
                <a:miter lim="800000"/>
                <a:headEnd/>
                <a:tailEnd/>
              </a:ln>
            </p:spPr>
            <p:txBody>
              <a:bodyPr wrap="none" anchor="ctr"/>
              <a:lstStyle/>
              <a:p>
                <a:endParaRPr lang="en-US"/>
              </a:p>
            </p:txBody>
          </p:sp>
          <p:sp>
            <p:nvSpPr>
              <p:cNvPr id="35" name="Rectangle 36"/>
              <p:cNvSpPr>
                <a:spLocks noChangeArrowheads="1"/>
              </p:cNvSpPr>
              <p:nvPr/>
            </p:nvSpPr>
            <p:spPr bwMode="auto">
              <a:xfrm>
                <a:off x="2400" y="3840"/>
                <a:ext cx="288" cy="288"/>
              </a:xfrm>
              <a:prstGeom prst="rect">
                <a:avLst/>
              </a:prstGeom>
              <a:noFill/>
              <a:ln w="19050">
                <a:solidFill>
                  <a:schemeClr val="tx1"/>
                </a:solidFill>
                <a:miter lim="800000"/>
                <a:headEnd/>
                <a:tailEnd/>
              </a:ln>
            </p:spPr>
            <p:txBody>
              <a:bodyPr wrap="none" anchor="ctr"/>
              <a:lstStyle/>
              <a:p>
                <a:endParaRPr lang="en-US"/>
              </a:p>
            </p:txBody>
          </p:sp>
          <p:sp>
            <p:nvSpPr>
              <p:cNvPr id="36" name="Rectangle 37"/>
              <p:cNvSpPr>
                <a:spLocks noChangeArrowheads="1"/>
              </p:cNvSpPr>
              <p:nvPr/>
            </p:nvSpPr>
            <p:spPr bwMode="auto">
              <a:xfrm>
                <a:off x="2112" y="3840"/>
                <a:ext cx="288" cy="288"/>
              </a:xfrm>
              <a:prstGeom prst="rect">
                <a:avLst/>
              </a:prstGeom>
              <a:noFill/>
              <a:ln w="19050">
                <a:solidFill>
                  <a:schemeClr val="tx1"/>
                </a:solidFill>
                <a:miter lim="800000"/>
                <a:headEnd/>
                <a:tailEnd/>
              </a:ln>
            </p:spPr>
            <p:txBody>
              <a:bodyPr wrap="none" anchor="ctr"/>
              <a:lstStyle/>
              <a:p>
                <a:endParaRPr lang="en-US"/>
              </a:p>
            </p:txBody>
          </p:sp>
        </p:grpSp>
        <p:grpSp>
          <p:nvGrpSpPr>
            <p:cNvPr id="24" name="Group 38"/>
            <p:cNvGrpSpPr>
              <a:grpSpLocks/>
            </p:cNvGrpSpPr>
            <p:nvPr/>
          </p:nvGrpSpPr>
          <p:grpSpPr bwMode="auto">
            <a:xfrm>
              <a:off x="3840" y="2928"/>
              <a:ext cx="480" cy="96"/>
              <a:chOff x="1536" y="3984"/>
              <a:chExt cx="480" cy="96"/>
            </a:xfrm>
          </p:grpSpPr>
          <p:sp>
            <p:nvSpPr>
              <p:cNvPr id="32" name="Oval 39"/>
              <p:cNvSpPr>
                <a:spLocks noChangeArrowheads="1"/>
              </p:cNvSpPr>
              <p:nvPr/>
            </p:nvSpPr>
            <p:spPr bwMode="auto">
              <a:xfrm>
                <a:off x="1920" y="3984"/>
                <a:ext cx="96" cy="96"/>
              </a:xfrm>
              <a:prstGeom prst="ellipse">
                <a:avLst/>
              </a:prstGeom>
              <a:solidFill>
                <a:srgbClr val="3333FF"/>
              </a:solidFill>
              <a:ln w="19050">
                <a:solidFill>
                  <a:schemeClr val="accent2"/>
                </a:solidFill>
                <a:round/>
                <a:headEnd/>
                <a:tailEnd/>
              </a:ln>
            </p:spPr>
            <p:txBody>
              <a:bodyPr wrap="none" anchor="ctr"/>
              <a:lstStyle/>
              <a:p>
                <a:endParaRPr lang="en-US"/>
              </a:p>
            </p:txBody>
          </p:sp>
          <p:sp>
            <p:nvSpPr>
              <p:cNvPr id="33" name="Line 40"/>
              <p:cNvSpPr>
                <a:spLocks noChangeShapeType="1"/>
              </p:cNvSpPr>
              <p:nvPr/>
            </p:nvSpPr>
            <p:spPr bwMode="auto">
              <a:xfrm flipH="1">
                <a:off x="1536" y="4031"/>
                <a:ext cx="432" cy="1"/>
              </a:xfrm>
              <a:prstGeom prst="line">
                <a:avLst/>
              </a:prstGeom>
              <a:noFill/>
              <a:ln w="19050">
                <a:solidFill>
                  <a:schemeClr val="accent2"/>
                </a:solidFill>
                <a:round/>
                <a:headEnd/>
                <a:tailEnd type="triangle" w="lg" len="lg"/>
              </a:ln>
            </p:spPr>
            <p:txBody>
              <a:bodyPr wrap="none" anchor="ctr"/>
              <a:lstStyle/>
              <a:p>
                <a:endParaRPr lang="en-US"/>
              </a:p>
            </p:txBody>
          </p:sp>
        </p:grpSp>
        <p:sp>
          <p:nvSpPr>
            <p:cNvPr id="25" name="Oval 41"/>
            <p:cNvSpPr>
              <a:spLocks noChangeArrowheads="1"/>
            </p:cNvSpPr>
            <p:nvPr/>
          </p:nvSpPr>
          <p:spPr bwMode="auto">
            <a:xfrm>
              <a:off x="4800" y="2832"/>
              <a:ext cx="96" cy="96"/>
            </a:xfrm>
            <a:prstGeom prst="ellipse">
              <a:avLst/>
            </a:prstGeom>
            <a:solidFill>
              <a:schemeClr val="tx1"/>
            </a:solidFill>
            <a:ln w="19050">
              <a:solidFill>
                <a:schemeClr val="tx1"/>
              </a:solidFill>
              <a:round/>
              <a:headEnd/>
              <a:tailEnd/>
            </a:ln>
          </p:spPr>
          <p:txBody>
            <a:bodyPr wrap="none" anchor="ctr"/>
            <a:lstStyle/>
            <a:p>
              <a:endParaRPr lang="en-US"/>
            </a:p>
          </p:txBody>
        </p:sp>
        <p:sp>
          <p:nvSpPr>
            <p:cNvPr id="26" name="Freeform 43"/>
            <p:cNvSpPr>
              <a:spLocks/>
            </p:cNvSpPr>
            <p:nvPr/>
          </p:nvSpPr>
          <p:spPr bwMode="auto">
            <a:xfrm>
              <a:off x="5002" y="2976"/>
              <a:ext cx="230" cy="240"/>
            </a:xfrm>
            <a:custGeom>
              <a:avLst/>
              <a:gdLst>
                <a:gd name="T0" fmla="*/ 0 w 230"/>
                <a:gd name="T1" fmla="*/ 240 h 240"/>
                <a:gd name="T2" fmla="*/ 192 w 230"/>
                <a:gd name="T3" fmla="*/ 192 h 240"/>
                <a:gd name="T4" fmla="*/ 198 w 230"/>
                <a:gd name="T5" fmla="*/ 60 h 240"/>
                <a:gd name="T6" fmla="*/ 0 w 230"/>
                <a:gd name="T7" fmla="*/ 0 h 240"/>
                <a:gd name="T8" fmla="*/ 0 60000 65536"/>
                <a:gd name="T9" fmla="*/ 0 60000 65536"/>
                <a:gd name="T10" fmla="*/ 0 60000 65536"/>
                <a:gd name="T11" fmla="*/ 0 60000 65536"/>
                <a:gd name="T12" fmla="*/ 0 w 230"/>
                <a:gd name="T13" fmla="*/ 0 h 240"/>
                <a:gd name="T14" fmla="*/ 230 w 230"/>
                <a:gd name="T15" fmla="*/ 240 h 240"/>
              </a:gdLst>
              <a:ahLst/>
              <a:cxnLst>
                <a:cxn ang="T8">
                  <a:pos x="T0" y="T1"/>
                </a:cxn>
                <a:cxn ang="T9">
                  <a:pos x="T2" y="T3"/>
                </a:cxn>
                <a:cxn ang="T10">
                  <a:pos x="T4" y="T5"/>
                </a:cxn>
                <a:cxn ang="T11">
                  <a:pos x="T6" y="T7"/>
                </a:cxn>
              </a:cxnLst>
              <a:rect l="T12" t="T13" r="T14" b="T15"/>
              <a:pathLst>
                <a:path w="230" h="240">
                  <a:moveTo>
                    <a:pt x="0" y="240"/>
                  </a:moveTo>
                  <a:cubicBezTo>
                    <a:pt x="80" y="228"/>
                    <a:pt x="159" y="222"/>
                    <a:pt x="192" y="192"/>
                  </a:cubicBezTo>
                  <a:cubicBezTo>
                    <a:pt x="225" y="162"/>
                    <a:pt x="230" y="92"/>
                    <a:pt x="198" y="60"/>
                  </a:cubicBezTo>
                  <a:cubicBezTo>
                    <a:pt x="166" y="28"/>
                    <a:pt x="41" y="12"/>
                    <a:pt x="0" y="0"/>
                  </a:cubicBezTo>
                </a:path>
              </a:pathLst>
            </a:custGeom>
            <a:noFill/>
            <a:ln w="19050" cap="flat" cmpd="sng">
              <a:solidFill>
                <a:schemeClr val="accent2"/>
              </a:solidFill>
              <a:prstDash val="solid"/>
              <a:round/>
              <a:headEnd type="none" w="med" len="med"/>
              <a:tailEnd type="triangle" w="lg" len="lg"/>
            </a:ln>
          </p:spPr>
          <p:txBody>
            <a:bodyPr wrap="none" anchor="ctr"/>
            <a:lstStyle/>
            <a:p>
              <a:endParaRPr lang="en-US"/>
            </a:p>
          </p:txBody>
        </p:sp>
        <p:sp>
          <p:nvSpPr>
            <p:cNvPr id="27" name="Line 44"/>
            <p:cNvSpPr>
              <a:spLocks noChangeShapeType="1"/>
            </p:cNvSpPr>
            <p:nvPr/>
          </p:nvSpPr>
          <p:spPr bwMode="auto">
            <a:xfrm flipH="1">
              <a:off x="4858" y="3216"/>
              <a:ext cx="192" cy="0"/>
            </a:xfrm>
            <a:prstGeom prst="line">
              <a:avLst/>
            </a:prstGeom>
            <a:noFill/>
            <a:ln w="19050">
              <a:solidFill>
                <a:schemeClr val="accent2"/>
              </a:solidFill>
              <a:round/>
              <a:headEnd/>
              <a:tailEnd/>
            </a:ln>
          </p:spPr>
          <p:txBody>
            <a:bodyPr wrap="none" anchor="ctr"/>
            <a:lstStyle/>
            <a:p>
              <a:endParaRPr lang="en-US"/>
            </a:p>
          </p:txBody>
        </p:sp>
        <p:sp>
          <p:nvSpPr>
            <p:cNvPr id="28" name="Line 45"/>
            <p:cNvSpPr>
              <a:spLocks noChangeShapeType="1"/>
            </p:cNvSpPr>
            <p:nvPr/>
          </p:nvSpPr>
          <p:spPr bwMode="auto">
            <a:xfrm>
              <a:off x="3408" y="3216"/>
              <a:ext cx="1440" cy="0"/>
            </a:xfrm>
            <a:prstGeom prst="line">
              <a:avLst/>
            </a:prstGeom>
            <a:noFill/>
            <a:ln w="19050">
              <a:solidFill>
                <a:schemeClr val="accent2"/>
              </a:solidFill>
              <a:round/>
              <a:headEnd/>
              <a:tailEnd/>
            </a:ln>
          </p:spPr>
          <p:txBody>
            <a:bodyPr/>
            <a:lstStyle/>
            <a:p>
              <a:endParaRPr lang="en-US"/>
            </a:p>
          </p:txBody>
        </p:sp>
        <p:sp>
          <p:nvSpPr>
            <p:cNvPr id="29" name="Rectangle 46"/>
            <p:cNvSpPr>
              <a:spLocks noChangeArrowheads="1"/>
            </p:cNvSpPr>
            <p:nvPr/>
          </p:nvSpPr>
          <p:spPr bwMode="auto">
            <a:xfrm>
              <a:off x="2112" y="2782"/>
              <a:ext cx="288" cy="290"/>
            </a:xfrm>
            <a:prstGeom prst="rect">
              <a:avLst/>
            </a:prstGeom>
            <a:noFill/>
            <a:ln w="12700">
              <a:solidFill>
                <a:schemeClr val="tx1"/>
              </a:solidFill>
              <a:miter lim="800000"/>
              <a:headEnd/>
              <a:tailEnd/>
            </a:ln>
          </p:spPr>
          <p:txBody>
            <a:bodyPr wrap="none" anchor="ctr"/>
            <a:lstStyle/>
            <a:p>
              <a:pPr algn="ctr"/>
              <a:r>
                <a:rPr lang="en-US">
                  <a:latin typeface="Consolas" pitchFamily="49" charset="0"/>
                </a:rPr>
                <a:t>a</a:t>
              </a:r>
              <a:endParaRPr lang="en-US">
                <a:latin typeface="Times New Roman" pitchFamily="18" charset="0"/>
              </a:endParaRPr>
            </a:p>
          </p:txBody>
        </p:sp>
        <p:sp>
          <p:nvSpPr>
            <p:cNvPr id="30" name="Rectangle 47"/>
            <p:cNvSpPr>
              <a:spLocks noChangeArrowheads="1"/>
            </p:cNvSpPr>
            <p:nvPr/>
          </p:nvSpPr>
          <p:spPr bwMode="auto">
            <a:xfrm>
              <a:off x="3264" y="2782"/>
              <a:ext cx="288" cy="290"/>
            </a:xfrm>
            <a:prstGeom prst="rect">
              <a:avLst/>
            </a:prstGeom>
            <a:noFill/>
            <a:ln w="12700">
              <a:solidFill>
                <a:schemeClr val="tx1"/>
              </a:solidFill>
              <a:miter lim="800000"/>
              <a:headEnd/>
              <a:tailEnd/>
            </a:ln>
          </p:spPr>
          <p:txBody>
            <a:bodyPr wrap="none" anchor="ctr"/>
            <a:lstStyle/>
            <a:p>
              <a:pPr algn="ctr"/>
              <a:r>
                <a:rPr lang="en-US">
                  <a:latin typeface="Consolas" pitchFamily="49" charset="0"/>
                </a:rPr>
                <a:t>b</a:t>
              </a:r>
              <a:endParaRPr lang="en-US">
                <a:latin typeface="Times New Roman" pitchFamily="18" charset="0"/>
              </a:endParaRPr>
            </a:p>
          </p:txBody>
        </p:sp>
        <p:sp>
          <p:nvSpPr>
            <p:cNvPr id="31" name="Rectangle 48"/>
            <p:cNvSpPr>
              <a:spLocks noChangeArrowheads="1"/>
            </p:cNvSpPr>
            <p:nvPr/>
          </p:nvSpPr>
          <p:spPr bwMode="auto">
            <a:xfrm>
              <a:off x="4416" y="2784"/>
              <a:ext cx="288" cy="290"/>
            </a:xfrm>
            <a:prstGeom prst="rect">
              <a:avLst/>
            </a:prstGeom>
            <a:noFill/>
            <a:ln w="12700">
              <a:solidFill>
                <a:schemeClr val="tx1"/>
              </a:solidFill>
              <a:miter lim="800000"/>
              <a:headEnd/>
              <a:tailEnd/>
            </a:ln>
          </p:spPr>
          <p:txBody>
            <a:bodyPr wrap="none" anchor="ctr"/>
            <a:lstStyle/>
            <a:p>
              <a:pPr algn="ctr"/>
              <a:r>
                <a:rPr lang="en-US">
                  <a:latin typeface="Consolas" pitchFamily="49" charset="0"/>
                </a:rPr>
                <a:t>c</a:t>
              </a:r>
              <a:endParaRPr lang="en-US">
                <a:latin typeface="Times New Roman" pitchFamily="18" charset="0"/>
              </a:endParaRPr>
            </a:p>
          </p:txBody>
        </p:sp>
      </p:grpSp>
      <p:sp>
        <p:nvSpPr>
          <p:cNvPr id="83" name="Rectangle 4"/>
          <p:cNvSpPr txBox="1">
            <a:spLocks noChangeArrowheads="1"/>
          </p:cNvSpPr>
          <p:nvPr/>
        </p:nvSpPr>
        <p:spPr>
          <a:xfrm>
            <a:off x="685800" y="4800600"/>
            <a:ext cx="7772400" cy="1676400"/>
          </a:xfrm>
          <a:prstGeom prst="rect">
            <a:avLst/>
          </a:prstGeom>
        </p:spPr>
        <p:txBody>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kumimoji="0" lang="en-US" sz="2400" b="0" i="0" u="none" strike="noStrike" kern="1200" cap="none" spc="0" normalizeH="0" baseline="0" noProof="0" dirty="0" smtClean="0">
                <a:ln>
                  <a:noFill/>
                </a:ln>
                <a:solidFill>
                  <a:schemeClr val="accent1">
                    <a:lumMod val="75000"/>
                  </a:schemeClr>
                </a:solidFill>
                <a:effectLst/>
                <a:uLnTx/>
                <a:uFillTx/>
                <a:latin typeface="+mn-lt"/>
                <a:ea typeface="+mn-ea"/>
                <a:cs typeface="+mn-cs"/>
              </a:rPr>
              <a:t>We don</a:t>
            </a:r>
            <a:r>
              <a:rPr kumimoji="0" lang="ja-JP" altLang="en-US" sz="2400" b="0" i="0" u="none" strike="noStrike" kern="1200" cap="none" spc="0" normalizeH="0" baseline="0" noProof="0" smtClean="0">
                <a:ln>
                  <a:noFill/>
                </a:ln>
                <a:solidFill>
                  <a:schemeClr val="accent1">
                    <a:lumMod val="75000"/>
                  </a:schemeClr>
                </a:solidFill>
                <a:effectLst/>
                <a:uLnTx/>
                <a:uFillTx/>
                <a:latin typeface="+mn-lt"/>
                <a:ea typeface="+mn-ea"/>
                <a:cs typeface="+mn-cs"/>
              </a:rPr>
              <a:t>’</a:t>
            </a:r>
            <a:r>
              <a:rPr kumimoji="0" lang="en-US" altLang="ja-JP" sz="2400" b="0" i="0" u="none" strike="noStrike" kern="1200" cap="none" spc="0" normalizeH="0" baseline="0" noProof="0" dirty="0" smtClean="0">
                <a:ln>
                  <a:noFill/>
                </a:ln>
                <a:solidFill>
                  <a:schemeClr val="accent1">
                    <a:lumMod val="75000"/>
                  </a:schemeClr>
                </a:solidFill>
                <a:effectLst/>
                <a:uLnTx/>
                <a:uFillTx/>
                <a:latin typeface="+mn-lt"/>
                <a:ea typeface="+mn-ea"/>
                <a:cs typeface="+mn-cs"/>
              </a:rPr>
              <a:t>t have to do anything about the links in node </a:t>
            </a:r>
            <a:r>
              <a:rPr kumimoji="0" lang="en-US" altLang="ja-JP" sz="2400" b="0" i="0" u="none" strike="noStrike" kern="1200" cap="none" spc="0" normalizeH="0" baseline="0" noProof="0" dirty="0" smtClean="0">
                <a:ln>
                  <a:noFill/>
                </a:ln>
                <a:solidFill>
                  <a:schemeClr val="accent1">
                    <a:lumMod val="75000"/>
                  </a:schemeClr>
                </a:solidFill>
                <a:effectLst/>
                <a:uLnTx/>
                <a:uFillTx/>
                <a:latin typeface="Consolas" pitchFamily="49" charset="0"/>
                <a:ea typeface="+mn-ea"/>
                <a:cs typeface="+mn-cs"/>
              </a:rPr>
              <a:t>b</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kumimoji="0" lang="en-US" sz="2400" b="0" i="0" u="none" strike="noStrike" kern="1200" cap="none" spc="0" normalizeH="0" baseline="0" noProof="0" dirty="0" smtClean="0">
                <a:ln>
                  <a:noFill/>
                </a:ln>
                <a:solidFill>
                  <a:schemeClr val="accent1">
                    <a:lumMod val="75000"/>
                  </a:schemeClr>
                </a:solidFill>
                <a:effectLst/>
                <a:uLnTx/>
                <a:uFillTx/>
                <a:latin typeface="+mn-lt"/>
                <a:ea typeface="+mn-ea"/>
                <a:cs typeface="+mn-cs"/>
              </a:rPr>
              <a:t>Garbage collection will take care of deleted nodes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Arial" pitchFamily="34" charset="0"/>
              <a:buChar char="•"/>
              <a:tabLst/>
              <a:defRPr/>
            </a:pPr>
            <a:r>
              <a:rPr kumimoji="0" lang="en-US" sz="2400" b="0" i="0" u="none" strike="noStrike" kern="1200" cap="none" spc="0" normalizeH="0" baseline="0" noProof="0" dirty="0" smtClean="0">
                <a:ln>
                  <a:noFill/>
                </a:ln>
                <a:solidFill>
                  <a:schemeClr val="accent1">
                    <a:lumMod val="75000"/>
                  </a:schemeClr>
                </a:solidFill>
                <a:effectLst/>
                <a:uLnTx/>
                <a:uFillTx/>
                <a:latin typeface="+mn-lt"/>
                <a:ea typeface="+mn-ea"/>
                <a:cs typeface="+mn-cs"/>
              </a:rPr>
              <a:t>Deletion of the first node or the last node is a special case</a:t>
            </a:r>
          </a:p>
        </p:txBody>
      </p:sp>
      <p:sp>
        <p:nvSpPr>
          <p:cNvPr id="84" name="Freeform 53"/>
          <p:cNvSpPr>
            <a:spLocks/>
          </p:cNvSpPr>
          <p:nvPr/>
        </p:nvSpPr>
        <p:spPr bwMode="auto">
          <a:xfrm>
            <a:off x="4114800" y="4038600"/>
            <a:ext cx="2524125" cy="303213"/>
          </a:xfrm>
          <a:custGeom>
            <a:avLst/>
            <a:gdLst>
              <a:gd name="T0" fmla="*/ 2147483647 w 1590"/>
              <a:gd name="T1" fmla="*/ 2147483647 h 191"/>
              <a:gd name="T2" fmla="*/ 2147483647 w 1590"/>
              <a:gd name="T3" fmla="*/ 2147483647 h 191"/>
              <a:gd name="T4" fmla="*/ 2147483647 w 1590"/>
              <a:gd name="T5" fmla="*/ 2147483647 h 191"/>
              <a:gd name="T6" fmla="*/ 2147483647 w 1590"/>
              <a:gd name="T7" fmla="*/ 2147483647 h 191"/>
              <a:gd name="T8" fmla="*/ 2147483647 w 1590"/>
              <a:gd name="T9" fmla="*/ 2147483647 h 191"/>
              <a:gd name="T10" fmla="*/ 2147483647 w 1590"/>
              <a:gd name="T11" fmla="*/ 2147483647 h 191"/>
              <a:gd name="T12" fmla="*/ 0 w 1590"/>
              <a:gd name="T13" fmla="*/ 2147483647 h 191"/>
              <a:gd name="T14" fmla="*/ 0 60000 65536"/>
              <a:gd name="T15" fmla="*/ 0 60000 65536"/>
              <a:gd name="T16" fmla="*/ 0 60000 65536"/>
              <a:gd name="T17" fmla="*/ 0 60000 65536"/>
              <a:gd name="T18" fmla="*/ 0 60000 65536"/>
              <a:gd name="T19" fmla="*/ 0 60000 65536"/>
              <a:gd name="T20" fmla="*/ 0 60000 65536"/>
              <a:gd name="T21" fmla="*/ 0 w 1590"/>
              <a:gd name="T22" fmla="*/ 0 h 191"/>
              <a:gd name="T23" fmla="*/ 1590 w 1590"/>
              <a:gd name="T24" fmla="*/ 191 h 19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90" h="191">
                <a:moveTo>
                  <a:pt x="1590" y="6"/>
                </a:moveTo>
                <a:cubicBezTo>
                  <a:pt x="1568" y="9"/>
                  <a:pt x="1514" y="0"/>
                  <a:pt x="1458" y="24"/>
                </a:cubicBezTo>
                <a:cubicBezTo>
                  <a:pt x="1402" y="48"/>
                  <a:pt x="1341" y="124"/>
                  <a:pt x="1254" y="150"/>
                </a:cubicBezTo>
                <a:cubicBezTo>
                  <a:pt x="1167" y="176"/>
                  <a:pt x="1071" y="174"/>
                  <a:pt x="936" y="180"/>
                </a:cubicBezTo>
                <a:cubicBezTo>
                  <a:pt x="801" y="186"/>
                  <a:pt x="569" y="191"/>
                  <a:pt x="444" y="186"/>
                </a:cubicBezTo>
                <a:cubicBezTo>
                  <a:pt x="319" y="181"/>
                  <a:pt x="260" y="164"/>
                  <a:pt x="186" y="150"/>
                </a:cubicBezTo>
                <a:cubicBezTo>
                  <a:pt x="112" y="136"/>
                  <a:pt x="39" y="112"/>
                  <a:pt x="0" y="102"/>
                </a:cubicBezTo>
              </a:path>
            </a:pathLst>
          </a:custGeom>
          <a:noFill/>
          <a:ln w="15875">
            <a:solidFill>
              <a:schemeClr val="accent2"/>
            </a:solidFill>
            <a:round/>
            <a:headEnd/>
            <a:tailEnd type="triangle" w="lg" len="lg"/>
          </a:ln>
        </p:spPr>
        <p:txBody>
          <a:bodyPr/>
          <a:lstStyle/>
          <a:p>
            <a:endParaRPr lang="en-US" dirty="0"/>
          </a:p>
        </p:txBody>
      </p:sp>
      <p:sp>
        <p:nvSpPr>
          <p:cNvPr id="85" name="Freeform 52"/>
          <p:cNvSpPr>
            <a:spLocks/>
          </p:cNvSpPr>
          <p:nvPr/>
        </p:nvSpPr>
        <p:spPr bwMode="auto">
          <a:xfrm>
            <a:off x="4114800" y="3352800"/>
            <a:ext cx="2505075" cy="439737"/>
          </a:xfrm>
          <a:custGeom>
            <a:avLst/>
            <a:gdLst>
              <a:gd name="T0" fmla="*/ 0 w 1578"/>
              <a:gd name="T1" fmla="*/ 2147483647 h 277"/>
              <a:gd name="T2" fmla="*/ 2147483647 w 1578"/>
              <a:gd name="T3" fmla="*/ 2147483647 h 277"/>
              <a:gd name="T4" fmla="*/ 2147483647 w 1578"/>
              <a:gd name="T5" fmla="*/ 2147483647 h 277"/>
              <a:gd name="T6" fmla="*/ 2147483647 w 1578"/>
              <a:gd name="T7" fmla="*/ 2147483647 h 277"/>
              <a:gd name="T8" fmla="*/ 2147483647 w 1578"/>
              <a:gd name="T9" fmla="*/ 2147483647 h 277"/>
              <a:gd name="T10" fmla="*/ 2147483647 w 1578"/>
              <a:gd name="T11" fmla="*/ 2147483647 h 277"/>
              <a:gd name="T12" fmla="*/ 2147483647 w 1578"/>
              <a:gd name="T13" fmla="*/ 2147483647 h 277"/>
              <a:gd name="T14" fmla="*/ 0 60000 65536"/>
              <a:gd name="T15" fmla="*/ 0 60000 65536"/>
              <a:gd name="T16" fmla="*/ 0 60000 65536"/>
              <a:gd name="T17" fmla="*/ 0 60000 65536"/>
              <a:gd name="T18" fmla="*/ 0 60000 65536"/>
              <a:gd name="T19" fmla="*/ 0 60000 65536"/>
              <a:gd name="T20" fmla="*/ 0 60000 65536"/>
              <a:gd name="T21" fmla="*/ 0 w 1578"/>
              <a:gd name="T22" fmla="*/ 0 h 277"/>
              <a:gd name="T23" fmla="*/ 1578 w 1578"/>
              <a:gd name="T24" fmla="*/ 277 h 2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78" h="277">
                <a:moveTo>
                  <a:pt x="0" y="261"/>
                </a:moveTo>
                <a:cubicBezTo>
                  <a:pt x="28" y="259"/>
                  <a:pt x="105" y="277"/>
                  <a:pt x="168" y="249"/>
                </a:cubicBezTo>
                <a:cubicBezTo>
                  <a:pt x="231" y="221"/>
                  <a:pt x="265" y="133"/>
                  <a:pt x="378" y="93"/>
                </a:cubicBezTo>
                <a:cubicBezTo>
                  <a:pt x="491" y="53"/>
                  <a:pt x="719" y="18"/>
                  <a:pt x="846" y="9"/>
                </a:cubicBezTo>
                <a:cubicBezTo>
                  <a:pt x="973" y="0"/>
                  <a:pt x="1060" y="27"/>
                  <a:pt x="1140" y="39"/>
                </a:cubicBezTo>
                <a:cubicBezTo>
                  <a:pt x="1220" y="51"/>
                  <a:pt x="1253" y="58"/>
                  <a:pt x="1326" y="81"/>
                </a:cubicBezTo>
                <a:cubicBezTo>
                  <a:pt x="1399" y="104"/>
                  <a:pt x="1526" y="157"/>
                  <a:pt x="1578" y="177"/>
                </a:cubicBezTo>
              </a:path>
            </a:pathLst>
          </a:custGeom>
          <a:noFill/>
          <a:ln w="19050">
            <a:solidFill>
              <a:schemeClr val="tx1"/>
            </a:solidFill>
            <a:round/>
            <a:headEnd/>
            <a:tailEnd type="triangle" w="lg" len="lg"/>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right)">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wipe(left)">
                                      <p:cBhvr>
                                        <p:cTn id="12"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92500" lnSpcReduction="20000"/>
          </a:bodyPr>
          <a:lstStyle/>
          <a:p>
            <a:pPr>
              <a:buNone/>
            </a:pPr>
            <a:r>
              <a:rPr lang="en-US" dirty="0" smtClean="0">
                <a:solidFill>
                  <a:schemeClr val="accent1">
                    <a:lumMod val="75000"/>
                  </a:schemeClr>
                </a:solidFill>
              </a:rPr>
              <a:t>void </a:t>
            </a:r>
            <a:r>
              <a:rPr lang="en-US" dirty="0" err="1" smtClean="0">
                <a:solidFill>
                  <a:schemeClr val="accent1">
                    <a:lumMod val="75000"/>
                  </a:schemeClr>
                </a:solidFill>
              </a:rPr>
              <a:t>del_at</a:t>
            </a:r>
            <a:r>
              <a:rPr lang="en-US" dirty="0" smtClean="0">
                <a:solidFill>
                  <a:schemeClr val="accent1">
                    <a:lumMod val="75000"/>
                  </a:schemeClr>
                </a:solidFill>
              </a:rPr>
              <a:t>(</a:t>
            </a:r>
            <a:r>
              <a:rPr lang="en-US" dirty="0" err="1" smtClean="0">
                <a:solidFill>
                  <a:schemeClr val="accent1">
                    <a:lumMod val="75000"/>
                  </a:schemeClr>
                </a:solidFill>
              </a:rPr>
              <a:t>int</a:t>
            </a:r>
            <a:r>
              <a:rPr lang="en-US" dirty="0" smtClean="0">
                <a:solidFill>
                  <a:schemeClr val="accent1">
                    <a:lumMod val="75000"/>
                  </a:schemeClr>
                </a:solidFill>
              </a:rPr>
              <a:t> c)</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node*s=start;</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for(</a:t>
            </a:r>
            <a:r>
              <a:rPr lang="en-US" dirty="0" err="1" smtClean="0">
                <a:solidFill>
                  <a:schemeClr val="accent1">
                    <a:lumMod val="75000"/>
                  </a:schemeClr>
                </a:solidFill>
              </a:rPr>
              <a:t>int</a:t>
            </a:r>
            <a:r>
              <a:rPr lang="en-US" dirty="0" smtClean="0">
                <a:solidFill>
                  <a:schemeClr val="accent1">
                    <a:lumMod val="75000"/>
                  </a:schemeClr>
                </a:solidFill>
              </a:rPr>
              <a:t> </a:t>
            </a:r>
            <a:r>
              <a:rPr lang="en-US" dirty="0" err="1" smtClean="0">
                <a:solidFill>
                  <a:schemeClr val="accent1">
                    <a:lumMod val="75000"/>
                  </a:schemeClr>
                </a:solidFill>
              </a:rPr>
              <a:t>i</a:t>
            </a:r>
            <a:r>
              <a:rPr lang="en-US" dirty="0" smtClean="0">
                <a:solidFill>
                  <a:schemeClr val="accent1">
                    <a:lumMod val="75000"/>
                  </a:schemeClr>
                </a:solidFill>
              </a:rPr>
              <a:t>=1;i&lt;c-1;i++)</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s=s-&gt;next;</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node* p=s-&gt;next;</a:t>
            </a:r>
          </a:p>
          <a:p>
            <a:pPr>
              <a:buNone/>
            </a:pPr>
            <a:r>
              <a:rPr lang="en-US" dirty="0" smtClean="0">
                <a:solidFill>
                  <a:schemeClr val="accent1">
                    <a:lumMod val="75000"/>
                  </a:schemeClr>
                </a:solidFill>
              </a:rPr>
              <a:t>	 s-&gt;next=p-&gt;next;</a:t>
            </a:r>
          </a:p>
          <a:p>
            <a:pPr>
              <a:buNone/>
            </a:pPr>
            <a:r>
              <a:rPr lang="en-US" dirty="0" smtClean="0">
                <a:solidFill>
                  <a:schemeClr val="accent1">
                    <a:lumMod val="75000"/>
                  </a:schemeClr>
                </a:solidFill>
              </a:rPr>
              <a:t>	 p-&gt;next-&gt;previous=s;</a:t>
            </a:r>
          </a:p>
          <a:p>
            <a:pPr>
              <a:buNone/>
            </a:pPr>
            <a:r>
              <a:rPr lang="en-US" dirty="0" smtClean="0">
                <a:solidFill>
                  <a:schemeClr val="accent1">
                    <a:lumMod val="75000"/>
                  </a:schemeClr>
                </a:solidFill>
              </a:rPr>
              <a:t>	 delete p;</a:t>
            </a:r>
          </a:p>
          <a:p>
            <a:pPr>
              <a:buNone/>
            </a:pPr>
            <a:r>
              <a:rPr lang="en-US" dirty="0" smtClean="0">
                <a:solidFill>
                  <a:schemeClr val="accent1">
                    <a:lumMod val="75000"/>
                  </a:schemeClr>
                </a:solidFill>
              </a:rPr>
              <a:t>	 </a:t>
            </a:r>
            <a:r>
              <a:rPr lang="en-US" dirty="0" err="1" smtClean="0">
                <a:solidFill>
                  <a:schemeClr val="accent1">
                    <a:lumMod val="75000"/>
                  </a:schemeClr>
                </a:solidFill>
              </a:rPr>
              <a:t>cout</a:t>
            </a:r>
            <a:r>
              <a:rPr lang="en-US" dirty="0" smtClean="0">
                <a:solidFill>
                  <a:schemeClr val="accent1">
                    <a:lumMod val="75000"/>
                  </a:schemeClr>
                </a:solidFill>
              </a:rPr>
              <a:t>&lt;&lt;"\</a:t>
            </a:r>
            <a:r>
              <a:rPr lang="en-US" dirty="0" err="1" smtClean="0">
                <a:solidFill>
                  <a:schemeClr val="accent1">
                    <a:lumMod val="75000"/>
                  </a:schemeClr>
                </a:solidFill>
              </a:rPr>
              <a:t>nNode</a:t>
            </a:r>
            <a:r>
              <a:rPr lang="en-US" dirty="0" smtClean="0">
                <a:solidFill>
                  <a:schemeClr val="accent1">
                    <a:lumMod val="75000"/>
                  </a:schemeClr>
                </a:solidFill>
              </a:rPr>
              <a:t> number "&lt;&lt;c&lt;&lt;" deleted successfully";</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   }</a:t>
            </a:r>
          </a:p>
          <a:p>
            <a:pPr>
              <a:buNone/>
            </a:pPr>
            <a:r>
              <a:rPr lang="en-US" dirty="0" smtClean="0">
                <a:solidFill>
                  <a:schemeClr val="accent1">
                    <a:lumMod val="75000"/>
                  </a:schemeClr>
                </a:solidFill>
              </a:rPr>
              <a:t>}</a:t>
            </a:r>
          </a:p>
          <a:p>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19912"/>
          </a:xfrm>
        </p:spPr>
        <p:txBody>
          <a:bodyPr>
            <a:normAutofit fontScale="90000"/>
          </a:bodyPr>
          <a:lstStyle/>
          <a:p>
            <a:r>
              <a:rPr lang="en-US" dirty="0" smtClean="0"/>
              <a:t>APPLICATIONS  OF   LINKED   LIST</a:t>
            </a:r>
            <a:endParaRPr lang="en-US" dirty="0"/>
          </a:p>
        </p:txBody>
      </p:sp>
      <p:sp>
        <p:nvSpPr>
          <p:cNvPr id="3" name="Content Placeholder 2"/>
          <p:cNvSpPr>
            <a:spLocks noGrp="1"/>
          </p:cNvSpPr>
          <p:nvPr>
            <p:ph idx="1"/>
          </p:nvPr>
        </p:nvSpPr>
        <p:spPr>
          <a:xfrm>
            <a:off x="0" y="1447800"/>
            <a:ext cx="9144000" cy="5410200"/>
          </a:xfrm>
        </p:spPr>
        <p:txBody>
          <a:bodyPr>
            <a:normAutofit/>
          </a:bodyPr>
          <a:lstStyle/>
          <a:p>
            <a:pPr>
              <a:buNone/>
            </a:pPr>
            <a:r>
              <a:rPr lang="en-US" dirty="0" smtClean="0">
                <a:solidFill>
                  <a:schemeClr val="accent1">
                    <a:lumMod val="75000"/>
                  </a:schemeClr>
                </a:solidFill>
              </a:rPr>
              <a:t>    1. Applications that have an MRU list (a linked list of file names) </a:t>
            </a:r>
            <a:br>
              <a:rPr lang="en-US" dirty="0" smtClean="0">
                <a:solidFill>
                  <a:schemeClr val="accent1">
                    <a:lumMod val="75000"/>
                  </a:schemeClr>
                </a:solidFill>
              </a:rPr>
            </a:br>
            <a:r>
              <a:rPr lang="en-US" dirty="0" smtClean="0">
                <a:solidFill>
                  <a:schemeClr val="accent1">
                    <a:lumMod val="75000"/>
                  </a:schemeClr>
                </a:solidFill>
              </a:rPr>
              <a:t/>
            </a:r>
            <a:br>
              <a:rPr lang="en-US" dirty="0" smtClean="0">
                <a:solidFill>
                  <a:schemeClr val="accent1">
                    <a:lumMod val="75000"/>
                  </a:schemeClr>
                </a:solidFill>
              </a:rPr>
            </a:br>
            <a:r>
              <a:rPr lang="en-US" dirty="0" smtClean="0">
                <a:solidFill>
                  <a:schemeClr val="accent1">
                    <a:lumMod val="75000"/>
                  </a:schemeClr>
                </a:solidFill>
              </a:rPr>
              <a:t>2. The cache in your browser that allows you to hit the BACK button (a linked list of URLs) </a:t>
            </a:r>
            <a:br>
              <a:rPr lang="en-US" dirty="0" smtClean="0">
                <a:solidFill>
                  <a:schemeClr val="accent1">
                    <a:lumMod val="75000"/>
                  </a:schemeClr>
                </a:solidFill>
              </a:rPr>
            </a:br>
            <a:r>
              <a:rPr lang="en-US" dirty="0" smtClean="0">
                <a:solidFill>
                  <a:schemeClr val="accent1">
                    <a:lumMod val="75000"/>
                  </a:schemeClr>
                </a:solidFill>
              </a:rPr>
              <a:t/>
            </a:r>
            <a:br>
              <a:rPr lang="en-US" dirty="0" smtClean="0">
                <a:solidFill>
                  <a:schemeClr val="accent1">
                    <a:lumMod val="75000"/>
                  </a:schemeClr>
                </a:solidFill>
              </a:rPr>
            </a:br>
            <a:r>
              <a:rPr lang="en-US" dirty="0" smtClean="0">
                <a:solidFill>
                  <a:schemeClr val="accent1">
                    <a:lumMod val="75000"/>
                  </a:schemeClr>
                </a:solidFill>
              </a:rPr>
              <a:t>3. Undo functionality in Photoshop or Word (a linked list of state) </a:t>
            </a:r>
            <a:br>
              <a:rPr lang="en-US" dirty="0" smtClean="0">
                <a:solidFill>
                  <a:schemeClr val="accent1">
                    <a:lumMod val="75000"/>
                  </a:schemeClr>
                </a:solidFill>
              </a:rPr>
            </a:br>
            <a:r>
              <a:rPr lang="en-US" dirty="0" smtClean="0">
                <a:solidFill>
                  <a:schemeClr val="accent1">
                    <a:lumMod val="75000"/>
                  </a:schemeClr>
                </a:solidFill>
              </a:rPr>
              <a:t/>
            </a:r>
            <a:br>
              <a:rPr lang="en-US" dirty="0" smtClean="0">
                <a:solidFill>
                  <a:schemeClr val="accent1">
                    <a:lumMod val="75000"/>
                  </a:schemeClr>
                </a:solidFill>
              </a:rPr>
            </a:br>
            <a:r>
              <a:rPr lang="en-US" dirty="0" smtClean="0">
                <a:solidFill>
                  <a:schemeClr val="accent1">
                    <a:lumMod val="75000"/>
                  </a:schemeClr>
                </a:solidFill>
              </a:rPr>
              <a:t>4. A stack, hash table, and binary tree can be implemented using a doubly linked list. </a:t>
            </a:r>
            <a:br>
              <a:rPr lang="en-US" dirty="0" smtClean="0">
                <a:solidFill>
                  <a:schemeClr val="accent1">
                    <a:lumMod val="75000"/>
                  </a:schemeClr>
                </a:solidFill>
              </a:rPr>
            </a:br>
            <a:endParaRPr lang="en-US" dirty="0">
              <a:solidFill>
                <a:schemeClr val="accent1">
                  <a:lumMod val="75000"/>
                </a:schemeClr>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304800" y="331788"/>
            <a:ext cx="4343400" cy="707886"/>
          </a:xfrm>
          <a:prstGeom prst="rect">
            <a:avLst/>
          </a:prstGeom>
          <a:noFill/>
          <a:ln w="9525">
            <a:noFill/>
            <a:miter lim="800000"/>
            <a:headEnd/>
            <a:tailEnd/>
          </a:ln>
          <a:effectLst/>
        </p:spPr>
        <p:txBody>
          <a:bodyPr wrap="square">
            <a:spAutoFit/>
          </a:bodyPr>
          <a:lstStyle/>
          <a:p>
            <a:pPr>
              <a:buClr>
                <a:schemeClr val="hlink"/>
              </a:buClr>
              <a:buFontTx/>
              <a:buChar char="•"/>
            </a:pPr>
            <a:r>
              <a:rPr lang="en-US" sz="4000" b="1" u="sng" dirty="0"/>
              <a:t> </a:t>
            </a:r>
            <a:r>
              <a:rPr lang="en-US" sz="4000" b="1" u="sng" dirty="0" smtClean="0">
                <a:solidFill>
                  <a:srgbClr val="000066"/>
                </a:solidFill>
              </a:rPr>
              <a:t>Polyno</a:t>
            </a:r>
            <a:r>
              <a:rPr lang="en-US" sz="4000" b="1" u="sng" dirty="0" smtClean="0">
                <a:solidFill>
                  <a:srgbClr val="002060"/>
                </a:solidFill>
              </a:rPr>
              <a:t>mials</a:t>
            </a:r>
            <a:r>
              <a:rPr lang="en-US" sz="4000" b="1" dirty="0" smtClean="0">
                <a:solidFill>
                  <a:srgbClr val="000066"/>
                </a:solidFill>
              </a:rPr>
              <a:t> </a:t>
            </a:r>
            <a:endParaRPr lang="en-US" sz="1600" b="1" u="sng" dirty="0">
              <a:solidFill>
                <a:srgbClr val="000066"/>
              </a:solidFill>
            </a:endParaRPr>
          </a:p>
        </p:txBody>
      </p:sp>
      <p:sp>
        <p:nvSpPr>
          <p:cNvPr id="35843" name="Text Box 3"/>
          <p:cNvSpPr txBox="1">
            <a:spLocks noChangeArrowheads="1"/>
          </p:cNvSpPr>
          <p:nvPr/>
        </p:nvSpPr>
        <p:spPr bwMode="auto">
          <a:xfrm>
            <a:off x="533400" y="1341438"/>
            <a:ext cx="8382000" cy="1554162"/>
          </a:xfrm>
          <a:prstGeom prst="rect">
            <a:avLst/>
          </a:prstGeom>
          <a:noFill/>
          <a:ln w="9525">
            <a:noFill/>
            <a:miter lim="800000"/>
            <a:headEnd/>
            <a:tailEnd/>
          </a:ln>
          <a:effectLst/>
        </p:spPr>
        <p:txBody>
          <a:bodyPr>
            <a:spAutoFit/>
          </a:bodyPr>
          <a:lstStyle/>
          <a:p>
            <a:pPr>
              <a:buFontTx/>
              <a:buChar char="•"/>
            </a:pPr>
            <a:r>
              <a:rPr lang="en-US" sz="3200"/>
              <a:t>Array Implementation:</a:t>
            </a:r>
            <a:endParaRPr lang="en-US" sz="3200">
              <a:solidFill>
                <a:srgbClr val="000066"/>
              </a:solidFill>
            </a:endParaRPr>
          </a:p>
          <a:p>
            <a:pPr>
              <a:buFontTx/>
              <a:buChar char="•"/>
            </a:pPr>
            <a:r>
              <a:rPr lang="en-US" sz="3200">
                <a:solidFill>
                  <a:srgbClr val="000066"/>
                </a:solidFill>
              </a:rPr>
              <a:t> p1(x) = 8x</a:t>
            </a:r>
            <a:r>
              <a:rPr lang="en-US" sz="3200" b="1" baseline="30000">
                <a:solidFill>
                  <a:srgbClr val="000066"/>
                </a:solidFill>
              </a:rPr>
              <a:t>3</a:t>
            </a:r>
            <a:r>
              <a:rPr lang="en-US" sz="3200">
                <a:solidFill>
                  <a:srgbClr val="000066"/>
                </a:solidFill>
              </a:rPr>
              <a:t> + 3x</a:t>
            </a:r>
            <a:r>
              <a:rPr lang="en-US" sz="3200" b="1" baseline="30000">
                <a:solidFill>
                  <a:srgbClr val="000066"/>
                </a:solidFill>
              </a:rPr>
              <a:t>2</a:t>
            </a:r>
            <a:r>
              <a:rPr lang="en-US" sz="3200">
                <a:solidFill>
                  <a:srgbClr val="000066"/>
                </a:solidFill>
              </a:rPr>
              <a:t> + 2x + 6</a:t>
            </a:r>
            <a:endParaRPr lang="en-US" sz="3200"/>
          </a:p>
          <a:p>
            <a:pPr>
              <a:buFontTx/>
              <a:buChar char="•"/>
            </a:pPr>
            <a:r>
              <a:rPr lang="en-US" sz="3200">
                <a:solidFill>
                  <a:srgbClr val="000066"/>
                </a:solidFill>
              </a:rPr>
              <a:t> p2(x) = 23x</a:t>
            </a:r>
            <a:r>
              <a:rPr lang="en-US" sz="3200" b="1" baseline="30000">
                <a:solidFill>
                  <a:srgbClr val="000066"/>
                </a:solidFill>
              </a:rPr>
              <a:t>4</a:t>
            </a:r>
            <a:r>
              <a:rPr lang="en-US" sz="3200">
                <a:solidFill>
                  <a:srgbClr val="000066"/>
                </a:solidFill>
              </a:rPr>
              <a:t> + 18x - 3</a:t>
            </a:r>
          </a:p>
        </p:txBody>
      </p:sp>
      <p:graphicFrame>
        <p:nvGraphicFramePr>
          <p:cNvPr id="35844" name="Group 4"/>
          <p:cNvGraphicFramePr>
            <a:graphicFrameLocks noGrp="1"/>
          </p:cNvGraphicFramePr>
          <p:nvPr/>
        </p:nvGraphicFramePr>
        <p:xfrm>
          <a:off x="685800" y="3641725"/>
          <a:ext cx="3108325" cy="609600"/>
        </p:xfrm>
        <a:graphic>
          <a:graphicData uri="http://schemas.openxmlformats.org/drawingml/2006/table">
            <a:tbl>
              <a:tblPr/>
              <a:tblGrid>
                <a:gridCol w="777875"/>
                <a:gridCol w="777875"/>
                <a:gridCol w="774700"/>
                <a:gridCol w="777875"/>
              </a:tblGrid>
              <a:tr h="6096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5856" name="Text Box 16"/>
          <p:cNvSpPr txBox="1">
            <a:spLocks noChangeArrowheads="1"/>
          </p:cNvSpPr>
          <p:nvPr/>
        </p:nvSpPr>
        <p:spPr bwMode="auto">
          <a:xfrm>
            <a:off x="898525" y="4327525"/>
            <a:ext cx="311150" cy="366713"/>
          </a:xfrm>
          <a:prstGeom prst="rect">
            <a:avLst/>
          </a:prstGeom>
          <a:noFill/>
          <a:ln w="9525">
            <a:noFill/>
            <a:miter lim="800000"/>
            <a:headEnd/>
            <a:tailEnd/>
          </a:ln>
          <a:effectLst/>
        </p:spPr>
        <p:txBody>
          <a:bodyPr wrap="none">
            <a:spAutoFit/>
          </a:bodyPr>
          <a:lstStyle/>
          <a:p>
            <a:r>
              <a:rPr lang="en-US"/>
              <a:t>0</a:t>
            </a:r>
          </a:p>
        </p:txBody>
      </p:sp>
      <p:sp>
        <p:nvSpPr>
          <p:cNvPr id="35857" name="Text Box 17"/>
          <p:cNvSpPr txBox="1">
            <a:spLocks noChangeArrowheads="1"/>
          </p:cNvSpPr>
          <p:nvPr/>
        </p:nvSpPr>
        <p:spPr bwMode="auto">
          <a:xfrm>
            <a:off x="2508250" y="4341813"/>
            <a:ext cx="311150" cy="366712"/>
          </a:xfrm>
          <a:prstGeom prst="rect">
            <a:avLst/>
          </a:prstGeom>
          <a:noFill/>
          <a:ln w="9525">
            <a:noFill/>
            <a:miter lim="800000"/>
            <a:headEnd/>
            <a:tailEnd/>
          </a:ln>
          <a:effectLst/>
        </p:spPr>
        <p:txBody>
          <a:bodyPr wrap="none">
            <a:spAutoFit/>
          </a:bodyPr>
          <a:lstStyle/>
          <a:p>
            <a:r>
              <a:rPr lang="en-US"/>
              <a:t>2</a:t>
            </a:r>
          </a:p>
        </p:txBody>
      </p:sp>
      <p:sp>
        <p:nvSpPr>
          <p:cNvPr id="35858" name="Line 18"/>
          <p:cNvSpPr>
            <a:spLocks noChangeShapeType="1"/>
          </p:cNvSpPr>
          <p:nvPr/>
        </p:nvSpPr>
        <p:spPr bwMode="auto">
          <a:xfrm flipH="1" flipV="1">
            <a:off x="1143000" y="4572000"/>
            <a:ext cx="3048000" cy="914400"/>
          </a:xfrm>
          <a:prstGeom prst="line">
            <a:avLst/>
          </a:prstGeom>
          <a:noFill/>
          <a:ln w="28575">
            <a:solidFill>
              <a:srgbClr val="CC3300"/>
            </a:solidFill>
            <a:round/>
            <a:headEnd/>
            <a:tailEnd type="triangle" w="med" len="med"/>
          </a:ln>
          <a:effectLst/>
        </p:spPr>
        <p:txBody>
          <a:bodyPr/>
          <a:lstStyle/>
          <a:p>
            <a:endParaRPr lang="en-US"/>
          </a:p>
        </p:txBody>
      </p:sp>
      <p:sp>
        <p:nvSpPr>
          <p:cNvPr id="35859" name="Line 19"/>
          <p:cNvSpPr>
            <a:spLocks noChangeShapeType="1"/>
          </p:cNvSpPr>
          <p:nvPr/>
        </p:nvSpPr>
        <p:spPr bwMode="auto">
          <a:xfrm flipH="1" flipV="1">
            <a:off x="2743200" y="4572000"/>
            <a:ext cx="1524000" cy="838200"/>
          </a:xfrm>
          <a:prstGeom prst="line">
            <a:avLst/>
          </a:prstGeom>
          <a:noFill/>
          <a:ln w="28575">
            <a:solidFill>
              <a:srgbClr val="CC3300"/>
            </a:solidFill>
            <a:round/>
            <a:headEnd/>
            <a:tailEnd type="triangle" w="med" len="med"/>
          </a:ln>
          <a:effectLst/>
        </p:spPr>
        <p:txBody>
          <a:bodyPr/>
          <a:lstStyle/>
          <a:p>
            <a:endParaRPr lang="en-US"/>
          </a:p>
        </p:txBody>
      </p:sp>
      <p:sp>
        <p:nvSpPr>
          <p:cNvPr id="35860" name="Text Box 20"/>
          <p:cNvSpPr txBox="1">
            <a:spLocks noChangeArrowheads="1"/>
          </p:cNvSpPr>
          <p:nvPr/>
        </p:nvSpPr>
        <p:spPr bwMode="auto">
          <a:xfrm>
            <a:off x="3581400" y="5562600"/>
            <a:ext cx="1524000" cy="915988"/>
          </a:xfrm>
          <a:prstGeom prst="rect">
            <a:avLst/>
          </a:prstGeom>
          <a:noFill/>
          <a:ln w="9525">
            <a:noFill/>
            <a:miter lim="800000"/>
            <a:headEnd/>
            <a:tailEnd/>
          </a:ln>
          <a:effectLst/>
        </p:spPr>
        <p:txBody>
          <a:bodyPr>
            <a:spAutoFit/>
          </a:bodyPr>
          <a:lstStyle/>
          <a:p>
            <a:pPr algn="ctr"/>
            <a:r>
              <a:rPr lang="en-US" b="1"/>
              <a:t>Index represents exponents</a:t>
            </a:r>
          </a:p>
        </p:txBody>
      </p:sp>
      <p:graphicFrame>
        <p:nvGraphicFramePr>
          <p:cNvPr id="35861" name="Group 21"/>
          <p:cNvGraphicFramePr>
            <a:graphicFrameLocks noGrp="1"/>
          </p:cNvGraphicFramePr>
          <p:nvPr/>
        </p:nvGraphicFramePr>
        <p:xfrm>
          <a:off x="4800600" y="3641725"/>
          <a:ext cx="3886200" cy="609600"/>
        </p:xfrm>
        <a:graphic>
          <a:graphicData uri="http://schemas.openxmlformats.org/drawingml/2006/table">
            <a:tbl>
              <a:tblPr/>
              <a:tblGrid>
                <a:gridCol w="777875"/>
                <a:gridCol w="777875"/>
                <a:gridCol w="774700"/>
                <a:gridCol w="777875"/>
                <a:gridCol w="777875"/>
              </a:tblGrid>
              <a:tr h="6096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23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5875" name="Text Box 35"/>
          <p:cNvSpPr txBox="1">
            <a:spLocks noChangeArrowheads="1"/>
          </p:cNvSpPr>
          <p:nvPr/>
        </p:nvSpPr>
        <p:spPr bwMode="auto">
          <a:xfrm>
            <a:off x="5095875" y="4327525"/>
            <a:ext cx="311150" cy="366713"/>
          </a:xfrm>
          <a:prstGeom prst="rect">
            <a:avLst/>
          </a:prstGeom>
          <a:noFill/>
          <a:ln w="9525">
            <a:noFill/>
            <a:miter lim="800000"/>
            <a:headEnd/>
            <a:tailEnd/>
          </a:ln>
          <a:effectLst/>
        </p:spPr>
        <p:txBody>
          <a:bodyPr wrap="none">
            <a:spAutoFit/>
          </a:bodyPr>
          <a:lstStyle/>
          <a:p>
            <a:r>
              <a:rPr lang="en-US"/>
              <a:t>0</a:t>
            </a:r>
          </a:p>
        </p:txBody>
      </p:sp>
      <p:sp>
        <p:nvSpPr>
          <p:cNvPr id="35876" name="Text Box 36"/>
          <p:cNvSpPr txBox="1">
            <a:spLocks noChangeArrowheads="1"/>
          </p:cNvSpPr>
          <p:nvPr/>
        </p:nvSpPr>
        <p:spPr bwMode="auto">
          <a:xfrm>
            <a:off x="8153400" y="4341813"/>
            <a:ext cx="311150" cy="366712"/>
          </a:xfrm>
          <a:prstGeom prst="rect">
            <a:avLst/>
          </a:prstGeom>
          <a:noFill/>
          <a:ln w="9525">
            <a:noFill/>
            <a:miter lim="800000"/>
            <a:headEnd/>
            <a:tailEnd/>
          </a:ln>
          <a:effectLst/>
        </p:spPr>
        <p:txBody>
          <a:bodyPr wrap="none">
            <a:spAutoFit/>
          </a:bodyPr>
          <a:lstStyle/>
          <a:p>
            <a:r>
              <a:rPr lang="en-US"/>
              <a:t>4</a:t>
            </a:r>
          </a:p>
        </p:txBody>
      </p:sp>
      <p:sp>
        <p:nvSpPr>
          <p:cNvPr id="35877" name="Text Box 37"/>
          <p:cNvSpPr txBox="1">
            <a:spLocks noChangeArrowheads="1"/>
          </p:cNvSpPr>
          <p:nvPr/>
        </p:nvSpPr>
        <p:spPr bwMode="auto">
          <a:xfrm>
            <a:off x="6629400" y="4341813"/>
            <a:ext cx="311150" cy="366712"/>
          </a:xfrm>
          <a:prstGeom prst="rect">
            <a:avLst/>
          </a:prstGeom>
          <a:noFill/>
          <a:ln w="9525">
            <a:noFill/>
            <a:miter lim="800000"/>
            <a:headEnd/>
            <a:tailEnd/>
          </a:ln>
          <a:effectLst/>
        </p:spPr>
        <p:txBody>
          <a:bodyPr wrap="none">
            <a:spAutoFit/>
          </a:bodyPr>
          <a:lstStyle/>
          <a:p>
            <a:r>
              <a:rPr lang="en-US"/>
              <a:t>2</a:t>
            </a:r>
          </a:p>
        </p:txBody>
      </p:sp>
      <p:sp>
        <p:nvSpPr>
          <p:cNvPr id="35878" name="Line 38"/>
          <p:cNvSpPr>
            <a:spLocks noChangeShapeType="1"/>
          </p:cNvSpPr>
          <p:nvPr/>
        </p:nvSpPr>
        <p:spPr bwMode="auto">
          <a:xfrm flipV="1">
            <a:off x="4419600" y="4572000"/>
            <a:ext cx="762000" cy="838200"/>
          </a:xfrm>
          <a:prstGeom prst="line">
            <a:avLst/>
          </a:prstGeom>
          <a:noFill/>
          <a:ln w="28575">
            <a:solidFill>
              <a:srgbClr val="CC3300"/>
            </a:solidFill>
            <a:round/>
            <a:headEnd/>
            <a:tailEnd type="triangle" w="med" len="med"/>
          </a:ln>
          <a:effectLst/>
        </p:spPr>
        <p:txBody>
          <a:bodyPr/>
          <a:lstStyle/>
          <a:p>
            <a:endParaRPr lang="en-US"/>
          </a:p>
        </p:txBody>
      </p:sp>
      <p:sp>
        <p:nvSpPr>
          <p:cNvPr id="35879" name="Line 39"/>
          <p:cNvSpPr>
            <a:spLocks noChangeShapeType="1"/>
          </p:cNvSpPr>
          <p:nvPr/>
        </p:nvSpPr>
        <p:spPr bwMode="auto">
          <a:xfrm flipV="1">
            <a:off x="4495800" y="4572000"/>
            <a:ext cx="2209800" cy="914400"/>
          </a:xfrm>
          <a:prstGeom prst="line">
            <a:avLst/>
          </a:prstGeom>
          <a:noFill/>
          <a:ln w="28575">
            <a:solidFill>
              <a:srgbClr val="CC3300"/>
            </a:solidFill>
            <a:round/>
            <a:headEnd/>
            <a:tailEnd type="triangle" w="med" len="med"/>
          </a:ln>
          <a:effectLst/>
        </p:spPr>
        <p:txBody>
          <a:bodyPr/>
          <a:lstStyle/>
          <a:p>
            <a:endParaRPr lang="en-US"/>
          </a:p>
        </p:txBody>
      </p:sp>
      <p:sp>
        <p:nvSpPr>
          <p:cNvPr id="35880" name="Line 40"/>
          <p:cNvSpPr>
            <a:spLocks noChangeShapeType="1"/>
          </p:cNvSpPr>
          <p:nvPr/>
        </p:nvSpPr>
        <p:spPr bwMode="auto">
          <a:xfrm flipV="1">
            <a:off x="4648200" y="4572000"/>
            <a:ext cx="3581400" cy="990600"/>
          </a:xfrm>
          <a:prstGeom prst="line">
            <a:avLst/>
          </a:prstGeom>
          <a:noFill/>
          <a:ln w="28575">
            <a:solidFill>
              <a:srgbClr val="CC3300"/>
            </a:solidFill>
            <a:round/>
            <a:headEnd/>
            <a:tailEnd type="triangle" w="med" len="med"/>
          </a:ln>
          <a:effectLst/>
        </p:spPr>
        <p:txBody>
          <a:bodyPr/>
          <a:lstStyle/>
          <a:p>
            <a:endParaRPr lang="en-US"/>
          </a:p>
        </p:txBody>
      </p:sp>
      <p:sp>
        <p:nvSpPr>
          <p:cNvPr id="35881" name="Text Box 41"/>
          <p:cNvSpPr txBox="1">
            <a:spLocks noChangeArrowheads="1"/>
          </p:cNvSpPr>
          <p:nvPr/>
        </p:nvSpPr>
        <p:spPr bwMode="auto">
          <a:xfrm>
            <a:off x="1524000" y="3048000"/>
            <a:ext cx="879475" cy="457200"/>
          </a:xfrm>
          <a:prstGeom prst="rect">
            <a:avLst/>
          </a:prstGeom>
          <a:noFill/>
          <a:ln w="9525">
            <a:noFill/>
            <a:miter lim="800000"/>
            <a:headEnd/>
            <a:tailEnd/>
          </a:ln>
          <a:effectLst/>
        </p:spPr>
        <p:txBody>
          <a:bodyPr wrap="none">
            <a:spAutoFit/>
          </a:bodyPr>
          <a:lstStyle/>
          <a:p>
            <a:r>
              <a:rPr lang="en-US" sz="2400"/>
              <a:t>p1(x)</a:t>
            </a:r>
          </a:p>
        </p:txBody>
      </p:sp>
      <p:sp>
        <p:nvSpPr>
          <p:cNvPr id="35882" name="Text Box 42"/>
          <p:cNvSpPr txBox="1">
            <a:spLocks noChangeArrowheads="1"/>
          </p:cNvSpPr>
          <p:nvPr/>
        </p:nvSpPr>
        <p:spPr bwMode="auto">
          <a:xfrm>
            <a:off x="6477000" y="3048000"/>
            <a:ext cx="879475" cy="457200"/>
          </a:xfrm>
          <a:prstGeom prst="rect">
            <a:avLst/>
          </a:prstGeom>
          <a:noFill/>
          <a:ln w="9525">
            <a:noFill/>
            <a:miter lim="800000"/>
            <a:headEnd/>
            <a:tailEnd/>
          </a:ln>
          <a:effectLst/>
        </p:spPr>
        <p:txBody>
          <a:bodyPr wrap="none">
            <a:spAutoFit/>
          </a:bodyPr>
          <a:lstStyle/>
          <a:p>
            <a:r>
              <a:rPr lang="en-US" sz="2400"/>
              <a:t>p2(x)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5858"/>
                                        </p:tgtEl>
                                        <p:attrNameLst>
                                          <p:attrName>style.visibility</p:attrName>
                                        </p:attrNameLst>
                                      </p:cBhvr>
                                      <p:to>
                                        <p:strVal val="visible"/>
                                      </p:to>
                                    </p:set>
                                    <p:anim calcmode="lin" valueType="num">
                                      <p:cBhvr additive="base">
                                        <p:cTn id="7" dur="500" fill="hold"/>
                                        <p:tgtEl>
                                          <p:spTgt spid="35858"/>
                                        </p:tgtEl>
                                        <p:attrNameLst>
                                          <p:attrName>ppt_x</p:attrName>
                                        </p:attrNameLst>
                                      </p:cBhvr>
                                      <p:tavLst>
                                        <p:tav tm="0">
                                          <p:val>
                                            <p:strVal val="#ppt_x"/>
                                          </p:val>
                                        </p:tav>
                                        <p:tav tm="100000">
                                          <p:val>
                                            <p:strVal val="#ppt_x"/>
                                          </p:val>
                                        </p:tav>
                                      </p:tavLst>
                                    </p:anim>
                                    <p:anim calcmode="lin" valueType="num">
                                      <p:cBhvr additive="base">
                                        <p:cTn id="8" dur="500" fill="hold"/>
                                        <p:tgtEl>
                                          <p:spTgt spid="3585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5859"/>
                                        </p:tgtEl>
                                        <p:attrNameLst>
                                          <p:attrName>style.visibility</p:attrName>
                                        </p:attrNameLst>
                                      </p:cBhvr>
                                      <p:to>
                                        <p:strVal val="visible"/>
                                      </p:to>
                                    </p:set>
                                    <p:anim calcmode="lin" valueType="num">
                                      <p:cBhvr additive="base">
                                        <p:cTn id="11" dur="500" fill="hold"/>
                                        <p:tgtEl>
                                          <p:spTgt spid="35859"/>
                                        </p:tgtEl>
                                        <p:attrNameLst>
                                          <p:attrName>ppt_x</p:attrName>
                                        </p:attrNameLst>
                                      </p:cBhvr>
                                      <p:tavLst>
                                        <p:tav tm="0">
                                          <p:val>
                                            <p:strVal val="#ppt_x"/>
                                          </p:val>
                                        </p:tav>
                                        <p:tav tm="100000">
                                          <p:val>
                                            <p:strVal val="#ppt_x"/>
                                          </p:val>
                                        </p:tav>
                                      </p:tavLst>
                                    </p:anim>
                                    <p:anim calcmode="lin" valueType="num">
                                      <p:cBhvr additive="base">
                                        <p:cTn id="12" dur="500" fill="hold"/>
                                        <p:tgtEl>
                                          <p:spTgt spid="3585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878"/>
                                        </p:tgtEl>
                                        <p:attrNameLst>
                                          <p:attrName>style.visibility</p:attrName>
                                        </p:attrNameLst>
                                      </p:cBhvr>
                                      <p:to>
                                        <p:strVal val="visible"/>
                                      </p:to>
                                    </p:set>
                                    <p:anim calcmode="lin" valueType="num">
                                      <p:cBhvr additive="base">
                                        <p:cTn id="15" dur="500" fill="hold"/>
                                        <p:tgtEl>
                                          <p:spTgt spid="35878"/>
                                        </p:tgtEl>
                                        <p:attrNameLst>
                                          <p:attrName>ppt_x</p:attrName>
                                        </p:attrNameLst>
                                      </p:cBhvr>
                                      <p:tavLst>
                                        <p:tav tm="0">
                                          <p:val>
                                            <p:strVal val="#ppt_x"/>
                                          </p:val>
                                        </p:tav>
                                        <p:tav tm="100000">
                                          <p:val>
                                            <p:strVal val="#ppt_x"/>
                                          </p:val>
                                        </p:tav>
                                      </p:tavLst>
                                    </p:anim>
                                    <p:anim calcmode="lin" valueType="num">
                                      <p:cBhvr additive="base">
                                        <p:cTn id="16" dur="500" fill="hold"/>
                                        <p:tgtEl>
                                          <p:spTgt spid="3587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5879"/>
                                        </p:tgtEl>
                                        <p:attrNameLst>
                                          <p:attrName>style.visibility</p:attrName>
                                        </p:attrNameLst>
                                      </p:cBhvr>
                                      <p:to>
                                        <p:strVal val="visible"/>
                                      </p:to>
                                    </p:set>
                                    <p:anim calcmode="lin" valueType="num">
                                      <p:cBhvr additive="base">
                                        <p:cTn id="19" dur="500" fill="hold"/>
                                        <p:tgtEl>
                                          <p:spTgt spid="35879"/>
                                        </p:tgtEl>
                                        <p:attrNameLst>
                                          <p:attrName>ppt_x</p:attrName>
                                        </p:attrNameLst>
                                      </p:cBhvr>
                                      <p:tavLst>
                                        <p:tav tm="0">
                                          <p:val>
                                            <p:strVal val="#ppt_x"/>
                                          </p:val>
                                        </p:tav>
                                        <p:tav tm="100000">
                                          <p:val>
                                            <p:strVal val="#ppt_x"/>
                                          </p:val>
                                        </p:tav>
                                      </p:tavLst>
                                    </p:anim>
                                    <p:anim calcmode="lin" valueType="num">
                                      <p:cBhvr additive="base">
                                        <p:cTn id="20" dur="500" fill="hold"/>
                                        <p:tgtEl>
                                          <p:spTgt spid="3587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5880"/>
                                        </p:tgtEl>
                                        <p:attrNameLst>
                                          <p:attrName>style.visibility</p:attrName>
                                        </p:attrNameLst>
                                      </p:cBhvr>
                                      <p:to>
                                        <p:strVal val="visible"/>
                                      </p:to>
                                    </p:set>
                                    <p:anim calcmode="lin" valueType="num">
                                      <p:cBhvr additive="base">
                                        <p:cTn id="23" dur="500" fill="hold"/>
                                        <p:tgtEl>
                                          <p:spTgt spid="35880"/>
                                        </p:tgtEl>
                                        <p:attrNameLst>
                                          <p:attrName>ppt_x</p:attrName>
                                        </p:attrNameLst>
                                      </p:cBhvr>
                                      <p:tavLst>
                                        <p:tav tm="0">
                                          <p:val>
                                            <p:strVal val="#ppt_x"/>
                                          </p:val>
                                        </p:tav>
                                        <p:tav tm="100000">
                                          <p:val>
                                            <p:strVal val="#ppt_x"/>
                                          </p:val>
                                        </p:tav>
                                      </p:tavLst>
                                    </p:anim>
                                    <p:anim calcmode="lin" valueType="num">
                                      <p:cBhvr additive="base">
                                        <p:cTn id="24" dur="500" fill="hold"/>
                                        <p:tgtEl>
                                          <p:spTgt spid="3588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5881"/>
                                        </p:tgtEl>
                                        <p:attrNameLst>
                                          <p:attrName>style.visibility</p:attrName>
                                        </p:attrNameLst>
                                      </p:cBhvr>
                                      <p:to>
                                        <p:strVal val="visible"/>
                                      </p:to>
                                    </p:set>
                                    <p:animEffect transition="in" filter="blinds(horizontal)">
                                      <p:cBhvr>
                                        <p:cTn id="29" dur="500"/>
                                        <p:tgtEl>
                                          <p:spTgt spid="35881"/>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5882"/>
                                        </p:tgtEl>
                                        <p:attrNameLst>
                                          <p:attrName>style.visibility</p:attrName>
                                        </p:attrNameLst>
                                      </p:cBhvr>
                                      <p:to>
                                        <p:strVal val="visible"/>
                                      </p:to>
                                    </p:set>
                                    <p:animEffect transition="in" filter="blinds(horizontal)">
                                      <p:cBhvr>
                                        <p:cTn id="34" dur="500"/>
                                        <p:tgtEl>
                                          <p:spTgt spid="35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8" grpId="0" animBg="1"/>
      <p:bldP spid="35859" grpId="0" animBg="1"/>
      <p:bldP spid="35878" grpId="0" animBg="1"/>
      <p:bldP spid="35879" grpId="0" animBg="1"/>
      <p:bldP spid="35880" grpId="0" animBg="1"/>
      <p:bldP spid="35881" grpId="0"/>
      <p:bldP spid="3588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533400" y="1341438"/>
            <a:ext cx="8382000" cy="2041525"/>
          </a:xfrm>
          <a:prstGeom prst="rect">
            <a:avLst/>
          </a:prstGeom>
          <a:noFill/>
          <a:ln w="9525">
            <a:noFill/>
            <a:miter lim="800000"/>
            <a:headEnd/>
            <a:tailEnd/>
          </a:ln>
          <a:effectLst/>
        </p:spPr>
        <p:txBody>
          <a:bodyPr>
            <a:spAutoFit/>
          </a:bodyPr>
          <a:lstStyle/>
          <a:p>
            <a:pPr>
              <a:buFontTx/>
              <a:buChar char="•"/>
            </a:pPr>
            <a:r>
              <a:rPr lang="en-US" sz="3200"/>
              <a:t>This is why arrays aren’t good to represent polynomials:</a:t>
            </a:r>
          </a:p>
          <a:p>
            <a:pPr>
              <a:buFontTx/>
              <a:buChar char="•"/>
            </a:pPr>
            <a:endParaRPr lang="en-US" sz="3200">
              <a:solidFill>
                <a:srgbClr val="000066"/>
              </a:solidFill>
            </a:endParaRPr>
          </a:p>
          <a:p>
            <a:pPr>
              <a:buFontTx/>
              <a:buChar char="•"/>
            </a:pPr>
            <a:r>
              <a:rPr lang="en-US" sz="3200">
                <a:solidFill>
                  <a:srgbClr val="000066"/>
                </a:solidFill>
              </a:rPr>
              <a:t> p3(x) = 16x</a:t>
            </a:r>
            <a:r>
              <a:rPr lang="en-US" sz="3200" b="1" baseline="30000">
                <a:solidFill>
                  <a:srgbClr val="000066"/>
                </a:solidFill>
              </a:rPr>
              <a:t>21</a:t>
            </a:r>
            <a:r>
              <a:rPr lang="en-US" sz="3200">
                <a:solidFill>
                  <a:srgbClr val="000066"/>
                </a:solidFill>
              </a:rPr>
              <a:t> - 3x</a:t>
            </a:r>
            <a:r>
              <a:rPr lang="en-US" sz="3200" b="1" baseline="30000">
                <a:solidFill>
                  <a:srgbClr val="000066"/>
                </a:solidFill>
              </a:rPr>
              <a:t>5</a:t>
            </a:r>
            <a:r>
              <a:rPr lang="en-US" sz="3200">
                <a:solidFill>
                  <a:srgbClr val="000066"/>
                </a:solidFill>
              </a:rPr>
              <a:t> + 2x + 6</a:t>
            </a:r>
            <a:endParaRPr lang="en-US" sz="3200"/>
          </a:p>
        </p:txBody>
      </p:sp>
      <p:graphicFrame>
        <p:nvGraphicFramePr>
          <p:cNvPr id="36868" name="Group 4"/>
          <p:cNvGraphicFramePr>
            <a:graphicFrameLocks noGrp="1"/>
          </p:cNvGraphicFramePr>
          <p:nvPr/>
        </p:nvGraphicFramePr>
        <p:xfrm>
          <a:off x="669925" y="3886200"/>
          <a:ext cx="4664075" cy="609600"/>
        </p:xfrm>
        <a:graphic>
          <a:graphicData uri="http://schemas.openxmlformats.org/drawingml/2006/table">
            <a:tbl>
              <a:tblPr/>
              <a:tblGrid>
                <a:gridCol w="777875"/>
                <a:gridCol w="777875"/>
                <a:gridCol w="774700"/>
                <a:gridCol w="777875"/>
                <a:gridCol w="777875"/>
                <a:gridCol w="777875"/>
              </a:tblGrid>
              <a:tr h="6096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6884" name="Group 20"/>
          <p:cNvGraphicFramePr>
            <a:graphicFrameLocks noGrp="1"/>
          </p:cNvGraphicFramePr>
          <p:nvPr/>
        </p:nvGraphicFramePr>
        <p:xfrm>
          <a:off x="6705600" y="3886200"/>
          <a:ext cx="1555750" cy="609600"/>
        </p:xfrm>
        <a:graphic>
          <a:graphicData uri="http://schemas.openxmlformats.org/drawingml/2006/table">
            <a:tbl>
              <a:tblPr/>
              <a:tblGrid>
                <a:gridCol w="777875"/>
                <a:gridCol w="777875"/>
              </a:tblGrid>
              <a:tr h="6096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600" b="0" i="0" u="none" strike="noStrike" cap="none" normalizeH="0" baseline="0" smtClean="0">
                          <a:ln>
                            <a:noFill/>
                          </a:ln>
                          <a:solidFill>
                            <a:srgbClr val="000066"/>
                          </a:solidFill>
                          <a:effectLst/>
                          <a:latin typeface="Arial"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6892" name="Line 28"/>
          <p:cNvSpPr>
            <a:spLocks noChangeShapeType="1"/>
          </p:cNvSpPr>
          <p:nvPr/>
        </p:nvSpPr>
        <p:spPr bwMode="auto">
          <a:xfrm>
            <a:off x="5334000" y="4495800"/>
            <a:ext cx="1371600" cy="0"/>
          </a:xfrm>
          <a:prstGeom prst="line">
            <a:avLst/>
          </a:prstGeom>
          <a:noFill/>
          <a:ln w="28575">
            <a:solidFill>
              <a:schemeClr val="tx1"/>
            </a:solidFill>
            <a:round/>
            <a:headEnd/>
            <a:tailEnd/>
          </a:ln>
          <a:effectLst/>
        </p:spPr>
        <p:txBody>
          <a:bodyPr/>
          <a:lstStyle/>
          <a:p>
            <a:endParaRPr lang="en-US"/>
          </a:p>
        </p:txBody>
      </p:sp>
      <p:sp>
        <p:nvSpPr>
          <p:cNvPr id="36893" name="Line 29"/>
          <p:cNvSpPr>
            <a:spLocks noChangeShapeType="1"/>
          </p:cNvSpPr>
          <p:nvPr/>
        </p:nvSpPr>
        <p:spPr bwMode="auto">
          <a:xfrm>
            <a:off x="5334000" y="3886200"/>
            <a:ext cx="1371600" cy="0"/>
          </a:xfrm>
          <a:prstGeom prst="line">
            <a:avLst/>
          </a:prstGeom>
          <a:noFill/>
          <a:ln w="28575">
            <a:solidFill>
              <a:schemeClr val="tx1"/>
            </a:solidFill>
            <a:round/>
            <a:headEnd/>
            <a:tailEnd/>
          </a:ln>
          <a:effectLst/>
        </p:spPr>
        <p:txBody>
          <a:bodyPr/>
          <a:lstStyle/>
          <a:p>
            <a:endParaRPr lang="en-US"/>
          </a:p>
        </p:txBody>
      </p:sp>
      <p:sp>
        <p:nvSpPr>
          <p:cNvPr id="36894" name="Text Box 30"/>
          <p:cNvSpPr txBox="1">
            <a:spLocks noChangeArrowheads="1"/>
          </p:cNvSpPr>
          <p:nvPr/>
        </p:nvSpPr>
        <p:spPr bwMode="auto">
          <a:xfrm>
            <a:off x="5334000" y="3886200"/>
            <a:ext cx="1403350" cy="457200"/>
          </a:xfrm>
          <a:prstGeom prst="rect">
            <a:avLst/>
          </a:prstGeom>
          <a:noFill/>
          <a:ln w="9525">
            <a:noFill/>
            <a:miter lim="800000"/>
            <a:headEnd/>
            <a:tailEnd/>
          </a:ln>
          <a:effectLst/>
        </p:spPr>
        <p:txBody>
          <a:bodyPr wrap="none">
            <a:spAutoFit/>
          </a:bodyPr>
          <a:lstStyle/>
          <a:p>
            <a:r>
              <a:rPr lang="en-US" sz="2400" b="1"/>
              <a:t>…………</a:t>
            </a:r>
          </a:p>
        </p:txBody>
      </p:sp>
      <p:sp>
        <p:nvSpPr>
          <p:cNvPr id="36895" name="Line 31"/>
          <p:cNvSpPr>
            <a:spLocks noChangeShapeType="1"/>
          </p:cNvSpPr>
          <p:nvPr/>
        </p:nvSpPr>
        <p:spPr bwMode="auto">
          <a:xfrm flipV="1">
            <a:off x="5257800" y="4572000"/>
            <a:ext cx="762000" cy="838200"/>
          </a:xfrm>
          <a:prstGeom prst="line">
            <a:avLst/>
          </a:prstGeom>
          <a:noFill/>
          <a:ln w="28575">
            <a:solidFill>
              <a:srgbClr val="CC3300"/>
            </a:solidFill>
            <a:round/>
            <a:headEnd/>
            <a:tailEnd type="triangle" w="med" len="med"/>
          </a:ln>
          <a:effectLst/>
        </p:spPr>
        <p:txBody>
          <a:bodyPr/>
          <a:lstStyle/>
          <a:p>
            <a:endParaRPr lang="en-US"/>
          </a:p>
        </p:txBody>
      </p:sp>
      <p:sp>
        <p:nvSpPr>
          <p:cNvPr id="36896" name="Text Box 32"/>
          <p:cNvSpPr txBox="1">
            <a:spLocks noChangeArrowheads="1"/>
          </p:cNvSpPr>
          <p:nvPr/>
        </p:nvSpPr>
        <p:spPr bwMode="auto">
          <a:xfrm>
            <a:off x="3429000" y="5410200"/>
            <a:ext cx="3027363" cy="457200"/>
          </a:xfrm>
          <a:prstGeom prst="rect">
            <a:avLst/>
          </a:prstGeom>
          <a:noFill/>
          <a:ln w="9525">
            <a:noFill/>
            <a:miter lim="800000"/>
            <a:headEnd/>
            <a:tailEnd/>
          </a:ln>
          <a:effectLst/>
        </p:spPr>
        <p:txBody>
          <a:bodyPr wrap="none">
            <a:spAutoFit/>
          </a:bodyPr>
          <a:lstStyle/>
          <a:p>
            <a:r>
              <a:rPr lang="en-US" sz="2400" b="1" u="sng"/>
              <a:t>WASTE OF SPACE!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6895"/>
                                        </p:tgtEl>
                                        <p:attrNameLst>
                                          <p:attrName>style.visibility</p:attrName>
                                        </p:attrNameLst>
                                      </p:cBhvr>
                                      <p:to>
                                        <p:strVal val="visible"/>
                                      </p:to>
                                    </p:set>
                                    <p:anim calcmode="lin" valueType="num">
                                      <p:cBhvr additive="base">
                                        <p:cTn id="7" dur="500" fill="hold"/>
                                        <p:tgtEl>
                                          <p:spTgt spid="36895"/>
                                        </p:tgtEl>
                                        <p:attrNameLst>
                                          <p:attrName>ppt_x</p:attrName>
                                        </p:attrNameLst>
                                      </p:cBhvr>
                                      <p:tavLst>
                                        <p:tav tm="0">
                                          <p:val>
                                            <p:strVal val="#ppt_x"/>
                                          </p:val>
                                        </p:tav>
                                        <p:tav tm="100000">
                                          <p:val>
                                            <p:strVal val="#ppt_x"/>
                                          </p:val>
                                        </p:tav>
                                      </p:tavLst>
                                    </p:anim>
                                    <p:anim calcmode="lin" valueType="num">
                                      <p:cBhvr additive="base">
                                        <p:cTn id="8" dur="500" fill="hold"/>
                                        <p:tgtEl>
                                          <p:spTgt spid="368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9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Text Box 3"/>
          <p:cNvSpPr txBox="1">
            <a:spLocks noChangeArrowheads="1"/>
          </p:cNvSpPr>
          <p:nvPr/>
        </p:nvSpPr>
        <p:spPr bwMode="auto">
          <a:xfrm>
            <a:off x="533400" y="1206500"/>
            <a:ext cx="8382000" cy="4965700"/>
          </a:xfrm>
          <a:prstGeom prst="rect">
            <a:avLst/>
          </a:prstGeom>
          <a:noFill/>
          <a:ln w="9525">
            <a:noFill/>
            <a:miter lim="800000"/>
            <a:headEnd/>
            <a:tailEnd/>
          </a:ln>
          <a:effectLst/>
        </p:spPr>
        <p:txBody>
          <a:bodyPr>
            <a:spAutoFit/>
          </a:bodyPr>
          <a:lstStyle/>
          <a:p>
            <a:pPr>
              <a:buFontTx/>
              <a:buChar char="•"/>
            </a:pPr>
            <a:r>
              <a:rPr lang="en-US" sz="3200"/>
              <a:t> Advantages of using an Array:</a:t>
            </a:r>
            <a:endParaRPr lang="en-US" sz="3200">
              <a:solidFill>
                <a:srgbClr val="000066"/>
              </a:solidFill>
            </a:endParaRPr>
          </a:p>
          <a:p>
            <a:pPr lvl="1">
              <a:buFontTx/>
              <a:buChar char="•"/>
            </a:pPr>
            <a:endParaRPr lang="en-US" sz="3200">
              <a:solidFill>
                <a:srgbClr val="000066"/>
              </a:solidFill>
            </a:endParaRPr>
          </a:p>
          <a:p>
            <a:pPr lvl="1">
              <a:buFontTx/>
              <a:buChar char="•"/>
            </a:pPr>
            <a:r>
              <a:rPr lang="en-US" sz="3200">
                <a:solidFill>
                  <a:srgbClr val="000066"/>
                </a:solidFill>
              </a:rPr>
              <a:t> only good for non-sparse polynomials.</a:t>
            </a:r>
          </a:p>
          <a:p>
            <a:pPr lvl="1">
              <a:buFontTx/>
              <a:buChar char="•"/>
            </a:pPr>
            <a:r>
              <a:rPr lang="en-US" sz="3200">
                <a:solidFill>
                  <a:srgbClr val="000066"/>
                </a:solidFill>
              </a:rPr>
              <a:t> ease of storage and retrieval.</a:t>
            </a:r>
          </a:p>
          <a:p>
            <a:pPr lvl="1"/>
            <a:endParaRPr lang="en-US" sz="3200">
              <a:solidFill>
                <a:srgbClr val="000066"/>
              </a:solidFill>
            </a:endParaRPr>
          </a:p>
          <a:p>
            <a:pPr>
              <a:buFontTx/>
              <a:buChar char="•"/>
            </a:pPr>
            <a:r>
              <a:rPr lang="en-US" sz="3200"/>
              <a:t> Disadvantages of using an Array:</a:t>
            </a:r>
          </a:p>
          <a:p>
            <a:pPr>
              <a:buFontTx/>
              <a:buChar char="•"/>
            </a:pPr>
            <a:endParaRPr lang="en-US" sz="3200">
              <a:solidFill>
                <a:srgbClr val="000066"/>
              </a:solidFill>
            </a:endParaRPr>
          </a:p>
          <a:p>
            <a:pPr lvl="1">
              <a:buFontTx/>
              <a:buChar char="•"/>
            </a:pPr>
            <a:r>
              <a:rPr lang="en-US" sz="3200">
                <a:solidFill>
                  <a:srgbClr val="000066"/>
                </a:solidFill>
              </a:rPr>
              <a:t> have to allocate array size ahead of time.</a:t>
            </a:r>
          </a:p>
          <a:p>
            <a:pPr lvl="1">
              <a:buFontTx/>
              <a:buChar char="•"/>
            </a:pPr>
            <a:r>
              <a:rPr lang="en-US" sz="3200">
                <a:solidFill>
                  <a:srgbClr val="000066"/>
                </a:solidFill>
              </a:rPr>
              <a:t> huge array size required for sparse polynomials. Waste of space and runtime.</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304800" y="331788"/>
            <a:ext cx="7124066" cy="707886"/>
          </a:xfrm>
          <a:prstGeom prst="rect">
            <a:avLst/>
          </a:prstGeom>
          <a:noFill/>
          <a:ln w="9525">
            <a:noFill/>
            <a:miter lim="800000"/>
            <a:headEnd/>
            <a:tailEnd/>
          </a:ln>
          <a:effectLst/>
        </p:spPr>
        <p:txBody>
          <a:bodyPr wrap="none">
            <a:spAutoFit/>
          </a:bodyPr>
          <a:lstStyle/>
          <a:p>
            <a:pPr>
              <a:buClr>
                <a:schemeClr val="hlink"/>
              </a:buClr>
              <a:buFontTx/>
              <a:buChar char="•"/>
            </a:pPr>
            <a:r>
              <a:rPr lang="en-US" sz="4000" b="1" u="sng" dirty="0"/>
              <a:t> </a:t>
            </a:r>
            <a:r>
              <a:rPr lang="en-US" sz="4000" b="1" u="sng" dirty="0">
                <a:solidFill>
                  <a:srgbClr val="000066"/>
                </a:solidFill>
              </a:rPr>
              <a:t>Polynomial</a:t>
            </a:r>
            <a:r>
              <a:rPr lang="en-US" sz="4000" b="1" u="sng" dirty="0"/>
              <a:t> </a:t>
            </a:r>
            <a:r>
              <a:rPr lang="en-US" sz="4000" b="1" u="sng" dirty="0" smtClean="0">
                <a:solidFill>
                  <a:srgbClr val="000066"/>
                </a:solidFill>
              </a:rPr>
              <a:t>Representation</a:t>
            </a:r>
            <a:endParaRPr lang="en-US" sz="1600" b="1" u="sng" dirty="0">
              <a:solidFill>
                <a:srgbClr val="000066"/>
              </a:solidFill>
            </a:endParaRPr>
          </a:p>
        </p:txBody>
      </p:sp>
      <p:sp>
        <p:nvSpPr>
          <p:cNvPr id="38915" name="Text Box 3"/>
          <p:cNvSpPr txBox="1">
            <a:spLocks noChangeArrowheads="1"/>
          </p:cNvSpPr>
          <p:nvPr/>
        </p:nvSpPr>
        <p:spPr bwMode="auto">
          <a:xfrm>
            <a:off x="533400" y="1524000"/>
            <a:ext cx="8382000" cy="2041525"/>
          </a:xfrm>
          <a:prstGeom prst="rect">
            <a:avLst/>
          </a:prstGeom>
          <a:noFill/>
          <a:ln w="9525">
            <a:noFill/>
            <a:miter lim="800000"/>
            <a:headEnd/>
            <a:tailEnd/>
          </a:ln>
          <a:effectLst/>
        </p:spPr>
        <p:txBody>
          <a:bodyPr>
            <a:spAutoFit/>
          </a:bodyPr>
          <a:lstStyle/>
          <a:p>
            <a:pPr>
              <a:buFontTx/>
              <a:buChar char="•"/>
            </a:pPr>
            <a:r>
              <a:rPr lang="en-US" sz="3200"/>
              <a:t> Linked list Implementation:</a:t>
            </a:r>
          </a:p>
          <a:p>
            <a:endParaRPr lang="en-US" sz="3200"/>
          </a:p>
          <a:p>
            <a:pPr>
              <a:buFontTx/>
              <a:buChar char="•"/>
            </a:pPr>
            <a:r>
              <a:rPr lang="en-US" sz="3200">
                <a:solidFill>
                  <a:srgbClr val="000066"/>
                </a:solidFill>
              </a:rPr>
              <a:t> p1(x) = 23x</a:t>
            </a:r>
            <a:r>
              <a:rPr lang="en-US" sz="3200" b="1" baseline="30000">
                <a:solidFill>
                  <a:srgbClr val="000066"/>
                </a:solidFill>
              </a:rPr>
              <a:t>9</a:t>
            </a:r>
            <a:r>
              <a:rPr lang="en-US" sz="3200">
                <a:solidFill>
                  <a:srgbClr val="000066"/>
                </a:solidFill>
              </a:rPr>
              <a:t> + 18x</a:t>
            </a:r>
            <a:r>
              <a:rPr lang="en-US" sz="3200" b="1" baseline="30000">
                <a:solidFill>
                  <a:srgbClr val="000066"/>
                </a:solidFill>
              </a:rPr>
              <a:t>7</a:t>
            </a:r>
            <a:r>
              <a:rPr lang="en-US" sz="3200">
                <a:solidFill>
                  <a:srgbClr val="000066"/>
                </a:solidFill>
              </a:rPr>
              <a:t> + 41x</a:t>
            </a:r>
            <a:r>
              <a:rPr lang="en-US" sz="3200" b="1" baseline="30000">
                <a:solidFill>
                  <a:srgbClr val="000066"/>
                </a:solidFill>
              </a:rPr>
              <a:t>6</a:t>
            </a:r>
            <a:r>
              <a:rPr lang="en-US" sz="3200">
                <a:solidFill>
                  <a:srgbClr val="000066"/>
                </a:solidFill>
              </a:rPr>
              <a:t> + 163x</a:t>
            </a:r>
            <a:r>
              <a:rPr lang="en-US" sz="3200" b="1" baseline="30000">
                <a:solidFill>
                  <a:srgbClr val="000066"/>
                </a:solidFill>
              </a:rPr>
              <a:t>4</a:t>
            </a:r>
            <a:r>
              <a:rPr lang="en-US" sz="3200">
                <a:solidFill>
                  <a:srgbClr val="000066"/>
                </a:solidFill>
              </a:rPr>
              <a:t> + 3</a:t>
            </a:r>
          </a:p>
          <a:p>
            <a:pPr>
              <a:buFontTx/>
              <a:buChar char="•"/>
            </a:pPr>
            <a:r>
              <a:rPr lang="en-US" sz="3200">
                <a:solidFill>
                  <a:srgbClr val="000066"/>
                </a:solidFill>
              </a:rPr>
              <a:t> p2(x) = 4x</a:t>
            </a:r>
            <a:r>
              <a:rPr lang="en-US" sz="3200" b="1" baseline="30000">
                <a:solidFill>
                  <a:srgbClr val="000066"/>
                </a:solidFill>
              </a:rPr>
              <a:t>6</a:t>
            </a:r>
            <a:r>
              <a:rPr lang="en-US" sz="3200">
                <a:solidFill>
                  <a:srgbClr val="000066"/>
                </a:solidFill>
              </a:rPr>
              <a:t> + 10x</a:t>
            </a:r>
            <a:r>
              <a:rPr lang="en-US" sz="3200" b="1" baseline="30000">
                <a:solidFill>
                  <a:srgbClr val="000066"/>
                </a:solidFill>
              </a:rPr>
              <a:t>4</a:t>
            </a:r>
            <a:r>
              <a:rPr lang="en-US" sz="3200">
                <a:solidFill>
                  <a:srgbClr val="000066"/>
                </a:solidFill>
              </a:rPr>
              <a:t> + 12x + 8</a:t>
            </a:r>
          </a:p>
        </p:txBody>
      </p:sp>
      <p:sp>
        <p:nvSpPr>
          <p:cNvPr id="38916" name="Rectangle 4"/>
          <p:cNvSpPr>
            <a:spLocks noChangeArrowheads="1"/>
          </p:cNvSpPr>
          <p:nvPr/>
        </p:nvSpPr>
        <p:spPr bwMode="auto">
          <a:xfrm>
            <a:off x="854075" y="4038600"/>
            <a:ext cx="1295400" cy="609600"/>
          </a:xfrm>
          <a:prstGeom prst="rect">
            <a:avLst/>
          </a:prstGeom>
          <a:noFill/>
          <a:ln w="9525">
            <a:solidFill>
              <a:srgbClr val="000000"/>
            </a:solidFill>
            <a:miter lim="800000"/>
            <a:headEnd/>
            <a:tailEnd/>
          </a:ln>
          <a:effectLst/>
        </p:spPr>
        <p:txBody>
          <a:bodyPr wrap="none" anchor="ctr"/>
          <a:lstStyle/>
          <a:p>
            <a:pPr algn="ctr"/>
            <a:endParaRPr lang="en-US">
              <a:latin typeface="Times New Roman" pitchFamily="18" charset="0"/>
            </a:endParaRPr>
          </a:p>
        </p:txBody>
      </p:sp>
      <p:sp>
        <p:nvSpPr>
          <p:cNvPr id="38917" name="Line 5"/>
          <p:cNvSpPr>
            <a:spLocks noChangeShapeType="1"/>
          </p:cNvSpPr>
          <p:nvPr/>
        </p:nvSpPr>
        <p:spPr bwMode="auto">
          <a:xfrm>
            <a:off x="1844675" y="4038600"/>
            <a:ext cx="1588" cy="609600"/>
          </a:xfrm>
          <a:prstGeom prst="line">
            <a:avLst/>
          </a:prstGeom>
          <a:noFill/>
          <a:ln w="9525">
            <a:solidFill>
              <a:srgbClr val="000000"/>
            </a:solidFill>
            <a:round/>
            <a:headEnd/>
            <a:tailEnd/>
          </a:ln>
          <a:effectLst/>
        </p:spPr>
        <p:txBody>
          <a:bodyPr/>
          <a:lstStyle/>
          <a:p>
            <a:endParaRPr lang="en-US"/>
          </a:p>
        </p:txBody>
      </p:sp>
      <p:sp>
        <p:nvSpPr>
          <p:cNvPr id="38918" name="Line 6"/>
          <p:cNvSpPr>
            <a:spLocks noChangeShapeType="1"/>
          </p:cNvSpPr>
          <p:nvPr/>
        </p:nvSpPr>
        <p:spPr bwMode="auto">
          <a:xfrm>
            <a:off x="1158875" y="4038600"/>
            <a:ext cx="1588" cy="609600"/>
          </a:xfrm>
          <a:prstGeom prst="line">
            <a:avLst/>
          </a:prstGeom>
          <a:noFill/>
          <a:ln w="9525">
            <a:solidFill>
              <a:srgbClr val="000000"/>
            </a:solidFill>
            <a:round/>
            <a:headEnd/>
            <a:tailEnd/>
          </a:ln>
          <a:effectLst/>
        </p:spPr>
        <p:txBody>
          <a:bodyPr/>
          <a:lstStyle/>
          <a:p>
            <a:endParaRPr lang="en-US"/>
          </a:p>
        </p:txBody>
      </p:sp>
      <p:sp>
        <p:nvSpPr>
          <p:cNvPr id="38919" name="Rectangle 7"/>
          <p:cNvSpPr>
            <a:spLocks noChangeArrowheads="1"/>
          </p:cNvSpPr>
          <p:nvPr/>
        </p:nvSpPr>
        <p:spPr bwMode="auto">
          <a:xfrm>
            <a:off x="2378075" y="4038600"/>
            <a:ext cx="1295400" cy="609600"/>
          </a:xfrm>
          <a:prstGeom prst="rect">
            <a:avLst/>
          </a:prstGeom>
          <a:noFill/>
          <a:ln w="9525">
            <a:solidFill>
              <a:srgbClr val="000000"/>
            </a:solidFill>
            <a:miter lim="800000"/>
            <a:headEnd/>
            <a:tailEnd/>
          </a:ln>
          <a:effectLst/>
        </p:spPr>
        <p:txBody>
          <a:bodyPr wrap="none" anchor="ctr"/>
          <a:lstStyle/>
          <a:p>
            <a:endParaRPr lang="en-US"/>
          </a:p>
        </p:txBody>
      </p:sp>
      <p:sp>
        <p:nvSpPr>
          <p:cNvPr id="38920" name="Line 8"/>
          <p:cNvSpPr>
            <a:spLocks noChangeShapeType="1"/>
          </p:cNvSpPr>
          <p:nvPr/>
        </p:nvSpPr>
        <p:spPr bwMode="auto">
          <a:xfrm>
            <a:off x="3368675" y="4038600"/>
            <a:ext cx="1588" cy="609600"/>
          </a:xfrm>
          <a:prstGeom prst="line">
            <a:avLst/>
          </a:prstGeom>
          <a:noFill/>
          <a:ln w="9525">
            <a:solidFill>
              <a:srgbClr val="000000"/>
            </a:solidFill>
            <a:round/>
            <a:headEnd/>
            <a:tailEnd/>
          </a:ln>
          <a:effectLst/>
        </p:spPr>
        <p:txBody>
          <a:bodyPr/>
          <a:lstStyle/>
          <a:p>
            <a:endParaRPr lang="en-US"/>
          </a:p>
        </p:txBody>
      </p:sp>
      <p:sp>
        <p:nvSpPr>
          <p:cNvPr id="38921" name="Line 9"/>
          <p:cNvSpPr>
            <a:spLocks noChangeShapeType="1"/>
          </p:cNvSpPr>
          <p:nvPr/>
        </p:nvSpPr>
        <p:spPr bwMode="auto">
          <a:xfrm>
            <a:off x="2682875" y="4038600"/>
            <a:ext cx="1588" cy="609600"/>
          </a:xfrm>
          <a:prstGeom prst="line">
            <a:avLst/>
          </a:prstGeom>
          <a:noFill/>
          <a:ln w="9525">
            <a:solidFill>
              <a:srgbClr val="000000"/>
            </a:solidFill>
            <a:round/>
            <a:headEnd/>
            <a:tailEnd/>
          </a:ln>
          <a:effectLst/>
        </p:spPr>
        <p:txBody>
          <a:bodyPr/>
          <a:lstStyle/>
          <a:p>
            <a:endParaRPr lang="en-US"/>
          </a:p>
        </p:txBody>
      </p:sp>
      <p:sp>
        <p:nvSpPr>
          <p:cNvPr id="38922" name="Rectangle 10"/>
          <p:cNvSpPr>
            <a:spLocks noChangeArrowheads="1"/>
          </p:cNvSpPr>
          <p:nvPr/>
        </p:nvSpPr>
        <p:spPr bwMode="auto">
          <a:xfrm>
            <a:off x="3902075" y="4038600"/>
            <a:ext cx="1295400" cy="609600"/>
          </a:xfrm>
          <a:prstGeom prst="rect">
            <a:avLst/>
          </a:prstGeom>
          <a:noFill/>
          <a:ln w="9525">
            <a:solidFill>
              <a:srgbClr val="000000"/>
            </a:solidFill>
            <a:miter lim="800000"/>
            <a:headEnd/>
            <a:tailEnd/>
          </a:ln>
          <a:effectLst/>
        </p:spPr>
        <p:txBody>
          <a:bodyPr wrap="none" anchor="ctr"/>
          <a:lstStyle/>
          <a:p>
            <a:endParaRPr lang="en-US"/>
          </a:p>
        </p:txBody>
      </p:sp>
      <p:sp>
        <p:nvSpPr>
          <p:cNvPr id="38923" name="Line 11"/>
          <p:cNvSpPr>
            <a:spLocks noChangeShapeType="1"/>
          </p:cNvSpPr>
          <p:nvPr/>
        </p:nvSpPr>
        <p:spPr bwMode="auto">
          <a:xfrm>
            <a:off x="4892675" y="4038600"/>
            <a:ext cx="1588" cy="609600"/>
          </a:xfrm>
          <a:prstGeom prst="line">
            <a:avLst/>
          </a:prstGeom>
          <a:noFill/>
          <a:ln w="9525">
            <a:solidFill>
              <a:srgbClr val="000000"/>
            </a:solidFill>
            <a:round/>
            <a:headEnd/>
            <a:tailEnd/>
          </a:ln>
          <a:effectLst/>
        </p:spPr>
        <p:txBody>
          <a:bodyPr/>
          <a:lstStyle/>
          <a:p>
            <a:endParaRPr lang="en-US"/>
          </a:p>
        </p:txBody>
      </p:sp>
      <p:sp>
        <p:nvSpPr>
          <p:cNvPr id="38924" name="Line 12"/>
          <p:cNvSpPr>
            <a:spLocks noChangeShapeType="1"/>
          </p:cNvSpPr>
          <p:nvPr/>
        </p:nvSpPr>
        <p:spPr bwMode="auto">
          <a:xfrm>
            <a:off x="4206875" y="4038600"/>
            <a:ext cx="1588" cy="609600"/>
          </a:xfrm>
          <a:prstGeom prst="line">
            <a:avLst/>
          </a:prstGeom>
          <a:noFill/>
          <a:ln w="9525">
            <a:solidFill>
              <a:srgbClr val="000000"/>
            </a:solidFill>
            <a:round/>
            <a:headEnd/>
            <a:tailEnd/>
          </a:ln>
          <a:effectLst/>
        </p:spPr>
        <p:txBody>
          <a:bodyPr/>
          <a:lstStyle/>
          <a:p>
            <a:endParaRPr lang="en-US"/>
          </a:p>
        </p:txBody>
      </p:sp>
      <p:sp>
        <p:nvSpPr>
          <p:cNvPr id="38925" name="Text Box 13"/>
          <p:cNvSpPr txBox="1">
            <a:spLocks noChangeArrowheads="1"/>
          </p:cNvSpPr>
          <p:nvPr/>
        </p:nvSpPr>
        <p:spPr bwMode="auto">
          <a:xfrm>
            <a:off x="838200" y="4202113"/>
            <a:ext cx="381000" cy="304800"/>
          </a:xfrm>
          <a:prstGeom prst="rect">
            <a:avLst/>
          </a:prstGeom>
          <a:noFill/>
          <a:ln w="9525">
            <a:noFill/>
            <a:miter lim="800000"/>
            <a:headEnd/>
            <a:tailEnd/>
          </a:ln>
          <a:effectLst/>
        </p:spPr>
        <p:txBody>
          <a:bodyPr wrap="none">
            <a:spAutoFit/>
          </a:bodyPr>
          <a:lstStyle/>
          <a:p>
            <a:r>
              <a:rPr lang="en-US" sz="1400" b="1">
                <a:solidFill>
                  <a:srgbClr val="000000"/>
                </a:solidFill>
              </a:rPr>
              <a:t>23</a:t>
            </a:r>
          </a:p>
        </p:txBody>
      </p:sp>
      <p:sp>
        <p:nvSpPr>
          <p:cNvPr id="38926" name="Text Box 14"/>
          <p:cNvSpPr txBox="1">
            <a:spLocks noChangeArrowheads="1"/>
          </p:cNvSpPr>
          <p:nvPr/>
        </p:nvSpPr>
        <p:spPr bwMode="auto">
          <a:xfrm>
            <a:off x="1317625" y="4191000"/>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9</a:t>
            </a:r>
          </a:p>
        </p:txBody>
      </p:sp>
      <p:sp>
        <p:nvSpPr>
          <p:cNvPr id="38927" name="Text Box 15"/>
          <p:cNvSpPr txBox="1">
            <a:spLocks noChangeArrowheads="1"/>
          </p:cNvSpPr>
          <p:nvPr/>
        </p:nvSpPr>
        <p:spPr bwMode="auto">
          <a:xfrm>
            <a:off x="2308225" y="4191000"/>
            <a:ext cx="381000" cy="304800"/>
          </a:xfrm>
          <a:prstGeom prst="rect">
            <a:avLst/>
          </a:prstGeom>
          <a:noFill/>
          <a:ln w="9525">
            <a:noFill/>
            <a:miter lim="800000"/>
            <a:headEnd/>
            <a:tailEnd/>
          </a:ln>
          <a:effectLst/>
        </p:spPr>
        <p:txBody>
          <a:bodyPr wrap="none">
            <a:spAutoFit/>
          </a:bodyPr>
          <a:lstStyle/>
          <a:p>
            <a:r>
              <a:rPr lang="en-US" sz="1400" b="1">
                <a:solidFill>
                  <a:srgbClr val="000000"/>
                </a:solidFill>
              </a:rPr>
              <a:t>18</a:t>
            </a:r>
          </a:p>
        </p:txBody>
      </p:sp>
      <p:sp>
        <p:nvSpPr>
          <p:cNvPr id="38928" name="Text Box 16"/>
          <p:cNvSpPr txBox="1">
            <a:spLocks noChangeArrowheads="1"/>
          </p:cNvSpPr>
          <p:nvPr/>
        </p:nvSpPr>
        <p:spPr bwMode="auto">
          <a:xfrm>
            <a:off x="2765425" y="4191000"/>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7</a:t>
            </a:r>
          </a:p>
        </p:txBody>
      </p:sp>
      <p:sp>
        <p:nvSpPr>
          <p:cNvPr id="38929" name="Text Box 17"/>
          <p:cNvSpPr txBox="1">
            <a:spLocks noChangeArrowheads="1"/>
          </p:cNvSpPr>
          <p:nvPr/>
        </p:nvSpPr>
        <p:spPr bwMode="auto">
          <a:xfrm>
            <a:off x="3832225" y="4191000"/>
            <a:ext cx="381000" cy="304800"/>
          </a:xfrm>
          <a:prstGeom prst="rect">
            <a:avLst/>
          </a:prstGeom>
          <a:noFill/>
          <a:ln w="9525">
            <a:noFill/>
            <a:miter lim="800000"/>
            <a:headEnd/>
            <a:tailEnd/>
          </a:ln>
          <a:effectLst/>
        </p:spPr>
        <p:txBody>
          <a:bodyPr wrap="none">
            <a:spAutoFit/>
          </a:bodyPr>
          <a:lstStyle/>
          <a:p>
            <a:r>
              <a:rPr lang="en-US" sz="1400" b="1">
                <a:solidFill>
                  <a:srgbClr val="000000"/>
                </a:solidFill>
              </a:rPr>
              <a:t>41</a:t>
            </a:r>
          </a:p>
        </p:txBody>
      </p:sp>
      <p:sp>
        <p:nvSpPr>
          <p:cNvPr id="38930" name="Text Box 18"/>
          <p:cNvSpPr txBox="1">
            <a:spLocks noChangeArrowheads="1"/>
          </p:cNvSpPr>
          <p:nvPr/>
        </p:nvSpPr>
        <p:spPr bwMode="auto">
          <a:xfrm>
            <a:off x="4289425" y="4191000"/>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6</a:t>
            </a:r>
          </a:p>
        </p:txBody>
      </p:sp>
      <p:sp>
        <p:nvSpPr>
          <p:cNvPr id="38931" name="Line 19"/>
          <p:cNvSpPr>
            <a:spLocks noChangeShapeType="1"/>
          </p:cNvSpPr>
          <p:nvPr/>
        </p:nvSpPr>
        <p:spPr bwMode="auto">
          <a:xfrm>
            <a:off x="1997075" y="4343400"/>
            <a:ext cx="381000" cy="0"/>
          </a:xfrm>
          <a:prstGeom prst="line">
            <a:avLst/>
          </a:prstGeom>
          <a:noFill/>
          <a:ln w="9525">
            <a:solidFill>
              <a:srgbClr val="000000"/>
            </a:solidFill>
            <a:round/>
            <a:headEnd/>
            <a:tailEnd type="triangle" w="med" len="med"/>
          </a:ln>
          <a:effectLst/>
        </p:spPr>
        <p:txBody>
          <a:bodyPr/>
          <a:lstStyle/>
          <a:p>
            <a:endParaRPr lang="en-US"/>
          </a:p>
        </p:txBody>
      </p:sp>
      <p:sp>
        <p:nvSpPr>
          <p:cNvPr id="38932" name="Line 20"/>
          <p:cNvSpPr>
            <a:spLocks noChangeShapeType="1"/>
          </p:cNvSpPr>
          <p:nvPr/>
        </p:nvSpPr>
        <p:spPr bwMode="auto">
          <a:xfrm>
            <a:off x="3521075" y="4343400"/>
            <a:ext cx="381000" cy="0"/>
          </a:xfrm>
          <a:prstGeom prst="line">
            <a:avLst/>
          </a:prstGeom>
          <a:noFill/>
          <a:ln w="9525">
            <a:solidFill>
              <a:srgbClr val="000000"/>
            </a:solidFill>
            <a:round/>
            <a:headEnd/>
            <a:tailEnd type="triangle" w="med" len="med"/>
          </a:ln>
          <a:effectLst/>
        </p:spPr>
        <p:txBody>
          <a:bodyPr/>
          <a:lstStyle/>
          <a:p>
            <a:endParaRPr lang="en-US"/>
          </a:p>
        </p:txBody>
      </p:sp>
      <p:sp>
        <p:nvSpPr>
          <p:cNvPr id="38933" name="Rectangle 21"/>
          <p:cNvSpPr>
            <a:spLocks noChangeArrowheads="1"/>
          </p:cNvSpPr>
          <p:nvPr/>
        </p:nvSpPr>
        <p:spPr bwMode="auto">
          <a:xfrm>
            <a:off x="5426075" y="4038600"/>
            <a:ext cx="1295400" cy="609600"/>
          </a:xfrm>
          <a:prstGeom prst="rect">
            <a:avLst/>
          </a:prstGeom>
          <a:noFill/>
          <a:ln w="9525">
            <a:solidFill>
              <a:srgbClr val="000000"/>
            </a:solidFill>
            <a:miter lim="800000"/>
            <a:headEnd/>
            <a:tailEnd/>
          </a:ln>
          <a:effectLst/>
        </p:spPr>
        <p:txBody>
          <a:bodyPr wrap="none" anchor="ctr"/>
          <a:lstStyle/>
          <a:p>
            <a:endParaRPr lang="en-US"/>
          </a:p>
        </p:txBody>
      </p:sp>
      <p:sp>
        <p:nvSpPr>
          <p:cNvPr id="38934" name="Line 22"/>
          <p:cNvSpPr>
            <a:spLocks noChangeShapeType="1"/>
          </p:cNvSpPr>
          <p:nvPr/>
        </p:nvSpPr>
        <p:spPr bwMode="auto">
          <a:xfrm>
            <a:off x="6416675" y="4038600"/>
            <a:ext cx="1588" cy="609600"/>
          </a:xfrm>
          <a:prstGeom prst="line">
            <a:avLst/>
          </a:prstGeom>
          <a:noFill/>
          <a:ln w="9525">
            <a:solidFill>
              <a:srgbClr val="000000"/>
            </a:solidFill>
            <a:round/>
            <a:headEnd/>
            <a:tailEnd/>
          </a:ln>
          <a:effectLst/>
        </p:spPr>
        <p:txBody>
          <a:bodyPr/>
          <a:lstStyle/>
          <a:p>
            <a:endParaRPr lang="en-US"/>
          </a:p>
        </p:txBody>
      </p:sp>
      <p:sp>
        <p:nvSpPr>
          <p:cNvPr id="38935" name="Line 23"/>
          <p:cNvSpPr>
            <a:spLocks noChangeShapeType="1"/>
          </p:cNvSpPr>
          <p:nvPr/>
        </p:nvSpPr>
        <p:spPr bwMode="auto">
          <a:xfrm>
            <a:off x="5730875" y="4038600"/>
            <a:ext cx="1588" cy="609600"/>
          </a:xfrm>
          <a:prstGeom prst="line">
            <a:avLst/>
          </a:prstGeom>
          <a:noFill/>
          <a:ln w="9525">
            <a:solidFill>
              <a:srgbClr val="000000"/>
            </a:solidFill>
            <a:round/>
            <a:headEnd/>
            <a:tailEnd/>
          </a:ln>
          <a:effectLst/>
        </p:spPr>
        <p:txBody>
          <a:bodyPr/>
          <a:lstStyle/>
          <a:p>
            <a:endParaRPr lang="en-US"/>
          </a:p>
        </p:txBody>
      </p:sp>
      <p:sp>
        <p:nvSpPr>
          <p:cNvPr id="38936" name="Text Box 24"/>
          <p:cNvSpPr txBox="1">
            <a:spLocks noChangeArrowheads="1"/>
          </p:cNvSpPr>
          <p:nvPr/>
        </p:nvSpPr>
        <p:spPr bwMode="auto">
          <a:xfrm>
            <a:off x="5356225" y="4191000"/>
            <a:ext cx="381000" cy="304800"/>
          </a:xfrm>
          <a:prstGeom prst="rect">
            <a:avLst/>
          </a:prstGeom>
          <a:noFill/>
          <a:ln w="9525">
            <a:noFill/>
            <a:miter lim="800000"/>
            <a:headEnd/>
            <a:tailEnd/>
          </a:ln>
          <a:effectLst/>
        </p:spPr>
        <p:txBody>
          <a:bodyPr wrap="none">
            <a:spAutoFit/>
          </a:bodyPr>
          <a:lstStyle/>
          <a:p>
            <a:r>
              <a:rPr lang="en-US" sz="1400" b="1">
                <a:solidFill>
                  <a:srgbClr val="000000"/>
                </a:solidFill>
              </a:rPr>
              <a:t>18</a:t>
            </a:r>
          </a:p>
        </p:txBody>
      </p:sp>
      <p:sp>
        <p:nvSpPr>
          <p:cNvPr id="38937" name="Text Box 25"/>
          <p:cNvSpPr txBox="1">
            <a:spLocks noChangeArrowheads="1"/>
          </p:cNvSpPr>
          <p:nvPr/>
        </p:nvSpPr>
        <p:spPr bwMode="auto">
          <a:xfrm>
            <a:off x="5813425" y="4191000"/>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7</a:t>
            </a:r>
          </a:p>
        </p:txBody>
      </p:sp>
      <p:sp>
        <p:nvSpPr>
          <p:cNvPr id="38938" name="Line 26"/>
          <p:cNvSpPr>
            <a:spLocks noChangeShapeType="1"/>
          </p:cNvSpPr>
          <p:nvPr/>
        </p:nvSpPr>
        <p:spPr bwMode="auto">
          <a:xfrm>
            <a:off x="5045075" y="4343400"/>
            <a:ext cx="381000" cy="0"/>
          </a:xfrm>
          <a:prstGeom prst="line">
            <a:avLst/>
          </a:prstGeom>
          <a:noFill/>
          <a:ln w="9525">
            <a:solidFill>
              <a:srgbClr val="000000"/>
            </a:solidFill>
            <a:round/>
            <a:headEnd/>
            <a:tailEnd type="triangle" w="med" len="med"/>
          </a:ln>
          <a:effectLst/>
        </p:spPr>
        <p:txBody>
          <a:bodyPr/>
          <a:lstStyle/>
          <a:p>
            <a:endParaRPr lang="en-US"/>
          </a:p>
        </p:txBody>
      </p:sp>
      <p:sp>
        <p:nvSpPr>
          <p:cNvPr id="38939" name="Line 27"/>
          <p:cNvSpPr>
            <a:spLocks noChangeShapeType="1"/>
          </p:cNvSpPr>
          <p:nvPr/>
        </p:nvSpPr>
        <p:spPr bwMode="auto">
          <a:xfrm>
            <a:off x="6569075" y="4343400"/>
            <a:ext cx="381000" cy="0"/>
          </a:xfrm>
          <a:prstGeom prst="line">
            <a:avLst/>
          </a:prstGeom>
          <a:noFill/>
          <a:ln w="9525">
            <a:solidFill>
              <a:srgbClr val="000000"/>
            </a:solidFill>
            <a:round/>
            <a:headEnd/>
            <a:tailEnd type="triangle" w="med" len="med"/>
          </a:ln>
          <a:effectLst/>
        </p:spPr>
        <p:txBody>
          <a:bodyPr/>
          <a:lstStyle/>
          <a:p>
            <a:endParaRPr lang="en-US"/>
          </a:p>
        </p:txBody>
      </p:sp>
      <p:sp>
        <p:nvSpPr>
          <p:cNvPr id="38940" name="Rectangle 28"/>
          <p:cNvSpPr>
            <a:spLocks noChangeArrowheads="1"/>
          </p:cNvSpPr>
          <p:nvPr/>
        </p:nvSpPr>
        <p:spPr bwMode="auto">
          <a:xfrm>
            <a:off x="6950075" y="4038600"/>
            <a:ext cx="1295400" cy="609600"/>
          </a:xfrm>
          <a:prstGeom prst="rect">
            <a:avLst/>
          </a:prstGeom>
          <a:noFill/>
          <a:ln w="9525">
            <a:solidFill>
              <a:srgbClr val="000000"/>
            </a:solidFill>
            <a:miter lim="800000"/>
            <a:headEnd/>
            <a:tailEnd/>
          </a:ln>
          <a:effectLst/>
        </p:spPr>
        <p:txBody>
          <a:bodyPr wrap="none" anchor="ctr"/>
          <a:lstStyle/>
          <a:p>
            <a:endParaRPr lang="en-US"/>
          </a:p>
        </p:txBody>
      </p:sp>
      <p:sp>
        <p:nvSpPr>
          <p:cNvPr id="38941" name="Line 29"/>
          <p:cNvSpPr>
            <a:spLocks noChangeShapeType="1"/>
          </p:cNvSpPr>
          <p:nvPr/>
        </p:nvSpPr>
        <p:spPr bwMode="auto">
          <a:xfrm>
            <a:off x="7940675" y="4038600"/>
            <a:ext cx="1588" cy="609600"/>
          </a:xfrm>
          <a:prstGeom prst="line">
            <a:avLst/>
          </a:prstGeom>
          <a:noFill/>
          <a:ln w="9525">
            <a:solidFill>
              <a:srgbClr val="000000"/>
            </a:solidFill>
            <a:round/>
            <a:headEnd/>
            <a:tailEnd/>
          </a:ln>
          <a:effectLst/>
        </p:spPr>
        <p:txBody>
          <a:bodyPr/>
          <a:lstStyle/>
          <a:p>
            <a:endParaRPr lang="en-US"/>
          </a:p>
        </p:txBody>
      </p:sp>
      <p:sp>
        <p:nvSpPr>
          <p:cNvPr id="38942" name="Line 30"/>
          <p:cNvSpPr>
            <a:spLocks noChangeShapeType="1"/>
          </p:cNvSpPr>
          <p:nvPr/>
        </p:nvSpPr>
        <p:spPr bwMode="auto">
          <a:xfrm>
            <a:off x="7254875" y="4038600"/>
            <a:ext cx="1588" cy="609600"/>
          </a:xfrm>
          <a:prstGeom prst="line">
            <a:avLst/>
          </a:prstGeom>
          <a:noFill/>
          <a:ln w="9525">
            <a:solidFill>
              <a:srgbClr val="000000"/>
            </a:solidFill>
            <a:round/>
            <a:headEnd/>
            <a:tailEnd/>
          </a:ln>
          <a:effectLst/>
        </p:spPr>
        <p:txBody>
          <a:bodyPr/>
          <a:lstStyle/>
          <a:p>
            <a:endParaRPr lang="en-US"/>
          </a:p>
        </p:txBody>
      </p:sp>
      <p:sp>
        <p:nvSpPr>
          <p:cNvPr id="38943" name="Text Box 31"/>
          <p:cNvSpPr txBox="1">
            <a:spLocks noChangeArrowheads="1"/>
          </p:cNvSpPr>
          <p:nvPr/>
        </p:nvSpPr>
        <p:spPr bwMode="auto">
          <a:xfrm>
            <a:off x="6956425" y="4191000"/>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3</a:t>
            </a:r>
          </a:p>
        </p:txBody>
      </p:sp>
      <p:sp>
        <p:nvSpPr>
          <p:cNvPr id="38944" name="Text Box 32"/>
          <p:cNvSpPr txBox="1">
            <a:spLocks noChangeArrowheads="1"/>
          </p:cNvSpPr>
          <p:nvPr/>
        </p:nvSpPr>
        <p:spPr bwMode="auto">
          <a:xfrm>
            <a:off x="7337425" y="4191000"/>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0</a:t>
            </a:r>
          </a:p>
        </p:txBody>
      </p:sp>
      <p:sp>
        <p:nvSpPr>
          <p:cNvPr id="38945" name="Line 33"/>
          <p:cNvSpPr>
            <a:spLocks noChangeShapeType="1"/>
          </p:cNvSpPr>
          <p:nvPr/>
        </p:nvSpPr>
        <p:spPr bwMode="auto">
          <a:xfrm>
            <a:off x="8534400" y="4343400"/>
            <a:ext cx="0" cy="304800"/>
          </a:xfrm>
          <a:prstGeom prst="line">
            <a:avLst/>
          </a:prstGeom>
          <a:noFill/>
          <a:ln w="9525">
            <a:solidFill>
              <a:srgbClr val="000000"/>
            </a:solidFill>
            <a:round/>
            <a:headEnd/>
            <a:tailEnd type="triangle" w="med" len="med"/>
          </a:ln>
          <a:effectLst/>
        </p:spPr>
        <p:txBody>
          <a:bodyPr/>
          <a:lstStyle/>
          <a:p>
            <a:endParaRPr lang="en-US"/>
          </a:p>
        </p:txBody>
      </p:sp>
      <p:sp>
        <p:nvSpPr>
          <p:cNvPr id="38946" name="Rectangle 34"/>
          <p:cNvSpPr>
            <a:spLocks noChangeArrowheads="1"/>
          </p:cNvSpPr>
          <p:nvPr/>
        </p:nvSpPr>
        <p:spPr bwMode="auto">
          <a:xfrm>
            <a:off x="854075" y="5181600"/>
            <a:ext cx="1295400" cy="609600"/>
          </a:xfrm>
          <a:prstGeom prst="rect">
            <a:avLst/>
          </a:prstGeom>
          <a:noFill/>
          <a:ln w="9525">
            <a:solidFill>
              <a:srgbClr val="000000"/>
            </a:solidFill>
            <a:miter lim="800000"/>
            <a:headEnd/>
            <a:tailEnd/>
          </a:ln>
          <a:effectLst/>
        </p:spPr>
        <p:txBody>
          <a:bodyPr wrap="none" anchor="ctr"/>
          <a:lstStyle/>
          <a:p>
            <a:pPr algn="ctr"/>
            <a:endParaRPr lang="en-US">
              <a:latin typeface="Times New Roman" pitchFamily="18" charset="0"/>
            </a:endParaRPr>
          </a:p>
        </p:txBody>
      </p:sp>
      <p:sp>
        <p:nvSpPr>
          <p:cNvPr id="38947" name="Line 35"/>
          <p:cNvSpPr>
            <a:spLocks noChangeShapeType="1"/>
          </p:cNvSpPr>
          <p:nvPr/>
        </p:nvSpPr>
        <p:spPr bwMode="auto">
          <a:xfrm>
            <a:off x="1844675" y="5181600"/>
            <a:ext cx="1588" cy="609600"/>
          </a:xfrm>
          <a:prstGeom prst="line">
            <a:avLst/>
          </a:prstGeom>
          <a:noFill/>
          <a:ln w="9525">
            <a:solidFill>
              <a:srgbClr val="000000"/>
            </a:solidFill>
            <a:round/>
            <a:headEnd/>
            <a:tailEnd/>
          </a:ln>
          <a:effectLst/>
        </p:spPr>
        <p:txBody>
          <a:bodyPr/>
          <a:lstStyle/>
          <a:p>
            <a:endParaRPr lang="en-US"/>
          </a:p>
        </p:txBody>
      </p:sp>
      <p:sp>
        <p:nvSpPr>
          <p:cNvPr id="38948" name="Line 36"/>
          <p:cNvSpPr>
            <a:spLocks noChangeShapeType="1"/>
          </p:cNvSpPr>
          <p:nvPr/>
        </p:nvSpPr>
        <p:spPr bwMode="auto">
          <a:xfrm>
            <a:off x="1158875" y="5181600"/>
            <a:ext cx="1588" cy="609600"/>
          </a:xfrm>
          <a:prstGeom prst="line">
            <a:avLst/>
          </a:prstGeom>
          <a:noFill/>
          <a:ln w="9525">
            <a:solidFill>
              <a:srgbClr val="000000"/>
            </a:solidFill>
            <a:round/>
            <a:headEnd/>
            <a:tailEnd/>
          </a:ln>
          <a:effectLst/>
        </p:spPr>
        <p:txBody>
          <a:bodyPr/>
          <a:lstStyle/>
          <a:p>
            <a:endParaRPr lang="en-US"/>
          </a:p>
        </p:txBody>
      </p:sp>
      <p:sp>
        <p:nvSpPr>
          <p:cNvPr id="38949" name="Rectangle 37"/>
          <p:cNvSpPr>
            <a:spLocks noChangeArrowheads="1"/>
          </p:cNvSpPr>
          <p:nvPr/>
        </p:nvSpPr>
        <p:spPr bwMode="auto">
          <a:xfrm>
            <a:off x="2378075" y="5181600"/>
            <a:ext cx="1295400" cy="609600"/>
          </a:xfrm>
          <a:prstGeom prst="rect">
            <a:avLst/>
          </a:prstGeom>
          <a:noFill/>
          <a:ln w="9525">
            <a:solidFill>
              <a:srgbClr val="000000"/>
            </a:solidFill>
            <a:miter lim="800000"/>
            <a:headEnd/>
            <a:tailEnd/>
          </a:ln>
          <a:effectLst/>
        </p:spPr>
        <p:txBody>
          <a:bodyPr wrap="none" anchor="ctr"/>
          <a:lstStyle/>
          <a:p>
            <a:endParaRPr lang="en-US"/>
          </a:p>
        </p:txBody>
      </p:sp>
      <p:sp>
        <p:nvSpPr>
          <p:cNvPr id="38950" name="Line 38"/>
          <p:cNvSpPr>
            <a:spLocks noChangeShapeType="1"/>
          </p:cNvSpPr>
          <p:nvPr/>
        </p:nvSpPr>
        <p:spPr bwMode="auto">
          <a:xfrm>
            <a:off x="3368675" y="5181600"/>
            <a:ext cx="1588" cy="609600"/>
          </a:xfrm>
          <a:prstGeom prst="line">
            <a:avLst/>
          </a:prstGeom>
          <a:noFill/>
          <a:ln w="9525">
            <a:solidFill>
              <a:srgbClr val="000000"/>
            </a:solidFill>
            <a:round/>
            <a:headEnd/>
            <a:tailEnd/>
          </a:ln>
          <a:effectLst/>
        </p:spPr>
        <p:txBody>
          <a:bodyPr/>
          <a:lstStyle/>
          <a:p>
            <a:endParaRPr lang="en-US"/>
          </a:p>
        </p:txBody>
      </p:sp>
      <p:sp>
        <p:nvSpPr>
          <p:cNvPr id="38951" name="Line 39"/>
          <p:cNvSpPr>
            <a:spLocks noChangeShapeType="1"/>
          </p:cNvSpPr>
          <p:nvPr/>
        </p:nvSpPr>
        <p:spPr bwMode="auto">
          <a:xfrm>
            <a:off x="2682875" y="5181600"/>
            <a:ext cx="1588" cy="609600"/>
          </a:xfrm>
          <a:prstGeom prst="line">
            <a:avLst/>
          </a:prstGeom>
          <a:noFill/>
          <a:ln w="9525">
            <a:solidFill>
              <a:srgbClr val="000000"/>
            </a:solidFill>
            <a:round/>
            <a:headEnd/>
            <a:tailEnd/>
          </a:ln>
          <a:effectLst/>
        </p:spPr>
        <p:txBody>
          <a:bodyPr/>
          <a:lstStyle/>
          <a:p>
            <a:endParaRPr lang="en-US"/>
          </a:p>
        </p:txBody>
      </p:sp>
      <p:sp>
        <p:nvSpPr>
          <p:cNvPr id="38952" name="Rectangle 40"/>
          <p:cNvSpPr>
            <a:spLocks noChangeArrowheads="1"/>
          </p:cNvSpPr>
          <p:nvPr/>
        </p:nvSpPr>
        <p:spPr bwMode="auto">
          <a:xfrm>
            <a:off x="3902075" y="5181600"/>
            <a:ext cx="1295400" cy="609600"/>
          </a:xfrm>
          <a:prstGeom prst="rect">
            <a:avLst/>
          </a:prstGeom>
          <a:noFill/>
          <a:ln w="9525">
            <a:solidFill>
              <a:srgbClr val="000000"/>
            </a:solidFill>
            <a:miter lim="800000"/>
            <a:headEnd/>
            <a:tailEnd/>
          </a:ln>
          <a:effectLst/>
        </p:spPr>
        <p:txBody>
          <a:bodyPr wrap="none" anchor="ctr"/>
          <a:lstStyle/>
          <a:p>
            <a:endParaRPr lang="en-US"/>
          </a:p>
        </p:txBody>
      </p:sp>
      <p:sp>
        <p:nvSpPr>
          <p:cNvPr id="38953" name="Line 41"/>
          <p:cNvSpPr>
            <a:spLocks noChangeShapeType="1"/>
          </p:cNvSpPr>
          <p:nvPr/>
        </p:nvSpPr>
        <p:spPr bwMode="auto">
          <a:xfrm>
            <a:off x="4892675" y="5181600"/>
            <a:ext cx="1588" cy="609600"/>
          </a:xfrm>
          <a:prstGeom prst="line">
            <a:avLst/>
          </a:prstGeom>
          <a:noFill/>
          <a:ln w="9525">
            <a:solidFill>
              <a:srgbClr val="000000"/>
            </a:solidFill>
            <a:round/>
            <a:headEnd/>
            <a:tailEnd/>
          </a:ln>
          <a:effectLst/>
        </p:spPr>
        <p:txBody>
          <a:bodyPr/>
          <a:lstStyle/>
          <a:p>
            <a:endParaRPr lang="en-US"/>
          </a:p>
        </p:txBody>
      </p:sp>
      <p:sp>
        <p:nvSpPr>
          <p:cNvPr id="38954" name="Line 42"/>
          <p:cNvSpPr>
            <a:spLocks noChangeShapeType="1"/>
          </p:cNvSpPr>
          <p:nvPr/>
        </p:nvSpPr>
        <p:spPr bwMode="auto">
          <a:xfrm>
            <a:off x="4206875" y="5181600"/>
            <a:ext cx="1588" cy="609600"/>
          </a:xfrm>
          <a:prstGeom prst="line">
            <a:avLst/>
          </a:prstGeom>
          <a:noFill/>
          <a:ln w="9525">
            <a:solidFill>
              <a:srgbClr val="000000"/>
            </a:solidFill>
            <a:round/>
            <a:headEnd/>
            <a:tailEnd/>
          </a:ln>
          <a:effectLst/>
        </p:spPr>
        <p:txBody>
          <a:bodyPr/>
          <a:lstStyle/>
          <a:p>
            <a:endParaRPr lang="en-US"/>
          </a:p>
        </p:txBody>
      </p:sp>
      <p:sp>
        <p:nvSpPr>
          <p:cNvPr id="38955" name="Text Box 43"/>
          <p:cNvSpPr txBox="1">
            <a:spLocks noChangeArrowheads="1"/>
          </p:cNvSpPr>
          <p:nvPr/>
        </p:nvSpPr>
        <p:spPr bwMode="auto">
          <a:xfrm>
            <a:off x="860425" y="5345113"/>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4</a:t>
            </a:r>
          </a:p>
        </p:txBody>
      </p:sp>
      <p:sp>
        <p:nvSpPr>
          <p:cNvPr id="38956" name="Text Box 44"/>
          <p:cNvSpPr txBox="1">
            <a:spLocks noChangeArrowheads="1"/>
          </p:cNvSpPr>
          <p:nvPr/>
        </p:nvSpPr>
        <p:spPr bwMode="auto">
          <a:xfrm>
            <a:off x="1317625" y="5334000"/>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6</a:t>
            </a:r>
          </a:p>
        </p:txBody>
      </p:sp>
      <p:sp>
        <p:nvSpPr>
          <p:cNvPr id="38957" name="Text Box 45"/>
          <p:cNvSpPr txBox="1">
            <a:spLocks noChangeArrowheads="1"/>
          </p:cNvSpPr>
          <p:nvPr/>
        </p:nvSpPr>
        <p:spPr bwMode="auto">
          <a:xfrm>
            <a:off x="2308225" y="5334000"/>
            <a:ext cx="381000" cy="304800"/>
          </a:xfrm>
          <a:prstGeom prst="rect">
            <a:avLst/>
          </a:prstGeom>
          <a:noFill/>
          <a:ln w="9525">
            <a:noFill/>
            <a:miter lim="800000"/>
            <a:headEnd/>
            <a:tailEnd/>
          </a:ln>
          <a:effectLst/>
        </p:spPr>
        <p:txBody>
          <a:bodyPr wrap="none">
            <a:spAutoFit/>
          </a:bodyPr>
          <a:lstStyle/>
          <a:p>
            <a:r>
              <a:rPr lang="en-US" sz="1400" b="1">
                <a:solidFill>
                  <a:srgbClr val="000000"/>
                </a:solidFill>
              </a:rPr>
              <a:t>10</a:t>
            </a:r>
          </a:p>
        </p:txBody>
      </p:sp>
      <p:sp>
        <p:nvSpPr>
          <p:cNvPr id="38958" name="Text Box 46"/>
          <p:cNvSpPr txBox="1">
            <a:spLocks noChangeArrowheads="1"/>
          </p:cNvSpPr>
          <p:nvPr/>
        </p:nvSpPr>
        <p:spPr bwMode="auto">
          <a:xfrm>
            <a:off x="2765425" y="5334000"/>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4</a:t>
            </a:r>
          </a:p>
        </p:txBody>
      </p:sp>
      <p:sp>
        <p:nvSpPr>
          <p:cNvPr id="38959" name="Text Box 47"/>
          <p:cNvSpPr txBox="1">
            <a:spLocks noChangeArrowheads="1"/>
          </p:cNvSpPr>
          <p:nvPr/>
        </p:nvSpPr>
        <p:spPr bwMode="auto">
          <a:xfrm>
            <a:off x="3832225" y="5334000"/>
            <a:ext cx="381000" cy="304800"/>
          </a:xfrm>
          <a:prstGeom prst="rect">
            <a:avLst/>
          </a:prstGeom>
          <a:noFill/>
          <a:ln w="9525">
            <a:noFill/>
            <a:miter lim="800000"/>
            <a:headEnd/>
            <a:tailEnd/>
          </a:ln>
          <a:effectLst/>
        </p:spPr>
        <p:txBody>
          <a:bodyPr wrap="none">
            <a:spAutoFit/>
          </a:bodyPr>
          <a:lstStyle/>
          <a:p>
            <a:r>
              <a:rPr lang="en-US" sz="1400" b="1">
                <a:solidFill>
                  <a:srgbClr val="000000"/>
                </a:solidFill>
              </a:rPr>
              <a:t>12</a:t>
            </a:r>
          </a:p>
        </p:txBody>
      </p:sp>
      <p:sp>
        <p:nvSpPr>
          <p:cNvPr id="38960" name="Text Box 48"/>
          <p:cNvSpPr txBox="1">
            <a:spLocks noChangeArrowheads="1"/>
          </p:cNvSpPr>
          <p:nvPr/>
        </p:nvSpPr>
        <p:spPr bwMode="auto">
          <a:xfrm>
            <a:off x="4289425" y="5334000"/>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1</a:t>
            </a:r>
          </a:p>
        </p:txBody>
      </p:sp>
      <p:sp>
        <p:nvSpPr>
          <p:cNvPr id="38961" name="Line 49"/>
          <p:cNvSpPr>
            <a:spLocks noChangeShapeType="1"/>
          </p:cNvSpPr>
          <p:nvPr/>
        </p:nvSpPr>
        <p:spPr bwMode="auto">
          <a:xfrm>
            <a:off x="1997075" y="5486400"/>
            <a:ext cx="381000" cy="0"/>
          </a:xfrm>
          <a:prstGeom prst="line">
            <a:avLst/>
          </a:prstGeom>
          <a:noFill/>
          <a:ln w="9525">
            <a:solidFill>
              <a:srgbClr val="000000"/>
            </a:solidFill>
            <a:round/>
            <a:headEnd/>
            <a:tailEnd type="triangle" w="med" len="med"/>
          </a:ln>
          <a:effectLst/>
        </p:spPr>
        <p:txBody>
          <a:bodyPr/>
          <a:lstStyle/>
          <a:p>
            <a:endParaRPr lang="en-US"/>
          </a:p>
        </p:txBody>
      </p:sp>
      <p:sp>
        <p:nvSpPr>
          <p:cNvPr id="38962" name="Line 50"/>
          <p:cNvSpPr>
            <a:spLocks noChangeShapeType="1"/>
          </p:cNvSpPr>
          <p:nvPr/>
        </p:nvSpPr>
        <p:spPr bwMode="auto">
          <a:xfrm>
            <a:off x="3521075" y="5486400"/>
            <a:ext cx="381000" cy="0"/>
          </a:xfrm>
          <a:prstGeom prst="line">
            <a:avLst/>
          </a:prstGeom>
          <a:noFill/>
          <a:ln w="9525">
            <a:solidFill>
              <a:srgbClr val="000000"/>
            </a:solidFill>
            <a:round/>
            <a:headEnd/>
            <a:tailEnd type="triangle" w="med" len="med"/>
          </a:ln>
          <a:effectLst/>
        </p:spPr>
        <p:txBody>
          <a:bodyPr/>
          <a:lstStyle/>
          <a:p>
            <a:endParaRPr lang="en-US"/>
          </a:p>
        </p:txBody>
      </p:sp>
      <p:sp>
        <p:nvSpPr>
          <p:cNvPr id="38963" name="Rectangle 51"/>
          <p:cNvSpPr>
            <a:spLocks noChangeArrowheads="1"/>
          </p:cNvSpPr>
          <p:nvPr/>
        </p:nvSpPr>
        <p:spPr bwMode="auto">
          <a:xfrm>
            <a:off x="5426075" y="5181600"/>
            <a:ext cx="1295400" cy="609600"/>
          </a:xfrm>
          <a:prstGeom prst="rect">
            <a:avLst/>
          </a:prstGeom>
          <a:noFill/>
          <a:ln w="9525">
            <a:solidFill>
              <a:srgbClr val="000000"/>
            </a:solidFill>
            <a:miter lim="800000"/>
            <a:headEnd/>
            <a:tailEnd/>
          </a:ln>
          <a:effectLst/>
        </p:spPr>
        <p:txBody>
          <a:bodyPr wrap="none" anchor="ctr"/>
          <a:lstStyle/>
          <a:p>
            <a:endParaRPr lang="en-US"/>
          </a:p>
        </p:txBody>
      </p:sp>
      <p:sp>
        <p:nvSpPr>
          <p:cNvPr id="38964" name="Line 52"/>
          <p:cNvSpPr>
            <a:spLocks noChangeShapeType="1"/>
          </p:cNvSpPr>
          <p:nvPr/>
        </p:nvSpPr>
        <p:spPr bwMode="auto">
          <a:xfrm>
            <a:off x="6416675" y="5181600"/>
            <a:ext cx="1588" cy="609600"/>
          </a:xfrm>
          <a:prstGeom prst="line">
            <a:avLst/>
          </a:prstGeom>
          <a:noFill/>
          <a:ln w="9525">
            <a:solidFill>
              <a:srgbClr val="000000"/>
            </a:solidFill>
            <a:round/>
            <a:headEnd/>
            <a:tailEnd/>
          </a:ln>
          <a:effectLst/>
        </p:spPr>
        <p:txBody>
          <a:bodyPr/>
          <a:lstStyle/>
          <a:p>
            <a:endParaRPr lang="en-US"/>
          </a:p>
        </p:txBody>
      </p:sp>
      <p:sp>
        <p:nvSpPr>
          <p:cNvPr id="38965" name="Line 53"/>
          <p:cNvSpPr>
            <a:spLocks noChangeShapeType="1"/>
          </p:cNvSpPr>
          <p:nvPr/>
        </p:nvSpPr>
        <p:spPr bwMode="auto">
          <a:xfrm>
            <a:off x="5730875" y="5181600"/>
            <a:ext cx="1588" cy="609600"/>
          </a:xfrm>
          <a:prstGeom prst="line">
            <a:avLst/>
          </a:prstGeom>
          <a:noFill/>
          <a:ln w="9525">
            <a:solidFill>
              <a:srgbClr val="000000"/>
            </a:solidFill>
            <a:round/>
            <a:headEnd/>
            <a:tailEnd/>
          </a:ln>
          <a:effectLst/>
        </p:spPr>
        <p:txBody>
          <a:bodyPr/>
          <a:lstStyle/>
          <a:p>
            <a:endParaRPr lang="en-US"/>
          </a:p>
        </p:txBody>
      </p:sp>
      <p:sp>
        <p:nvSpPr>
          <p:cNvPr id="38966" name="Text Box 54"/>
          <p:cNvSpPr txBox="1">
            <a:spLocks noChangeArrowheads="1"/>
          </p:cNvSpPr>
          <p:nvPr/>
        </p:nvSpPr>
        <p:spPr bwMode="auto">
          <a:xfrm>
            <a:off x="5432425" y="5334000"/>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8</a:t>
            </a:r>
          </a:p>
        </p:txBody>
      </p:sp>
      <p:sp>
        <p:nvSpPr>
          <p:cNvPr id="38967" name="Text Box 55"/>
          <p:cNvSpPr txBox="1">
            <a:spLocks noChangeArrowheads="1"/>
          </p:cNvSpPr>
          <p:nvPr/>
        </p:nvSpPr>
        <p:spPr bwMode="auto">
          <a:xfrm>
            <a:off x="5813425" y="5334000"/>
            <a:ext cx="282575" cy="304800"/>
          </a:xfrm>
          <a:prstGeom prst="rect">
            <a:avLst/>
          </a:prstGeom>
          <a:noFill/>
          <a:ln w="9525">
            <a:noFill/>
            <a:miter lim="800000"/>
            <a:headEnd/>
            <a:tailEnd/>
          </a:ln>
          <a:effectLst/>
        </p:spPr>
        <p:txBody>
          <a:bodyPr wrap="none">
            <a:spAutoFit/>
          </a:bodyPr>
          <a:lstStyle/>
          <a:p>
            <a:r>
              <a:rPr lang="en-US" sz="1400" b="1">
                <a:solidFill>
                  <a:srgbClr val="000000"/>
                </a:solidFill>
              </a:rPr>
              <a:t>0</a:t>
            </a:r>
          </a:p>
        </p:txBody>
      </p:sp>
      <p:sp>
        <p:nvSpPr>
          <p:cNvPr id="38968" name="Line 56"/>
          <p:cNvSpPr>
            <a:spLocks noChangeShapeType="1"/>
          </p:cNvSpPr>
          <p:nvPr/>
        </p:nvSpPr>
        <p:spPr bwMode="auto">
          <a:xfrm>
            <a:off x="5045075" y="5486400"/>
            <a:ext cx="381000" cy="0"/>
          </a:xfrm>
          <a:prstGeom prst="line">
            <a:avLst/>
          </a:prstGeom>
          <a:noFill/>
          <a:ln w="9525">
            <a:solidFill>
              <a:srgbClr val="000000"/>
            </a:solidFill>
            <a:round/>
            <a:headEnd/>
            <a:tailEnd type="triangle" w="med" len="med"/>
          </a:ln>
          <a:effectLst/>
        </p:spPr>
        <p:txBody>
          <a:bodyPr/>
          <a:lstStyle/>
          <a:p>
            <a:endParaRPr lang="en-US"/>
          </a:p>
        </p:txBody>
      </p:sp>
      <p:sp>
        <p:nvSpPr>
          <p:cNvPr id="38969" name="Text Box 57"/>
          <p:cNvSpPr txBox="1">
            <a:spLocks noChangeArrowheads="1"/>
          </p:cNvSpPr>
          <p:nvPr/>
        </p:nvSpPr>
        <p:spPr bwMode="auto">
          <a:xfrm>
            <a:off x="152400" y="4114800"/>
            <a:ext cx="557213" cy="457200"/>
          </a:xfrm>
          <a:prstGeom prst="rect">
            <a:avLst/>
          </a:prstGeom>
          <a:noFill/>
          <a:ln w="9525">
            <a:noFill/>
            <a:miter lim="800000"/>
            <a:headEnd/>
            <a:tailEnd/>
          </a:ln>
          <a:effectLst/>
        </p:spPr>
        <p:txBody>
          <a:bodyPr wrap="none">
            <a:spAutoFit/>
          </a:bodyPr>
          <a:lstStyle/>
          <a:p>
            <a:r>
              <a:rPr lang="en-US" sz="2400"/>
              <a:t>P1</a:t>
            </a:r>
          </a:p>
        </p:txBody>
      </p:sp>
      <p:sp>
        <p:nvSpPr>
          <p:cNvPr id="38970" name="Text Box 58"/>
          <p:cNvSpPr txBox="1">
            <a:spLocks noChangeArrowheads="1"/>
          </p:cNvSpPr>
          <p:nvPr/>
        </p:nvSpPr>
        <p:spPr bwMode="auto">
          <a:xfrm>
            <a:off x="152400" y="5257800"/>
            <a:ext cx="557213" cy="457200"/>
          </a:xfrm>
          <a:prstGeom prst="rect">
            <a:avLst/>
          </a:prstGeom>
          <a:noFill/>
          <a:ln w="9525">
            <a:noFill/>
            <a:miter lim="800000"/>
            <a:headEnd/>
            <a:tailEnd/>
          </a:ln>
          <a:effectLst/>
        </p:spPr>
        <p:txBody>
          <a:bodyPr wrap="none">
            <a:spAutoFit/>
          </a:bodyPr>
          <a:lstStyle/>
          <a:p>
            <a:r>
              <a:rPr lang="en-US" sz="2400"/>
              <a:t>P2</a:t>
            </a:r>
          </a:p>
        </p:txBody>
      </p:sp>
      <p:sp>
        <p:nvSpPr>
          <p:cNvPr id="38971" name="Line 59"/>
          <p:cNvSpPr>
            <a:spLocks noChangeShapeType="1"/>
          </p:cNvSpPr>
          <p:nvPr/>
        </p:nvSpPr>
        <p:spPr bwMode="auto">
          <a:xfrm flipH="1">
            <a:off x="8077200" y="4343400"/>
            <a:ext cx="457200" cy="0"/>
          </a:xfrm>
          <a:prstGeom prst="line">
            <a:avLst/>
          </a:prstGeom>
          <a:noFill/>
          <a:ln w="9525">
            <a:solidFill>
              <a:schemeClr val="tx1"/>
            </a:solidFill>
            <a:round/>
            <a:headEnd/>
            <a:tailEnd/>
          </a:ln>
          <a:effectLst/>
        </p:spPr>
        <p:txBody>
          <a:bodyPr/>
          <a:lstStyle/>
          <a:p>
            <a:endParaRPr lang="en-US"/>
          </a:p>
        </p:txBody>
      </p:sp>
      <p:sp>
        <p:nvSpPr>
          <p:cNvPr id="38972" name="Line 60"/>
          <p:cNvSpPr>
            <a:spLocks noChangeShapeType="1"/>
          </p:cNvSpPr>
          <p:nvPr/>
        </p:nvSpPr>
        <p:spPr bwMode="auto">
          <a:xfrm>
            <a:off x="8382000" y="4648200"/>
            <a:ext cx="304800" cy="0"/>
          </a:xfrm>
          <a:prstGeom prst="line">
            <a:avLst/>
          </a:prstGeom>
          <a:noFill/>
          <a:ln w="9525">
            <a:solidFill>
              <a:schemeClr val="tx1"/>
            </a:solidFill>
            <a:round/>
            <a:headEnd/>
            <a:tailEnd/>
          </a:ln>
          <a:effectLst/>
        </p:spPr>
        <p:txBody>
          <a:bodyPr/>
          <a:lstStyle/>
          <a:p>
            <a:endParaRPr lang="en-US"/>
          </a:p>
        </p:txBody>
      </p:sp>
      <p:sp>
        <p:nvSpPr>
          <p:cNvPr id="38973" name="Line 61"/>
          <p:cNvSpPr>
            <a:spLocks noChangeShapeType="1"/>
          </p:cNvSpPr>
          <p:nvPr/>
        </p:nvSpPr>
        <p:spPr bwMode="auto">
          <a:xfrm>
            <a:off x="8458200" y="4724400"/>
            <a:ext cx="152400" cy="0"/>
          </a:xfrm>
          <a:prstGeom prst="line">
            <a:avLst/>
          </a:prstGeom>
          <a:noFill/>
          <a:ln w="9525">
            <a:solidFill>
              <a:schemeClr val="tx1"/>
            </a:solidFill>
            <a:round/>
            <a:headEnd/>
            <a:tailEnd/>
          </a:ln>
          <a:effectLst/>
        </p:spPr>
        <p:txBody>
          <a:bodyPr/>
          <a:lstStyle/>
          <a:p>
            <a:endParaRPr lang="en-US"/>
          </a:p>
        </p:txBody>
      </p:sp>
      <p:sp>
        <p:nvSpPr>
          <p:cNvPr id="38974" name="Line 62"/>
          <p:cNvSpPr>
            <a:spLocks noChangeShapeType="1"/>
          </p:cNvSpPr>
          <p:nvPr/>
        </p:nvSpPr>
        <p:spPr bwMode="auto">
          <a:xfrm>
            <a:off x="7010400" y="5486400"/>
            <a:ext cx="0" cy="304800"/>
          </a:xfrm>
          <a:prstGeom prst="line">
            <a:avLst/>
          </a:prstGeom>
          <a:noFill/>
          <a:ln w="9525">
            <a:solidFill>
              <a:srgbClr val="000000"/>
            </a:solidFill>
            <a:round/>
            <a:headEnd/>
            <a:tailEnd type="triangle" w="med" len="med"/>
          </a:ln>
          <a:effectLst/>
        </p:spPr>
        <p:txBody>
          <a:bodyPr/>
          <a:lstStyle/>
          <a:p>
            <a:endParaRPr lang="en-US"/>
          </a:p>
        </p:txBody>
      </p:sp>
      <p:sp>
        <p:nvSpPr>
          <p:cNvPr id="38975" name="Line 63"/>
          <p:cNvSpPr>
            <a:spLocks noChangeShapeType="1"/>
          </p:cNvSpPr>
          <p:nvPr/>
        </p:nvSpPr>
        <p:spPr bwMode="auto">
          <a:xfrm flipH="1">
            <a:off x="6553200" y="5486400"/>
            <a:ext cx="457200" cy="0"/>
          </a:xfrm>
          <a:prstGeom prst="line">
            <a:avLst/>
          </a:prstGeom>
          <a:noFill/>
          <a:ln w="9525">
            <a:solidFill>
              <a:schemeClr val="tx1"/>
            </a:solidFill>
            <a:round/>
            <a:headEnd/>
            <a:tailEnd/>
          </a:ln>
          <a:effectLst/>
        </p:spPr>
        <p:txBody>
          <a:bodyPr/>
          <a:lstStyle/>
          <a:p>
            <a:endParaRPr lang="en-US"/>
          </a:p>
        </p:txBody>
      </p:sp>
      <p:sp>
        <p:nvSpPr>
          <p:cNvPr id="38976" name="Line 64"/>
          <p:cNvSpPr>
            <a:spLocks noChangeShapeType="1"/>
          </p:cNvSpPr>
          <p:nvPr/>
        </p:nvSpPr>
        <p:spPr bwMode="auto">
          <a:xfrm>
            <a:off x="6858000" y="5791200"/>
            <a:ext cx="304800" cy="0"/>
          </a:xfrm>
          <a:prstGeom prst="line">
            <a:avLst/>
          </a:prstGeom>
          <a:noFill/>
          <a:ln w="9525">
            <a:solidFill>
              <a:schemeClr val="tx1"/>
            </a:solidFill>
            <a:round/>
            <a:headEnd/>
            <a:tailEnd/>
          </a:ln>
          <a:effectLst/>
        </p:spPr>
        <p:txBody>
          <a:bodyPr/>
          <a:lstStyle/>
          <a:p>
            <a:endParaRPr lang="en-US"/>
          </a:p>
        </p:txBody>
      </p:sp>
      <p:sp>
        <p:nvSpPr>
          <p:cNvPr id="38977" name="Line 65"/>
          <p:cNvSpPr>
            <a:spLocks noChangeShapeType="1"/>
          </p:cNvSpPr>
          <p:nvPr/>
        </p:nvSpPr>
        <p:spPr bwMode="auto">
          <a:xfrm>
            <a:off x="6934200" y="5867400"/>
            <a:ext cx="152400" cy="0"/>
          </a:xfrm>
          <a:prstGeom prst="line">
            <a:avLst/>
          </a:prstGeom>
          <a:noFill/>
          <a:ln w="9525">
            <a:solidFill>
              <a:schemeClr val="tx1"/>
            </a:solidFill>
            <a:round/>
            <a:headEnd/>
            <a:tailEnd/>
          </a:ln>
          <a:effectLst/>
        </p:spPr>
        <p:txBody>
          <a:bodyPr/>
          <a:lstStyle/>
          <a:p>
            <a:endParaRPr lang="en-US"/>
          </a:p>
        </p:txBody>
      </p:sp>
      <p:sp>
        <p:nvSpPr>
          <p:cNvPr id="38978" name="Line 66"/>
          <p:cNvSpPr>
            <a:spLocks noChangeShapeType="1"/>
          </p:cNvSpPr>
          <p:nvPr/>
        </p:nvSpPr>
        <p:spPr bwMode="auto">
          <a:xfrm>
            <a:off x="838200" y="6019800"/>
            <a:ext cx="990600" cy="0"/>
          </a:xfrm>
          <a:prstGeom prst="line">
            <a:avLst/>
          </a:prstGeom>
          <a:noFill/>
          <a:ln w="9525">
            <a:solidFill>
              <a:schemeClr val="tx1"/>
            </a:solidFill>
            <a:round/>
            <a:headEnd/>
            <a:tailEnd/>
          </a:ln>
          <a:effectLst/>
        </p:spPr>
        <p:txBody>
          <a:bodyPr/>
          <a:lstStyle/>
          <a:p>
            <a:endParaRPr lang="en-US"/>
          </a:p>
        </p:txBody>
      </p:sp>
      <p:sp>
        <p:nvSpPr>
          <p:cNvPr id="38979" name="Line 67"/>
          <p:cNvSpPr>
            <a:spLocks noChangeShapeType="1"/>
          </p:cNvSpPr>
          <p:nvPr/>
        </p:nvSpPr>
        <p:spPr bwMode="auto">
          <a:xfrm flipH="1" flipV="1">
            <a:off x="838200" y="5867400"/>
            <a:ext cx="0" cy="152400"/>
          </a:xfrm>
          <a:prstGeom prst="line">
            <a:avLst/>
          </a:prstGeom>
          <a:noFill/>
          <a:ln w="9525">
            <a:solidFill>
              <a:schemeClr val="tx1"/>
            </a:solidFill>
            <a:round/>
            <a:headEnd/>
            <a:tailEnd/>
          </a:ln>
          <a:effectLst/>
        </p:spPr>
        <p:txBody>
          <a:bodyPr/>
          <a:lstStyle/>
          <a:p>
            <a:endParaRPr lang="en-US"/>
          </a:p>
        </p:txBody>
      </p:sp>
      <p:sp>
        <p:nvSpPr>
          <p:cNvPr id="38980" name="Line 68"/>
          <p:cNvSpPr>
            <a:spLocks noChangeShapeType="1"/>
          </p:cNvSpPr>
          <p:nvPr/>
        </p:nvSpPr>
        <p:spPr bwMode="auto">
          <a:xfrm flipV="1">
            <a:off x="1828800" y="5867400"/>
            <a:ext cx="0" cy="152400"/>
          </a:xfrm>
          <a:prstGeom prst="line">
            <a:avLst/>
          </a:prstGeom>
          <a:noFill/>
          <a:ln w="9525">
            <a:solidFill>
              <a:schemeClr val="tx1"/>
            </a:solidFill>
            <a:round/>
            <a:headEnd/>
            <a:tailEnd/>
          </a:ln>
          <a:effectLst/>
        </p:spPr>
        <p:txBody>
          <a:bodyPr/>
          <a:lstStyle/>
          <a:p>
            <a:endParaRPr lang="en-US"/>
          </a:p>
        </p:txBody>
      </p:sp>
      <p:sp>
        <p:nvSpPr>
          <p:cNvPr id="38981" name="Line 69"/>
          <p:cNvSpPr>
            <a:spLocks noChangeShapeType="1"/>
          </p:cNvSpPr>
          <p:nvPr/>
        </p:nvSpPr>
        <p:spPr bwMode="auto">
          <a:xfrm>
            <a:off x="1295400" y="6019800"/>
            <a:ext cx="228600" cy="228600"/>
          </a:xfrm>
          <a:prstGeom prst="line">
            <a:avLst/>
          </a:prstGeom>
          <a:noFill/>
          <a:ln w="9525">
            <a:solidFill>
              <a:srgbClr val="009900"/>
            </a:solidFill>
            <a:round/>
            <a:headEnd/>
            <a:tailEnd type="triangle" w="med" len="med"/>
          </a:ln>
          <a:effectLst/>
        </p:spPr>
        <p:txBody>
          <a:bodyPr/>
          <a:lstStyle/>
          <a:p>
            <a:endParaRPr lang="en-US"/>
          </a:p>
        </p:txBody>
      </p:sp>
      <p:sp>
        <p:nvSpPr>
          <p:cNvPr id="38982" name="Line 70"/>
          <p:cNvSpPr>
            <a:spLocks noChangeShapeType="1"/>
          </p:cNvSpPr>
          <p:nvPr/>
        </p:nvSpPr>
        <p:spPr bwMode="auto">
          <a:xfrm flipV="1">
            <a:off x="1828800" y="5029200"/>
            <a:ext cx="0" cy="76200"/>
          </a:xfrm>
          <a:prstGeom prst="line">
            <a:avLst/>
          </a:prstGeom>
          <a:noFill/>
          <a:ln w="9525">
            <a:solidFill>
              <a:schemeClr val="tx1"/>
            </a:solidFill>
            <a:round/>
            <a:headEnd/>
            <a:tailEnd/>
          </a:ln>
          <a:effectLst/>
        </p:spPr>
        <p:txBody>
          <a:bodyPr/>
          <a:lstStyle/>
          <a:p>
            <a:endParaRPr lang="en-US"/>
          </a:p>
        </p:txBody>
      </p:sp>
      <p:sp>
        <p:nvSpPr>
          <p:cNvPr id="38983" name="Line 71"/>
          <p:cNvSpPr>
            <a:spLocks noChangeShapeType="1"/>
          </p:cNvSpPr>
          <p:nvPr/>
        </p:nvSpPr>
        <p:spPr bwMode="auto">
          <a:xfrm>
            <a:off x="1828800" y="5029200"/>
            <a:ext cx="304800" cy="0"/>
          </a:xfrm>
          <a:prstGeom prst="line">
            <a:avLst/>
          </a:prstGeom>
          <a:noFill/>
          <a:ln w="9525">
            <a:solidFill>
              <a:schemeClr val="tx1"/>
            </a:solidFill>
            <a:round/>
            <a:headEnd/>
            <a:tailEnd/>
          </a:ln>
          <a:effectLst/>
        </p:spPr>
        <p:txBody>
          <a:bodyPr/>
          <a:lstStyle/>
          <a:p>
            <a:endParaRPr lang="en-US"/>
          </a:p>
        </p:txBody>
      </p:sp>
      <p:sp>
        <p:nvSpPr>
          <p:cNvPr id="38984" name="Line 72"/>
          <p:cNvSpPr>
            <a:spLocks noChangeShapeType="1"/>
          </p:cNvSpPr>
          <p:nvPr/>
        </p:nvSpPr>
        <p:spPr bwMode="auto">
          <a:xfrm flipV="1">
            <a:off x="2133600" y="5029200"/>
            <a:ext cx="0" cy="76200"/>
          </a:xfrm>
          <a:prstGeom prst="line">
            <a:avLst/>
          </a:prstGeom>
          <a:noFill/>
          <a:ln w="9525">
            <a:solidFill>
              <a:schemeClr val="tx1"/>
            </a:solidFill>
            <a:round/>
            <a:headEnd/>
            <a:tailEnd/>
          </a:ln>
          <a:effectLst/>
        </p:spPr>
        <p:txBody>
          <a:bodyPr/>
          <a:lstStyle/>
          <a:p>
            <a:endParaRPr lang="en-US"/>
          </a:p>
        </p:txBody>
      </p:sp>
      <p:sp>
        <p:nvSpPr>
          <p:cNvPr id="38985" name="Line 73"/>
          <p:cNvSpPr>
            <a:spLocks noChangeShapeType="1"/>
          </p:cNvSpPr>
          <p:nvPr/>
        </p:nvSpPr>
        <p:spPr bwMode="auto">
          <a:xfrm flipV="1">
            <a:off x="2133600" y="4953000"/>
            <a:ext cx="304800" cy="76200"/>
          </a:xfrm>
          <a:prstGeom prst="line">
            <a:avLst/>
          </a:prstGeom>
          <a:noFill/>
          <a:ln w="9525">
            <a:solidFill>
              <a:srgbClr val="009900"/>
            </a:solidFill>
            <a:round/>
            <a:headEnd/>
            <a:tailEnd type="triangle" w="med" len="med"/>
          </a:ln>
          <a:effectLst/>
        </p:spPr>
        <p:txBody>
          <a:bodyPr/>
          <a:lstStyle/>
          <a:p>
            <a:endParaRPr lang="en-US"/>
          </a:p>
        </p:txBody>
      </p:sp>
      <p:sp>
        <p:nvSpPr>
          <p:cNvPr id="38986" name="Text Box 74"/>
          <p:cNvSpPr txBox="1">
            <a:spLocks noChangeArrowheads="1"/>
          </p:cNvSpPr>
          <p:nvPr/>
        </p:nvSpPr>
        <p:spPr bwMode="auto">
          <a:xfrm>
            <a:off x="1524000" y="6172200"/>
            <a:ext cx="4222750" cy="366713"/>
          </a:xfrm>
          <a:prstGeom prst="rect">
            <a:avLst/>
          </a:prstGeom>
          <a:noFill/>
          <a:ln w="9525">
            <a:noFill/>
            <a:miter lim="800000"/>
            <a:headEnd/>
            <a:tailEnd/>
          </a:ln>
          <a:effectLst/>
        </p:spPr>
        <p:txBody>
          <a:bodyPr wrap="none">
            <a:spAutoFit/>
          </a:bodyPr>
          <a:lstStyle/>
          <a:p>
            <a:r>
              <a:rPr lang="en-US">
                <a:solidFill>
                  <a:srgbClr val="009900"/>
                </a:solidFill>
              </a:rPr>
              <a:t>NODE (contains coefficient &amp; exponent)</a:t>
            </a:r>
          </a:p>
        </p:txBody>
      </p:sp>
      <p:sp>
        <p:nvSpPr>
          <p:cNvPr id="38987" name="Text Box 75"/>
          <p:cNvSpPr txBox="1">
            <a:spLocks noChangeArrowheads="1"/>
          </p:cNvSpPr>
          <p:nvPr/>
        </p:nvSpPr>
        <p:spPr bwMode="auto">
          <a:xfrm>
            <a:off x="2514600" y="4724400"/>
            <a:ext cx="2495550" cy="366713"/>
          </a:xfrm>
          <a:prstGeom prst="rect">
            <a:avLst/>
          </a:prstGeom>
          <a:noFill/>
          <a:ln w="9525">
            <a:noFill/>
            <a:miter lim="800000"/>
            <a:headEnd/>
            <a:tailEnd/>
          </a:ln>
          <a:effectLst/>
        </p:spPr>
        <p:txBody>
          <a:bodyPr wrap="none">
            <a:spAutoFit/>
          </a:bodyPr>
          <a:lstStyle/>
          <a:p>
            <a:r>
              <a:rPr lang="en-US">
                <a:solidFill>
                  <a:srgbClr val="009900"/>
                </a:solidFill>
              </a:rPr>
              <a:t>TAIL (contains pointer)</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 Box 3"/>
          <p:cNvSpPr txBox="1">
            <a:spLocks noChangeArrowheads="1"/>
          </p:cNvSpPr>
          <p:nvPr/>
        </p:nvSpPr>
        <p:spPr bwMode="auto">
          <a:xfrm>
            <a:off x="533400" y="1219200"/>
            <a:ext cx="8610600" cy="5453063"/>
          </a:xfrm>
          <a:prstGeom prst="rect">
            <a:avLst/>
          </a:prstGeom>
          <a:noFill/>
          <a:ln w="9525">
            <a:noFill/>
            <a:miter lim="800000"/>
            <a:headEnd/>
            <a:tailEnd/>
          </a:ln>
          <a:effectLst/>
        </p:spPr>
        <p:txBody>
          <a:bodyPr>
            <a:spAutoFit/>
          </a:bodyPr>
          <a:lstStyle/>
          <a:p>
            <a:pPr>
              <a:buFontTx/>
              <a:buChar char="•"/>
            </a:pPr>
            <a:r>
              <a:rPr lang="en-US" sz="3200"/>
              <a:t> Advantages of using a Linked list:</a:t>
            </a:r>
            <a:endParaRPr lang="en-US" sz="3200">
              <a:solidFill>
                <a:srgbClr val="000066"/>
              </a:solidFill>
            </a:endParaRPr>
          </a:p>
          <a:p>
            <a:pPr lvl="1">
              <a:buFontTx/>
              <a:buChar char="•"/>
            </a:pPr>
            <a:endParaRPr lang="en-US" sz="3200">
              <a:solidFill>
                <a:srgbClr val="000066"/>
              </a:solidFill>
            </a:endParaRPr>
          </a:p>
          <a:p>
            <a:pPr lvl="1">
              <a:buFontTx/>
              <a:buChar char="•"/>
            </a:pPr>
            <a:r>
              <a:rPr lang="en-US" sz="3200">
                <a:solidFill>
                  <a:srgbClr val="000066"/>
                </a:solidFill>
              </a:rPr>
              <a:t> save space (don’t have to worry about sparse polynomials) and easy to maintain</a:t>
            </a:r>
          </a:p>
          <a:p>
            <a:pPr lvl="1">
              <a:buFontTx/>
              <a:buChar char="•"/>
            </a:pPr>
            <a:r>
              <a:rPr lang="en-US" sz="3200">
                <a:solidFill>
                  <a:srgbClr val="000066"/>
                </a:solidFill>
              </a:rPr>
              <a:t> don’t need to allocate list size and can declare nodes (terms) only as needed</a:t>
            </a:r>
          </a:p>
          <a:p>
            <a:pPr lvl="1"/>
            <a:endParaRPr lang="en-US" sz="3200">
              <a:solidFill>
                <a:srgbClr val="000066"/>
              </a:solidFill>
            </a:endParaRPr>
          </a:p>
          <a:p>
            <a:pPr>
              <a:buFontTx/>
              <a:buChar char="•"/>
            </a:pPr>
            <a:r>
              <a:rPr lang="en-US" sz="3200"/>
              <a:t> Disadvantages of using a Linked list :</a:t>
            </a:r>
          </a:p>
          <a:p>
            <a:pPr lvl="1">
              <a:buFontTx/>
              <a:buChar char="•"/>
            </a:pPr>
            <a:r>
              <a:rPr lang="en-US" sz="3200">
                <a:solidFill>
                  <a:srgbClr val="000066"/>
                </a:solidFill>
              </a:rPr>
              <a:t> can’t go backwards through the list</a:t>
            </a:r>
          </a:p>
          <a:p>
            <a:pPr lvl="1">
              <a:buFontTx/>
              <a:buChar char="•"/>
            </a:pPr>
            <a:r>
              <a:rPr lang="en-US" sz="3200">
                <a:solidFill>
                  <a:srgbClr val="000066"/>
                </a:solidFill>
              </a:rPr>
              <a:t> can’t jump to the beginning of the list from the end.</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0" name="Rectangle 8"/>
          <p:cNvSpPr>
            <a:spLocks noGrp="1" noChangeArrowheads="1"/>
          </p:cNvSpPr>
          <p:nvPr>
            <p:ph type="title"/>
          </p:nvPr>
        </p:nvSpPr>
        <p:spPr>
          <a:xfrm>
            <a:off x="457200" y="304800"/>
            <a:ext cx="8229600" cy="1143000"/>
          </a:xfrm>
        </p:spPr>
        <p:txBody>
          <a:bodyPr/>
          <a:lstStyle/>
          <a:p>
            <a:r>
              <a:rPr lang="en-US" dirty="0"/>
              <a:t>Polynomials</a:t>
            </a:r>
          </a:p>
        </p:txBody>
      </p:sp>
      <p:graphicFrame>
        <p:nvGraphicFramePr>
          <p:cNvPr id="3076" name="Object 4"/>
          <p:cNvGraphicFramePr>
            <a:graphicFrameLocks/>
          </p:cNvGraphicFramePr>
          <p:nvPr>
            <p:ph sz="half" idx="1"/>
          </p:nvPr>
        </p:nvGraphicFramePr>
        <p:xfrm>
          <a:off x="838200" y="1447800"/>
          <a:ext cx="7391400" cy="812800"/>
        </p:xfrm>
        <a:graphic>
          <a:graphicData uri="http://schemas.openxmlformats.org/presentationml/2006/ole">
            <p:oleObj spid="_x0000_s1026" name="方程式" r:id="rId3" imgW="1790640" imgH="203040" progId="Equation.2">
              <p:embed/>
            </p:oleObj>
          </a:graphicData>
        </a:graphic>
      </p:graphicFrame>
      <p:sp>
        <p:nvSpPr>
          <p:cNvPr id="3083" name="Rectangle 11"/>
          <p:cNvSpPr>
            <a:spLocks noChangeArrowheads="1"/>
          </p:cNvSpPr>
          <p:nvPr/>
        </p:nvSpPr>
        <p:spPr bwMode="auto">
          <a:xfrm>
            <a:off x="228600" y="2514600"/>
            <a:ext cx="8039100" cy="3973513"/>
          </a:xfrm>
          <a:prstGeom prst="rect">
            <a:avLst/>
          </a:prstGeom>
          <a:noFill/>
          <a:ln w="9525">
            <a:noFill/>
            <a:miter lim="800000"/>
            <a:headEnd/>
            <a:tailEnd/>
          </a:ln>
          <a:effectLst/>
        </p:spPr>
        <p:txBody>
          <a:bodyPr lIns="92075" tIns="46038" rIns="92075" bIns="46038"/>
          <a:lstStyle/>
          <a:p>
            <a:pPr defTabSz="762000"/>
            <a:r>
              <a:rPr kumimoji="1" lang="en-US" altLang="zh-TW" b="1" dirty="0">
                <a:solidFill>
                  <a:srgbClr val="6600FF"/>
                </a:solidFill>
                <a:ea typeface="新細明體" pitchFamily="18" charset="-120"/>
              </a:rPr>
              <a:t>Representation</a:t>
            </a:r>
            <a:endParaRPr kumimoji="1" lang="en-US" altLang="zh-TW" dirty="0">
              <a:solidFill>
                <a:srgbClr val="6600FF"/>
              </a:solidFill>
              <a:ea typeface="新細明體" pitchFamily="18" charset="-120"/>
            </a:endParaRPr>
          </a:p>
          <a:p>
            <a:pPr defTabSz="762000"/>
            <a:r>
              <a:rPr kumimoji="1" lang="en-US" altLang="zh-TW" sz="1600" dirty="0">
                <a:latin typeface="Courier New" pitchFamily="49" charset="0"/>
                <a:ea typeface="新細明體" pitchFamily="18" charset="-120"/>
              </a:rPr>
              <a:t> </a:t>
            </a:r>
            <a:endParaRPr kumimoji="1" lang="en-US" altLang="zh-TW" sz="1600" dirty="0">
              <a:latin typeface="Times New Roman" pitchFamily="18" charset="0"/>
              <a:ea typeface="新細明體" pitchFamily="18" charset="-120"/>
            </a:endParaRPr>
          </a:p>
          <a:p>
            <a:pPr defTabSz="762000">
              <a:lnSpc>
                <a:spcPct val="70000"/>
              </a:lnSpc>
            </a:pPr>
            <a:r>
              <a:rPr kumimoji="1" lang="en-US" altLang="zh-TW" sz="2400" dirty="0" err="1">
                <a:latin typeface="Times New Roman" pitchFamily="18" charset="0"/>
                <a:ea typeface="新細明體" pitchFamily="18" charset="-120"/>
              </a:rPr>
              <a:t>struct</a:t>
            </a:r>
            <a:r>
              <a:rPr kumimoji="1" lang="en-US" altLang="zh-TW" sz="2400" dirty="0">
                <a:latin typeface="Times New Roman" pitchFamily="18" charset="0"/>
                <a:ea typeface="新細明體" pitchFamily="18" charset="-120"/>
              </a:rPr>
              <a:t> </a:t>
            </a:r>
            <a:r>
              <a:rPr kumimoji="1" lang="en-US" altLang="zh-TW" sz="2400" dirty="0" err="1">
                <a:latin typeface="Times New Roman" pitchFamily="18" charset="0"/>
                <a:ea typeface="新細明體" pitchFamily="18" charset="-120"/>
              </a:rPr>
              <a:t>polynode</a:t>
            </a:r>
            <a:r>
              <a:rPr kumimoji="1" lang="en-US" altLang="zh-TW" sz="2400" dirty="0">
                <a:latin typeface="Times New Roman" pitchFamily="18" charset="0"/>
                <a:ea typeface="新細明體" pitchFamily="18" charset="-120"/>
              </a:rPr>
              <a:t> {</a:t>
            </a:r>
          </a:p>
          <a:p>
            <a:pPr defTabSz="762000">
              <a:lnSpc>
                <a:spcPct val="70000"/>
              </a:lnSpc>
            </a:pPr>
            <a:r>
              <a:rPr kumimoji="1" lang="en-US" altLang="zh-TW" sz="2400" dirty="0">
                <a:latin typeface="Times New Roman" pitchFamily="18" charset="0"/>
                <a:ea typeface="新細明體" pitchFamily="18" charset="-120"/>
              </a:rPr>
              <a:t>      </a:t>
            </a:r>
            <a:r>
              <a:rPr kumimoji="1" lang="en-US" altLang="zh-TW" sz="2400" dirty="0" err="1">
                <a:latin typeface="Times New Roman" pitchFamily="18" charset="0"/>
                <a:ea typeface="新細明體" pitchFamily="18" charset="-120"/>
              </a:rPr>
              <a:t>int</a:t>
            </a:r>
            <a:r>
              <a:rPr kumimoji="1" lang="en-US" altLang="zh-TW" sz="2400" dirty="0">
                <a:latin typeface="Times New Roman" pitchFamily="18" charset="0"/>
                <a:ea typeface="新細明體" pitchFamily="18" charset="-120"/>
              </a:rPr>
              <a:t> </a:t>
            </a:r>
            <a:r>
              <a:rPr kumimoji="1" lang="en-US" altLang="zh-TW" sz="2400" dirty="0" err="1">
                <a:latin typeface="Times New Roman" pitchFamily="18" charset="0"/>
                <a:ea typeface="新細明體" pitchFamily="18" charset="-120"/>
              </a:rPr>
              <a:t>coef</a:t>
            </a:r>
            <a:r>
              <a:rPr kumimoji="1" lang="en-US" altLang="zh-TW" sz="2400" dirty="0">
                <a:latin typeface="Times New Roman" pitchFamily="18" charset="0"/>
                <a:ea typeface="新細明體" pitchFamily="18" charset="-120"/>
              </a:rPr>
              <a:t>;</a:t>
            </a:r>
          </a:p>
          <a:p>
            <a:pPr defTabSz="762000">
              <a:lnSpc>
                <a:spcPct val="70000"/>
              </a:lnSpc>
            </a:pPr>
            <a:r>
              <a:rPr kumimoji="1" lang="en-US" altLang="zh-TW" sz="2400" dirty="0">
                <a:latin typeface="Times New Roman" pitchFamily="18" charset="0"/>
                <a:ea typeface="新細明體" pitchFamily="18" charset="-120"/>
              </a:rPr>
              <a:t>      </a:t>
            </a:r>
            <a:r>
              <a:rPr kumimoji="1" lang="en-US" altLang="zh-TW" sz="2400" dirty="0" err="1">
                <a:latin typeface="Times New Roman" pitchFamily="18" charset="0"/>
                <a:ea typeface="新細明體" pitchFamily="18" charset="-120"/>
              </a:rPr>
              <a:t>int</a:t>
            </a:r>
            <a:r>
              <a:rPr kumimoji="1" lang="en-US" altLang="zh-TW" sz="2400" dirty="0">
                <a:latin typeface="Times New Roman" pitchFamily="18" charset="0"/>
                <a:ea typeface="新細明體" pitchFamily="18" charset="-120"/>
              </a:rPr>
              <a:t> exp;</a:t>
            </a:r>
          </a:p>
          <a:p>
            <a:pPr defTabSz="762000">
              <a:lnSpc>
                <a:spcPct val="70000"/>
              </a:lnSpc>
            </a:pPr>
            <a:r>
              <a:rPr kumimoji="1" lang="en-US" altLang="zh-TW" sz="2400" dirty="0">
                <a:latin typeface="Times New Roman" pitchFamily="18" charset="0"/>
                <a:ea typeface="新細明體" pitchFamily="18" charset="-120"/>
              </a:rPr>
              <a:t>      </a:t>
            </a:r>
            <a:r>
              <a:rPr kumimoji="1" lang="en-US" altLang="zh-TW" sz="2400" dirty="0" err="1">
                <a:latin typeface="Times New Roman" pitchFamily="18" charset="0"/>
                <a:ea typeface="新細明體" pitchFamily="18" charset="-120"/>
              </a:rPr>
              <a:t>struct</a:t>
            </a:r>
            <a:r>
              <a:rPr kumimoji="1" lang="en-US" altLang="zh-TW" sz="2400" dirty="0">
                <a:latin typeface="Times New Roman" pitchFamily="18" charset="0"/>
                <a:ea typeface="新細明體" pitchFamily="18" charset="-120"/>
              </a:rPr>
              <a:t> </a:t>
            </a:r>
            <a:r>
              <a:rPr kumimoji="1" lang="en-US" altLang="zh-TW" sz="2400" dirty="0" err="1">
                <a:latin typeface="Times New Roman" pitchFamily="18" charset="0"/>
                <a:ea typeface="新細明體" pitchFamily="18" charset="-120"/>
              </a:rPr>
              <a:t>polynode</a:t>
            </a:r>
            <a:r>
              <a:rPr kumimoji="1" lang="en-US" altLang="zh-TW" sz="2400" dirty="0">
                <a:latin typeface="Times New Roman" pitchFamily="18" charset="0"/>
                <a:ea typeface="新細明體" pitchFamily="18" charset="-120"/>
              </a:rPr>
              <a:t> * next;</a:t>
            </a:r>
          </a:p>
          <a:p>
            <a:pPr defTabSz="762000">
              <a:lnSpc>
                <a:spcPct val="70000"/>
              </a:lnSpc>
            </a:pPr>
            <a:r>
              <a:rPr kumimoji="1" lang="en-US" altLang="zh-TW" sz="2400" dirty="0">
                <a:latin typeface="Times New Roman" pitchFamily="18" charset="0"/>
                <a:ea typeface="新細明體" pitchFamily="18" charset="-120"/>
              </a:rPr>
              <a:t>  };</a:t>
            </a:r>
          </a:p>
          <a:p>
            <a:pPr defTabSz="762000">
              <a:lnSpc>
                <a:spcPct val="70000"/>
              </a:lnSpc>
            </a:pPr>
            <a:r>
              <a:rPr kumimoji="1" lang="en-US" altLang="zh-TW" sz="2400" dirty="0">
                <a:latin typeface="Times New Roman" pitchFamily="18" charset="0"/>
                <a:ea typeface="新細明體" pitchFamily="18" charset="-120"/>
              </a:rPr>
              <a:t>  </a:t>
            </a:r>
          </a:p>
          <a:p>
            <a:pPr defTabSz="762000">
              <a:lnSpc>
                <a:spcPct val="70000"/>
              </a:lnSpc>
            </a:pPr>
            <a:r>
              <a:rPr kumimoji="1" lang="en-US" altLang="zh-TW" sz="2400" b="1" dirty="0" err="1">
                <a:latin typeface="Times New Roman" pitchFamily="18" charset="0"/>
                <a:ea typeface="新細明體" pitchFamily="18" charset="-120"/>
              </a:rPr>
              <a:t>typedef</a:t>
            </a:r>
            <a:r>
              <a:rPr kumimoji="1" lang="en-US" altLang="zh-TW" sz="2400" b="1" dirty="0">
                <a:latin typeface="Times New Roman" pitchFamily="18" charset="0"/>
                <a:ea typeface="新細明體" pitchFamily="18" charset="-120"/>
              </a:rPr>
              <a:t> </a:t>
            </a:r>
            <a:r>
              <a:rPr kumimoji="1" lang="en-US" altLang="zh-TW" sz="2400" b="1" dirty="0" err="1">
                <a:latin typeface="Times New Roman" pitchFamily="18" charset="0"/>
                <a:ea typeface="新細明體" pitchFamily="18" charset="-120"/>
              </a:rPr>
              <a:t>struct</a:t>
            </a:r>
            <a:r>
              <a:rPr kumimoji="1" lang="en-US" altLang="zh-TW" sz="2400" b="1" dirty="0">
                <a:latin typeface="Times New Roman" pitchFamily="18" charset="0"/>
                <a:ea typeface="新細明體" pitchFamily="18" charset="-120"/>
              </a:rPr>
              <a:t> </a:t>
            </a:r>
            <a:r>
              <a:rPr kumimoji="1" lang="en-US" altLang="zh-TW" sz="2400" b="1" dirty="0" err="1">
                <a:latin typeface="Times New Roman" pitchFamily="18" charset="0"/>
                <a:ea typeface="新細明體" pitchFamily="18" charset="-120"/>
              </a:rPr>
              <a:t>polynode</a:t>
            </a:r>
            <a:r>
              <a:rPr kumimoji="1" lang="en-US" altLang="zh-TW" sz="2400" b="1" dirty="0">
                <a:latin typeface="Times New Roman" pitchFamily="18" charset="0"/>
                <a:ea typeface="新細明體" pitchFamily="18" charset="-120"/>
              </a:rPr>
              <a:t> *</a:t>
            </a:r>
            <a:r>
              <a:rPr kumimoji="1" lang="en-US" altLang="zh-TW" sz="2400" b="1" dirty="0" err="1">
                <a:latin typeface="Times New Roman" pitchFamily="18" charset="0"/>
                <a:ea typeface="新細明體" pitchFamily="18" charset="-120"/>
              </a:rPr>
              <a:t>polyptr</a:t>
            </a:r>
            <a:r>
              <a:rPr kumimoji="1" lang="en-US" altLang="zh-TW" sz="2400" dirty="0">
                <a:latin typeface="Times New Roman" pitchFamily="18" charset="0"/>
                <a:ea typeface="新細明體" pitchFamily="18" charset="-120"/>
              </a:rPr>
              <a:t>;</a:t>
            </a:r>
          </a:p>
          <a:p>
            <a:pPr defTabSz="762000">
              <a:lnSpc>
                <a:spcPct val="70000"/>
              </a:lnSpc>
            </a:pPr>
            <a:endParaRPr kumimoji="1" lang="en-US" altLang="zh-TW" sz="2400" dirty="0">
              <a:latin typeface="Times New Roman" pitchFamily="18" charset="0"/>
              <a:ea typeface="新細明體" pitchFamily="18" charset="-120"/>
            </a:endParaRPr>
          </a:p>
        </p:txBody>
      </p:sp>
      <p:grpSp>
        <p:nvGrpSpPr>
          <p:cNvPr id="2" name="Group 12"/>
          <p:cNvGrpSpPr>
            <a:grpSpLocks/>
          </p:cNvGrpSpPr>
          <p:nvPr/>
        </p:nvGrpSpPr>
        <p:grpSpPr bwMode="auto">
          <a:xfrm>
            <a:off x="1838325" y="5408613"/>
            <a:ext cx="5927725" cy="514350"/>
            <a:chOff x="880" y="3240"/>
            <a:chExt cx="2748" cy="336"/>
          </a:xfrm>
        </p:grpSpPr>
        <p:sp>
          <p:nvSpPr>
            <p:cNvPr id="3085" name="Rectangle 13"/>
            <p:cNvSpPr>
              <a:spLocks noChangeArrowheads="1"/>
            </p:cNvSpPr>
            <p:nvPr/>
          </p:nvSpPr>
          <p:spPr bwMode="auto">
            <a:xfrm>
              <a:off x="880" y="3244"/>
              <a:ext cx="2748" cy="328"/>
            </a:xfrm>
            <a:prstGeom prst="rect">
              <a:avLst/>
            </a:prstGeom>
            <a:noFill/>
            <a:ln w="12700">
              <a:solidFill>
                <a:schemeClr val="tx1"/>
              </a:solidFill>
              <a:miter lim="800000"/>
              <a:headEnd/>
              <a:tailEnd/>
            </a:ln>
            <a:effectLst/>
          </p:spPr>
          <p:txBody>
            <a:bodyPr wrap="none" anchor="ctr"/>
            <a:lstStyle/>
            <a:p>
              <a:endParaRPr lang="en-US"/>
            </a:p>
          </p:txBody>
        </p:sp>
        <p:sp>
          <p:nvSpPr>
            <p:cNvPr id="3086" name="Line 14"/>
            <p:cNvSpPr>
              <a:spLocks noChangeShapeType="1"/>
            </p:cNvSpPr>
            <p:nvPr/>
          </p:nvSpPr>
          <p:spPr bwMode="auto">
            <a:xfrm>
              <a:off x="1760" y="3240"/>
              <a:ext cx="0" cy="336"/>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3087" name="Line 15"/>
            <p:cNvSpPr>
              <a:spLocks noChangeShapeType="1"/>
            </p:cNvSpPr>
            <p:nvPr/>
          </p:nvSpPr>
          <p:spPr bwMode="auto">
            <a:xfrm>
              <a:off x="2696" y="3240"/>
              <a:ext cx="0" cy="336"/>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3088" name="Rectangle 16"/>
            <p:cNvSpPr>
              <a:spLocks noChangeArrowheads="1"/>
            </p:cNvSpPr>
            <p:nvPr/>
          </p:nvSpPr>
          <p:spPr bwMode="auto">
            <a:xfrm>
              <a:off x="1093" y="3272"/>
              <a:ext cx="2152" cy="299"/>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latin typeface="Times New Roman" pitchFamily="18" charset="0"/>
                  <a:ea typeface="新細明體" pitchFamily="18" charset="-120"/>
                </a:rPr>
                <a:t>coef                   exp                    next</a:t>
              </a:r>
            </a:p>
          </p:txBody>
        </p:sp>
      </p:gr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3"/>
          <p:cNvSpPr txBox="1">
            <a:spLocks noChangeArrowheads="1"/>
          </p:cNvSpPr>
          <p:nvPr/>
        </p:nvSpPr>
        <p:spPr bwMode="auto">
          <a:xfrm>
            <a:off x="533400" y="1219200"/>
            <a:ext cx="8610600" cy="5453063"/>
          </a:xfrm>
          <a:prstGeom prst="rect">
            <a:avLst/>
          </a:prstGeom>
          <a:noFill/>
          <a:ln w="9525">
            <a:noFill/>
            <a:miter lim="800000"/>
            <a:headEnd/>
            <a:tailEnd/>
          </a:ln>
          <a:effectLst/>
        </p:spPr>
        <p:txBody>
          <a:bodyPr>
            <a:spAutoFit/>
          </a:bodyPr>
          <a:lstStyle/>
          <a:p>
            <a:pPr>
              <a:buFontTx/>
              <a:buChar char="•"/>
            </a:pPr>
            <a:r>
              <a:rPr lang="en-US" sz="3200"/>
              <a:t> Adding polynomials using a Linked list representation: (storing the result in p3)</a:t>
            </a:r>
          </a:p>
          <a:p>
            <a:pPr>
              <a:buFontTx/>
              <a:buChar char="•"/>
            </a:pPr>
            <a:endParaRPr lang="en-US" sz="3200">
              <a:solidFill>
                <a:srgbClr val="000066"/>
              </a:solidFill>
            </a:endParaRPr>
          </a:p>
          <a:p>
            <a:r>
              <a:rPr lang="en-US" sz="3200">
                <a:solidFill>
                  <a:srgbClr val="000066"/>
                </a:solidFill>
              </a:rPr>
              <a:t>To do this, we have to break the process down to cases:</a:t>
            </a:r>
          </a:p>
          <a:p>
            <a:pPr>
              <a:buFontTx/>
              <a:buChar char="•"/>
            </a:pPr>
            <a:r>
              <a:rPr lang="en-US" sz="3200">
                <a:solidFill>
                  <a:srgbClr val="000066"/>
                </a:solidFill>
              </a:rPr>
              <a:t> Case 1: exponent of p1 &gt; exponent of p2</a:t>
            </a:r>
          </a:p>
          <a:p>
            <a:pPr lvl="1">
              <a:buFontTx/>
              <a:buChar char="•"/>
            </a:pPr>
            <a:r>
              <a:rPr lang="en-US" sz="3200">
                <a:solidFill>
                  <a:srgbClr val="000066"/>
                </a:solidFill>
              </a:rPr>
              <a:t> Copy node of p1 to end of p3.</a:t>
            </a:r>
          </a:p>
          <a:p>
            <a:r>
              <a:rPr lang="en-US" sz="3200">
                <a:solidFill>
                  <a:srgbClr val="545454"/>
                </a:solidFill>
              </a:rPr>
              <a:t>[go to next node]</a:t>
            </a:r>
          </a:p>
          <a:p>
            <a:pPr>
              <a:buFontTx/>
              <a:buChar char="•"/>
            </a:pPr>
            <a:r>
              <a:rPr lang="en-US" sz="3200">
                <a:solidFill>
                  <a:srgbClr val="000066"/>
                </a:solidFill>
              </a:rPr>
              <a:t> Case 2: exponent of p1 &lt; exponent of p2</a:t>
            </a:r>
          </a:p>
          <a:p>
            <a:pPr lvl="1">
              <a:buFontTx/>
              <a:buChar char="•"/>
            </a:pPr>
            <a:r>
              <a:rPr lang="en-US" sz="3200">
                <a:solidFill>
                  <a:srgbClr val="000066"/>
                </a:solidFill>
              </a:rPr>
              <a:t> Copy node of p2 to end of p3.</a:t>
            </a:r>
          </a:p>
          <a:p>
            <a:r>
              <a:rPr lang="en-US" sz="3200">
                <a:solidFill>
                  <a:srgbClr val="545454"/>
                </a:solidFill>
              </a:rPr>
              <a:t>[go to next node]</a:t>
            </a:r>
            <a:endParaRPr lang="en-US" sz="3200">
              <a:solidFill>
                <a:srgbClr val="000066"/>
              </a:solidFill>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Text Box 3"/>
          <p:cNvSpPr txBox="1">
            <a:spLocks noChangeArrowheads="1"/>
          </p:cNvSpPr>
          <p:nvPr/>
        </p:nvSpPr>
        <p:spPr bwMode="auto">
          <a:xfrm>
            <a:off x="533400" y="1752600"/>
            <a:ext cx="8305800" cy="2041525"/>
          </a:xfrm>
          <a:prstGeom prst="rect">
            <a:avLst/>
          </a:prstGeom>
          <a:noFill/>
          <a:ln w="9525">
            <a:noFill/>
            <a:miter lim="800000"/>
            <a:headEnd/>
            <a:tailEnd/>
          </a:ln>
          <a:effectLst/>
        </p:spPr>
        <p:txBody>
          <a:bodyPr>
            <a:spAutoFit/>
          </a:bodyPr>
          <a:lstStyle/>
          <a:p>
            <a:pPr>
              <a:buFontTx/>
              <a:buChar char="•"/>
            </a:pPr>
            <a:r>
              <a:rPr lang="en-US" sz="3200">
                <a:solidFill>
                  <a:srgbClr val="000066"/>
                </a:solidFill>
              </a:rPr>
              <a:t> Case 3: exponent of p1 = exponent of p2</a:t>
            </a:r>
          </a:p>
          <a:p>
            <a:pPr lvl="1">
              <a:buFontTx/>
              <a:buChar char="•"/>
            </a:pPr>
            <a:r>
              <a:rPr lang="en-US" sz="3200">
                <a:solidFill>
                  <a:srgbClr val="000066"/>
                </a:solidFill>
              </a:rPr>
              <a:t> Create a new node in p3 with the same exponent and with the sum of the coefficients of p1 and p2.</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56" name="Rectangle 44"/>
          <p:cNvSpPr>
            <a:spLocks noGrp="1" noChangeArrowheads="1"/>
          </p:cNvSpPr>
          <p:nvPr>
            <p:ph type="title"/>
          </p:nvPr>
        </p:nvSpPr>
        <p:spPr/>
        <p:txBody>
          <a:bodyPr/>
          <a:lstStyle/>
          <a:p>
            <a:r>
              <a:rPr lang="en-US"/>
              <a:t>Example</a:t>
            </a:r>
          </a:p>
        </p:txBody>
      </p:sp>
      <p:sp>
        <p:nvSpPr>
          <p:cNvPr id="13316" name="Rectangle 4"/>
          <p:cNvSpPr>
            <a:spLocks noChangeArrowheads="1"/>
          </p:cNvSpPr>
          <p:nvPr/>
        </p:nvSpPr>
        <p:spPr bwMode="auto">
          <a:xfrm>
            <a:off x="1773238" y="3030538"/>
            <a:ext cx="1022350"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latin typeface="Times New Roman" pitchFamily="18" charset="0"/>
                <a:ea typeface="新細明體" pitchFamily="18" charset="-120"/>
              </a:rPr>
              <a:t>3     14</a:t>
            </a:r>
          </a:p>
        </p:txBody>
      </p:sp>
      <p:grpSp>
        <p:nvGrpSpPr>
          <p:cNvPr id="2" name="Group 5"/>
          <p:cNvGrpSpPr>
            <a:grpSpLocks/>
          </p:cNvGrpSpPr>
          <p:nvPr/>
        </p:nvGrpSpPr>
        <p:grpSpPr bwMode="auto">
          <a:xfrm>
            <a:off x="1733550" y="2994025"/>
            <a:ext cx="6256338" cy="481013"/>
            <a:chOff x="1108" y="1886"/>
            <a:chExt cx="3941" cy="303"/>
          </a:xfrm>
        </p:grpSpPr>
        <p:sp>
          <p:nvSpPr>
            <p:cNvPr id="13318" name="Rectangle 6"/>
            <p:cNvSpPr>
              <a:spLocks noChangeArrowheads="1"/>
            </p:cNvSpPr>
            <p:nvPr/>
          </p:nvSpPr>
          <p:spPr bwMode="auto">
            <a:xfrm>
              <a:off x="1108" y="1894"/>
              <a:ext cx="1073" cy="285"/>
            </a:xfrm>
            <a:prstGeom prst="rect">
              <a:avLst/>
            </a:prstGeom>
            <a:noFill/>
            <a:ln w="12700">
              <a:solidFill>
                <a:schemeClr val="tx1"/>
              </a:solidFill>
              <a:miter lim="800000"/>
              <a:headEnd/>
              <a:tailEnd/>
            </a:ln>
            <a:effectLst/>
          </p:spPr>
          <p:txBody>
            <a:bodyPr wrap="none" anchor="ctr"/>
            <a:lstStyle/>
            <a:p>
              <a:endParaRPr lang="en-US"/>
            </a:p>
          </p:txBody>
        </p:sp>
        <p:sp>
          <p:nvSpPr>
            <p:cNvPr id="13319" name="Line 7"/>
            <p:cNvSpPr>
              <a:spLocks noChangeShapeType="1"/>
            </p:cNvSpPr>
            <p:nvPr/>
          </p:nvSpPr>
          <p:spPr bwMode="auto">
            <a:xfrm>
              <a:off x="1446" y="1890"/>
              <a:ext cx="0" cy="293"/>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3320" name="Line 8"/>
            <p:cNvSpPr>
              <a:spLocks noChangeShapeType="1"/>
            </p:cNvSpPr>
            <p:nvPr/>
          </p:nvSpPr>
          <p:spPr bwMode="auto">
            <a:xfrm>
              <a:off x="1820" y="1889"/>
              <a:ext cx="0" cy="30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3321" name="Rectangle 9"/>
            <p:cNvSpPr>
              <a:spLocks noChangeArrowheads="1"/>
            </p:cNvSpPr>
            <p:nvPr/>
          </p:nvSpPr>
          <p:spPr bwMode="auto">
            <a:xfrm>
              <a:off x="2553" y="1891"/>
              <a:ext cx="1073" cy="285"/>
            </a:xfrm>
            <a:prstGeom prst="rect">
              <a:avLst/>
            </a:prstGeom>
            <a:noFill/>
            <a:ln w="12700">
              <a:solidFill>
                <a:schemeClr val="tx1"/>
              </a:solidFill>
              <a:miter lim="800000"/>
              <a:headEnd/>
              <a:tailEnd/>
            </a:ln>
            <a:effectLst/>
          </p:spPr>
          <p:txBody>
            <a:bodyPr wrap="none" anchor="ctr"/>
            <a:lstStyle/>
            <a:p>
              <a:endParaRPr lang="en-US"/>
            </a:p>
          </p:txBody>
        </p:sp>
        <p:sp>
          <p:nvSpPr>
            <p:cNvPr id="13322" name="Line 10"/>
            <p:cNvSpPr>
              <a:spLocks noChangeShapeType="1"/>
            </p:cNvSpPr>
            <p:nvPr/>
          </p:nvSpPr>
          <p:spPr bwMode="auto">
            <a:xfrm>
              <a:off x="2891" y="1887"/>
              <a:ext cx="0" cy="293"/>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3323" name="Line 11"/>
            <p:cNvSpPr>
              <a:spLocks noChangeShapeType="1"/>
            </p:cNvSpPr>
            <p:nvPr/>
          </p:nvSpPr>
          <p:spPr bwMode="auto">
            <a:xfrm>
              <a:off x="3265" y="1886"/>
              <a:ext cx="0" cy="30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3324" name="Rectangle 12"/>
            <p:cNvSpPr>
              <a:spLocks noChangeArrowheads="1"/>
            </p:cNvSpPr>
            <p:nvPr/>
          </p:nvSpPr>
          <p:spPr bwMode="auto">
            <a:xfrm>
              <a:off x="3976" y="1892"/>
              <a:ext cx="1073" cy="285"/>
            </a:xfrm>
            <a:prstGeom prst="rect">
              <a:avLst/>
            </a:prstGeom>
            <a:noFill/>
            <a:ln w="12700">
              <a:solidFill>
                <a:schemeClr val="tx1"/>
              </a:solidFill>
              <a:miter lim="800000"/>
              <a:headEnd/>
              <a:tailEnd/>
            </a:ln>
            <a:effectLst/>
          </p:spPr>
          <p:txBody>
            <a:bodyPr wrap="none" anchor="ctr"/>
            <a:lstStyle/>
            <a:p>
              <a:endParaRPr lang="en-US"/>
            </a:p>
          </p:txBody>
        </p:sp>
        <p:sp>
          <p:nvSpPr>
            <p:cNvPr id="13325" name="Line 13"/>
            <p:cNvSpPr>
              <a:spLocks noChangeShapeType="1"/>
            </p:cNvSpPr>
            <p:nvPr/>
          </p:nvSpPr>
          <p:spPr bwMode="auto">
            <a:xfrm>
              <a:off x="4314" y="1888"/>
              <a:ext cx="0" cy="293"/>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3326" name="Line 14"/>
            <p:cNvSpPr>
              <a:spLocks noChangeShapeType="1"/>
            </p:cNvSpPr>
            <p:nvPr/>
          </p:nvSpPr>
          <p:spPr bwMode="auto">
            <a:xfrm>
              <a:off x="4688" y="1887"/>
              <a:ext cx="0" cy="300"/>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3327" name="Line 15"/>
          <p:cNvSpPr>
            <a:spLocks noChangeShapeType="1"/>
          </p:cNvSpPr>
          <p:nvPr/>
        </p:nvSpPr>
        <p:spPr bwMode="auto">
          <a:xfrm>
            <a:off x="3222625" y="3238500"/>
            <a:ext cx="788988"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3328" name="Line 16"/>
          <p:cNvSpPr>
            <a:spLocks noChangeShapeType="1"/>
          </p:cNvSpPr>
          <p:nvPr/>
        </p:nvSpPr>
        <p:spPr bwMode="auto">
          <a:xfrm>
            <a:off x="5454650" y="3235325"/>
            <a:ext cx="787400"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3329" name="Rectangle 17"/>
          <p:cNvSpPr>
            <a:spLocks noChangeArrowheads="1"/>
          </p:cNvSpPr>
          <p:nvPr/>
        </p:nvSpPr>
        <p:spPr bwMode="auto">
          <a:xfrm>
            <a:off x="4119563" y="3041650"/>
            <a:ext cx="869950"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latin typeface="Times New Roman" pitchFamily="18" charset="0"/>
                <a:ea typeface="新細明體" pitchFamily="18" charset="-120"/>
              </a:rPr>
              <a:t>2     8</a:t>
            </a:r>
          </a:p>
        </p:txBody>
      </p:sp>
      <p:sp>
        <p:nvSpPr>
          <p:cNvPr id="13330" name="Rectangle 18"/>
          <p:cNvSpPr>
            <a:spLocks noChangeArrowheads="1"/>
          </p:cNvSpPr>
          <p:nvPr/>
        </p:nvSpPr>
        <p:spPr bwMode="auto">
          <a:xfrm>
            <a:off x="6376988" y="3028950"/>
            <a:ext cx="869950"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latin typeface="Times New Roman" pitchFamily="18" charset="0"/>
                <a:ea typeface="新細明體" pitchFamily="18" charset="-120"/>
              </a:rPr>
              <a:t>1     0</a:t>
            </a:r>
          </a:p>
        </p:txBody>
      </p:sp>
      <p:sp>
        <p:nvSpPr>
          <p:cNvPr id="13331" name="Line 19"/>
          <p:cNvSpPr>
            <a:spLocks noChangeShapeType="1"/>
          </p:cNvSpPr>
          <p:nvPr/>
        </p:nvSpPr>
        <p:spPr bwMode="auto">
          <a:xfrm>
            <a:off x="1222375" y="3227388"/>
            <a:ext cx="490538"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3332" name="Rectangle 20"/>
          <p:cNvSpPr>
            <a:spLocks noChangeArrowheads="1"/>
          </p:cNvSpPr>
          <p:nvPr/>
        </p:nvSpPr>
        <p:spPr bwMode="auto">
          <a:xfrm>
            <a:off x="1219200" y="2743200"/>
            <a:ext cx="319088"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latin typeface="Times New Roman" pitchFamily="18" charset="0"/>
                <a:ea typeface="新細明體" pitchFamily="18" charset="-120"/>
              </a:rPr>
              <a:t>a</a:t>
            </a:r>
          </a:p>
        </p:txBody>
      </p:sp>
      <p:sp>
        <p:nvSpPr>
          <p:cNvPr id="13333" name="Rectangle 21"/>
          <p:cNvSpPr>
            <a:spLocks noChangeArrowheads="1"/>
          </p:cNvSpPr>
          <p:nvPr/>
        </p:nvSpPr>
        <p:spPr bwMode="auto">
          <a:xfrm>
            <a:off x="1824038" y="5051425"/>
            <a:ext cx="1022350"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latin typeface="Times New Roman" pitchFamily="18" charset="0"/>
                <a:ea typeface="新細明體" pitchFamily="18" charset="-120"/>
              </a:rPr>
              <a:t>8     14</a:t>
            </a:r>
          </a:p>
        </p:txBody>
      </p:sp>
      <p:grpSp>
        <p:nvGrpSpPr>
          <p:cNvPr id="3" name="Group 22"/>
          <p:cNvGrpSpPr>
            <a:grpSpLocks/>
          </p:cNvGrpSpPr>
          <p:nvPr/>
        </p:nvGrpSpPr>
        <p:grpSpPr bwMode="auto">
          <a:xfrm>
            <a:off x="1782763" y="5019675"/>
            <a:ext cx="1703387" cy="476250"/>
            <a:chOff x="1139" y="3162"/>
            <a:chExt cx="1073" cy="300"/>
          </a:xfrm>
        </p:grpSpPr>
        <p:sp>
          <p:nvSpPr>
            <p:cNvPr id="13335" name="Rectangle 23"/>
            <p:cNvSpPr>
              <a:spLocks noChangeArrowheads="1"/>
            </p:cNvSpPr>
            <p:nvPr/>
          </p:nvSpPr>
          <p:spPr bwMode="auto">
            <a:xfrm>
              <a:off x="1139" y="3167"/>
              <a:ext cx="1073" cy="285"/>
            </a:xfrm>
            <a:prstGeom prst="rect">
              <a:avLst/>
            </a:prstGeom>
            <a:noFill/>
            <a:ln w="12700">
              <a:solidFill>
                <a:schemeClr val="tx1"/>
              </a:solidFill>
              <a:miter lim="800000"/>
              <a:headEnd/>
              <a:tailEnd/>
            </a:ln>
            <a:effectLst/>
          </p:spPr>
          <p:txBody>
            <a:bodyPr wrap="none" anchor="ctr"/>
            <a:lstStyle/>
            <a:p>
              <a:endParaRPr lang="en-US"/>
            </a:p>
          </p:txBody>
        </p:sp>
        <p:sp>
          <p:nvSpPr>
            <p:cNvPr id="13336" name="Line 24"/>
            <p:cNvSpPr>
              <a:spLocks noChangeShapeType="1"/>
            </p:cNvSpPr>
            <p:nvPr/>
          </p:nvSpPr>
          <p:spPr bwMode="auto">
            <a:xfrm>
              <a:off x="1478" y="3163"/>
              <a:ext cx="0" cy="293"/>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3337" name="Line 25"/>
            <p:cNvSpPr>
              <a:spLocks noChangeShapeType="1"/>
            </p:cNvSpPr>
            <p:nvPr/>
          </p:nvSpPr>
          <p:spPr bwMode="auto">
            <a:xfrm>
              <a:off x="1851" y="3162"/>
              <a:ext cx="0" cy="300"/>
            </a:xfrm>
            <a:prstGeom prst="line">
              <a:avLst/>
            </a:prstGeom>
            <a:noFill/>
            <a:ln w="12700">
              <a:solidFill>
                <a:schemeClr val="tx1"/>
              </a:solidFill>
              <a:round/>
              <a:headEnd type="none" w="sm" len="sm"/>
              <a:tailEnd type="none" w="sm" len="sm"/>
            </a:ln>
            <a:effectLst/>
          </p:spPr>
          <p:txBody>
            <a:bodyPr wrap="none" anchor="ctr"/>
            <a:lstStyle/>
            <a:p>
              <a:endParaRPr lang="en-US"/>
            </a:p>
          </p:txBody>
        </p:sp>
      </p:grpSp>
      <p:grpSp>
        <p:nvGrpSpPr>
          <p:cNvPr id="4" name="Group 26"/>
          <p:cNvGrpSpPr>
            <a:grpSpLocks/>
          </p:cNvGrpSpPr>
          <p:nvPr/>
        </p:nvGrpSpPr>
        <p:grpSpPr bwMode="auto">
          <a:xfrm>
            <a:off x="4076700" y="5014913"/>
            <a:ext cx="1704975" cy="476250"/>
            <a:chOff x="2584" y="3159"/>
            <a:chExt cx="1074" cy="300"/>
          </a:xfrm>
        </p:grpSpPr>
        <p:sp>
          <p:nvSpPr>
            <p:cNvPr id="13339" name="Rectangle 27"/>
            <p:cNvSpPr>
              <a:spLocks noChangeArrowheads="1"/>
            </p:cNvSpPr>
            <p:nvPr/>
          </p:nvSpPr>
          <p:spPr bwMode="auto">
            <a:xfrm>
              <a:off x="2584" y="3164"/>
              <a:ext cx="1074" cy="285"/>
            </a:xfrm>
            <a:prstGeom prst="rect">
              <a:avLst/>
            </a:prstGeom>
            <a:noFill/>
            <a:ln w="12700">
              <a:solidFill>
                <a:schemeClr val="tx1"/>
              </a:solidFill>
              <a:miter lim="800000"/>
              <a:headEnd/>
              <a:tailEnd/>
            </a:ln>
            <a:effectLst/>
          </p:spPr>
          <p:txBody>
            <a:bodyPr wrap="none" anchor="ctr"/>
            <a:lstStyle/>
            <a:p>
              <a:endParaRPr lang="en-US"/>
            </a:p>
          </p:txBody>
        </p:sp>
        <p:sp>
          <p:nvSpPr>
            <p:cNvPr id="13340" name="Line 28"/>
            <p:cNvSpPr>
              <a:spLocks noChangeShapeType="1"/>
            </p:cNvSpPr>
            <p:nvPr/>
          </p:nvSpPr>
          <p:spPr bwMode="auto">
            <a:xfrm>
              <a:off x="2923" y="3160"/>
              <a:ext cx="0" cy="293"/>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3341" name="Line 29"/>
            <p:cNvSpPr>
              <a:spLocks noChangeShapeType="1"/>
            </p:cNvSpPr>
            <p:nvPr/>
          </p:nvSpPr>
          <p:spPr bwMode="auto">
            <a:xfrm>
              <a:off x="3297" y="3159"/>
              <a:ext cx="0" cy="300"/>
            </a:xfrm>
            <a:prstGeom prst="line">
              <a:avLst/>
            </a:prstGeom>
            <a:noFill/>
            <a:ln w="12700">
              <a:solidFill>
                <a:schemeClr val="tx1"/>
              </a:solidFill>
              <a:round/>
              <a:headEnd type="none" w="sm" len="sm"/>
              <a:tailEnd type="none" w="sm" len="sm"/>
            </a:ln>
            <a:effectLst/>
          </p:spPr>
          <p:txBody>
            <a:bodyPr wrap="none" anchor="ctr"/>
            <a:lstStyle/>
            <a:p>
              <a:endParaRPr lang="en-US"/>
            </a:p>
          </p:txBody>
        </p:sp>
      </p:grpSp>
      <p:grpSp>
        <p:nvGrpSpPr>
          <p:cNvPr id="5" name="Group 30"/>
          <p:cNvGrpSpPr>
            <a:grpSpLocks/>
          </p:cNvGrpSpPr>
          <p:nvPr/>
        </p:nvGrpSpPr>
        <p:grpSpPr bwMode="auto">
          <a:xfrm>
            <a:off x="6335713" y="5016500"/>
            <a:ext cx="1703387" cy="476250"/>
            <a:chOff x="4007" y="3160"/>
            <a:chExt cx="1073" cy="300"/>
          </a:xfrm>
        </p:grpSpPr>
        <p:sp>
          <p:nvSpPr>
            <p:cNvPr id="13343" name="Rectangle 31"/>
            <p:cNvSpPr>
              <a:spLocks noChangeArrowheads="1"/>
            </p:cNvSpPr>
            <p:nvPr/>
          </p:nvSpPr>
          <p:spPr bwMode="auto">
            <a:xfrm>
              <a:off x="4007" y="3165"/>
              <a:ext cx="1073" cy="285"/>
            </a:xfrm>
            <a:prstGeom prst="rect">
              <a:avLst/>
            </a:prstGeom>
            <a:noFill/>
            <a:ln w="12700">
              <a:solidFill>
                <a:schemeClr val="tx1"/>
              </a:solidFill>
              <a:miter lim="800000"/>
              <a:headEnd/>
              <a:tailEnd/>
            </a:ln>
            <a:effectLst/>
          </p:spPr>
          <p:txBody>
            <a:bodyPr wrap="none" anchor="ctr"/>
            <a:lstStyle/>
            <a:p>
              <a:endParaRPr lang="en-US"/>
            </a:p>
          </p:txBody>
        </p:sp>
        <p:sp>
          <p:nvSpPr>
            <p:cNvPr id="13344" name="Line 32"/>
            <p:cNvSpPr>
              <a:spLocks noChangeShapeType="1"/>
            </p:cNvSpPr>
            <p:nvPr/>
          </p:nvSpPr>
          <p:spPr bwMode="auto">
            <a:xfrm>
              <a:off x="4345" y="3161"/>
              <a:ext cx="0" cy="293"/>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3345" name="Line 33"/>
            <p:cNvSpPr>
              <a:spLocks noChangeShapeType="1"/>
            </p:cNvSpPr>
            <p:nvPr/>
          </p:nvSpPr>
          <p:spPr bwMode="auto">
            <a:xfrm>
              <a:off x="4719" y="3160"/>
              <a:ext cx="0" cy="300"/>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3346" name="Line 34"/>
          <p:cNvSpPr>
            <a:spLocks noChangeShapeType="1"/>
          </p:cNvSpPr>
          <p:nvPr/>
        </p:nvSpPr>
        <p:spPr bwMode="auto">
          <a:xfrm>
            <a:off x="3273425" y="5259388"/>
            <a:ext cx="787400"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3347" name="Line 35"/>
          <p:cNvSpPr>
            <a:spLocks noChangeShapeType="1"/>
          </p:cNvSpPr>
          <p:nvPr/>
        </p:nvSpPr>
        <p:spPr bwMode="auto">
          <a:xfrm>
            <a:off x="5503863" y="5256213"/>
            <a:ext cx="787400"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3348" name="Rectangle 36"/>
          <p:cNvSpPr>
            <a:spLocks noChangeArrowheads="1"/>
          </p:cNvSpPr>
          <p:nvPr/>
        </p:nvSpPr>
        <p:spPr bwMode="auto">
          <a:xfrm>
            <a:off x="4168775" y="5062538"/>
            <a:ext cx="895350"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latin typeface="Times New Roman" pitchFamily="18" charset="0"/>
                <a:ea typeface="新細明體" pitchFamily="18" charset="-120"/>
              </a:rPr>
              <a:t>-3  10</a:t>
            </a:r>
          </a:p>
        </p:txBody>
      </p:sp>
      <p:sp>
        <p:nvSpPr>
          <p:cNvPr id="13349" name="Rectangle 37"/>
          <p:cNvSpPr>
            <a:spLocks noChangeArrowheads="1"/>
          </p:cNvSpPr>
          <p:nvPr/>
        </p:nvSpPr>
        <p:spPr bwMode="auto">
          <a:xfrm>
            <a:off x="6350000" y="5073650"/>
            <a:ext cx="946150"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latin typeface="Times New Roman" pitchFamily="18" charset="0"/>
                <a:ea typeface="新細明體" pitchFamily="18" charset="-120"/>
              </a:rPr>
              <a:t>10    6</a:t>
            </a:r>
          </a:p>
        </p:txBody>
      </p:sp>
      <p:sp>
        <p:nvSpPr>
          <p:cNvPr id="13350" name="Line 38"/>
          <p:cNvSpPr>
            <a:spLocks noChangeShapeType="1"/>
          </p:cNvSpPr>
          <p:nvPr/>
        </p:nvSpPr>
        <p:spPr bwMode="auto">
          <a:xfrm>
            <a:off x="1273175" y="5248275"/>
            <a:ext cx="490538"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3351" name="Rectangle 39"/>
          <p:cNvSpPr>
            <a:spLocks noChangeArrowheads="1"/>
          </p:cNvSpPr>
          <p:nvPr/>
        </p:nvSpPr>
        <p:spPr bwMode="auto">
          <a:xfrm>
            <a:off x="1239838" y="4814888"/>
            <a:ext cx="336550"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latin typeface="Times New Roman" pitchFamily="18" charset="0"/>
                <a:ea typeface="新細明體" pitchFamily="18" charset="-120"/>
              </a:rPr>
              <a:t>b</a:t>
            </a:r>
          </a:p>
        </p:txBody>
      </p:sp>
      <p:graphicFrame>
        <p:nvGraphicFramePr>
          <p:cNvPr id="13352" name="Object 40"/>
          <p:cNvGraphicFramePr>
            <a:graphicFrameLocks/>
          </p:cNvGraphicFramePr>
          <p:nvPr/>
        </p:nvGraphicFramePr>
        <p:xfrm>
          <a:off x="1268413" y="4149725"/>
          <a:ext cx="4230687" cy="541338"/>
        </p:xfrm>
        <a:graphic>
          <a:graphicData uri="http://schemas.openxmlformats.org/presentationml/2006/ole">
            <p:oleObj spid="_x0000_s2050" name="方程式" r:id="rId3" imgW="1091880" imgH="164880" progId="Equation.2">
              <p:embed/>
            </p:oleObj>
          </a:graphicData>
        </a:graphic>
      </p:graphicFrame>
      <p:sp>
        <p:nvSpPr>
          <p:cNvPr id="13353" name="Text Box 41"/>
          <p:cNvSpPr txBox="1">
            <a:spLocks noChangeArrowheads="1"/>
          </p:cNvSpPr>
          <p:nvPr/>
        </p:nvSpPr>
        <p:spPr bwMode="auto">
          <a:xfrm>
            <a:off x="7388225" y="3011488"/>
            <a:ext cx="657225" cy="457200"/>
          </a:xfrm>
          <a:prstGeom prst="rect">
            <a:avLst/>
          </a:prstGeom>
          <a:noFill/>
          <a:ln w="9525">
            <a:noFill/>
            <a:miter lim="800000"/>
            <a:headEnd/>
            <a:tailEnd/>
          </a:ln>
          <a:effectLst/>
        </p:spPr>
        <p:txBody>
          <a:bodyPr wrap="none">
            <a:spAutoFit/>
          </a:bodyPr>
          <a:lstStyle/>
          <a:p>
            <a:r>
              <a:rPr kumimoji="1" lang="en-US" altLang="zh-TW" sz="2400">
                <a:latin typeface="Times New Roman" pitchFamily="18" charset="0"/>
                <a:ea typeface="新細明體" pitchFamily="18" charset="-120"/>
              </a:rPr>
              <a:t>null</a:t>
            </a:r>
            <a:endParaRPr kumimoji="1" lang="en-US" altLang="zh-TW" sz="2400">
              <a:solidFill>
                <a:srgbClr val="CC3300"/>
              </a:solidFill>
              <a:latin typeface="Times New Roman" pitchFamily="18" charset="0"/>
              <a:ea typeface="新細明體" pitchFamily="18" charset="-120"/>
            </a:endParaRPr>
          </a:p>
        </p:txBody>
      </p:sp>
      <p:sp>
        <p:nvSpPr>
          <p:cNvPr id="13354" name="Text Box 42"/>
          <p:cNvSpPr txBox="1">
            <a:spLocks noChangeArrowheads="1"/>
          </p:cNvSpPr>
          <p:nvPr/>
        </p:nvSpPr>
        <p:spPr bwMode="auto">
          <a:xfrm>
            <a:off x="7440613" y="5040313"/>
            <a:ext cx="657225" cy="457200"/>
          </a:xfrm>
          <a:prstGeom prst="rect">
            <a:avLst/>
          </a:prstGeom>
          <a:noFill/>
          <a:ln w="9525">
            <a:noFill/>
            <a:miter lim="800000"/>
            <a:headEnd/>
            <a:tailEnd/>
          </a:ln>
          <a:effectLst/>
        </p:spPr>
        <p:txBody>
          <a:bodyPr wrap="none">
            <a:spAutoFit/>
          </a:bodyPr>
          <a:lstStyle/>
          <a:p>
            <a:r>
              <a:rPr kumimoji="1" lang="en-US" altLang="zh-TW" sz="2400">
                <a:latin typeface="Times New Roman" pitchFamily="18" charset="0"/>
                <a:ea typeface="新細明體" pitchFamily="18" charset="-120"/>
              </a:rPr>
              <a:t>null</a:t>
            </a:r>
          </a:p>
        </p:txBody>
      </p:sp>
      <p:graphicFrame>
        <p:nvGraphicFramePr>
          <p:cNvPr id="13355" name="Object 43"/>
          <p:cNvGraphicFramePr>
            <a:graphicFrameLocks/>
          </p:cNvGraphicFramePr>
          <p:nvPr>
            <p:ph idx="1"/>
          </p:nvPr>
        </p:nvGraphicFramePr>
        <p:xfrm>
          <a:off x="685800" y="1676400"/>
          <a:ext cx="4343400" cy="698500"/>
        </p:xfrm>
        <a:graphic>
          <a:graphicData uri="http://schemas.openxmlformats.org/presentationml/2006/ole">
            <p:oleObj spid="_x0000_s2051" name="方程式" r:id="rId4" imgW="901440" imgH="164880" progId="Equation.2">
              <p:embed/>
            </p:oleObj>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Adding Polynomials</a:t>
            </a:r>
          </a:p>
        </p:txBody>
      </p:sp>
      <p:sp>
        <p:nvSpPr>
          <p:cNvPr id="15363" name="Rectangle 3"/>
          <p:cNvSpPr>
            <a:spLocks noGrp="1" noChangeArrowheads="1"/>
          </p:cNvSpPr>
          <p:nvPr>
            <p:ph type="body" idx="1"/>
          </p:nvPr>
        </p:nvSpPr>
        <p:spPr/>
        <p:txBody>
          <a:bodyPr/>
          <a:lstStyle/>
          <a:p>
            <a:endParaRPr lang="en-US"/>
          </a:p>
        </p:txBody>
      </p:sp>
      <p:sp>
        <p:nvSpPr>
          <p:cNvPr id="15364" name="Rectangle 4"/>
          <p:cNvSpPr>
            <a:spLocks noChangeArrowheads="1"/>
          </p:cNvSpPr>
          <p:nvPr/>
        </p:nvSpPr>
        <p:spPr bwMode="auto">
          <a:xfrm>
            <a:off x="1104900" y="1993900"/>
            <a:ext cx="1438275"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3    14</a:t>
            </a:r>
          </a:p>
        </p:txBody>
      </p:sp>
      <p:grpSp>
        <p:nvGrpSpPr>
          <p:cNvPr id="2" name="Group 5"/>
          <p:cNvGrpSpPr>
            <a:grpSpLocks/>
          </p:cNvGrpSpPr>
          <p:nvPr/>
        </p:nvGrpSpPr>
        <p:grpSpPr bwMode="auto">
          <a:xfrm>
            <a:off x="1065213" y="2005013"/>
            <a:ext cx="6035675" cy="346075"/>
            <a:chOff x="565" y="992"/>
            <a:chExt cx="3802" cy="218"/>
          </a:xfrm>
        </p:grpSpPr>
        <p:sp>
          <p:nvSpPr>
            <p:cNvPr id="15366" name="Rectangle 6"/>
            <p:cNvSpPr>
              <a:spLocks noChangeArrowheads="1"/>
            </p:cNvSpPr>
            <p:nvPr/>
          </p:nvSpPr>
          <p:spPr bwMode="auto">
            <a:xfrm>
              <a:off x="565" y="999"/>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367" name="Line 7"/>
            <p:cNvSpPr>
              <a:spLocks noChangeShapeType="1"/>
            </p:cNvSpPr>
            <p:nvPr/>
          </p:nvSpPr>
          <p:spPr bwMode="auto">
            <a:xfrm>
              <a:off x="892" y="995"/>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68" name="Line 8"/>
            <p:cNvSpPr>
              <a:spLocks noChangeShapeType="1"/>
            </p:cNvSpPr>
            <p:nvPr/>
          </p:nvSpPr>
          <p:spPr bwMode="auto">
            <a:xfrm>
              <a:off x="1252" y="994"/>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69" name="Rectangle 9"/>
            <p:cNvSpPr>
              <a:spLocks noChangeArrowheads="1"/>
            </p:cNvSpPr>
            <p:nvPr/>
          </p:nvSpPr>
          <p:spPr bwMode="auto">
            <a:xfrm>
              <a:off x="1959" y="997"/>
              <a:ext cx="1036" cy="203"/>
            </a:xfrm>
            <a:prstGeom prst="rect">
              <a:avLst/>
            </a:prstGeom>
            <a:noFill/>
            <a:ln w="12700">
              <a:solidFill>
                <a:schemeClr val="tx1"/>
              </a:solidFill>
              <a:miter lim="800000"/>
              <a:headEnd/>
              <a:tailEnd/>
            </a:ln>
            <a:effectLst/>
          </p:spPr>
          <p:txBody>
            <a:bodyPr wrap="none" anchor="ctr"/>
            <a:lstStyle/>
            <a:p>
              <a:endParaRPr lang="en-US"/>
            </a:p>
          </p:txBody>
        </p:sp>
        <p:sp>
          <p:nvSpPr>
            <p:cNvPr id="15370" name="Line 10"/>
            <p:cNvSpPr>
              <a:spLocks noChangeShapeType="1"/>
            </p:cNvSpPr>
            <p:nvPr/>
          </p:nvSpPr>
          <p:spPr bwMode="auto">
            <a:xfrm>
              <a:off x="2286" y="993"/>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71" name="Line 11"/>
            <p:cNvSpPr>
              <a:spLocks noChangeShapeType="1"/>
            </p:cNvSpPr>
            <p:nvPr/>
          </p:nvSpPr>
          <p:spPr bwMode="auto">
            <a:xfrm>
              <a:off x="2647" y="992"/>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72" name="Rectangle 12"/>
            <p:cNvSpPr>
              <a:spLocks noChangeArrowheads="1"/>
            </p:cNvSpPr>
            <p:nvPr/>
          </p:nvSpPr>
          <p:spPr bwMode="auto">
            <a:xfrm>
              <a:off x="3332" y="997"/>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373" name="Line 13"/>
            <p:cNvSpPr>
              <a:spLocks noChangeShapeType="1"/>
            </p:cNvSpPr>
            <p:nvPr/>
          </p:nvSpPr>
          <p:spPr bwMode="auto">
            <a:xfrm>
              <a:off x="3658" y="993"/>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74" name="Line 14"/>
            <p:cNvSpPr>
              <a:spLocks noChangeShapeType="1"/>
            </p:cNvSpPr>
            <p:nvPr/>
          </p:nvSpPr>
          <p:spPr bwMode="auto">
            <a:xfrm>
              <a:off x="4019" y="993"/>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5375" name="Line 15"/>
          <p:cNvSpPr>
            <a:spLocks noChangeShapeType="1"/>
          </p:cNvSpPr>
          <p:nvPr/>
        </p:nvSpPr>
        <p:spPr bwMode="auto">
          <a:xfrm>
            <a:off x="2555875" y="2189163"/>
            <a:ext cx="758825"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376" name="Line 16"/>
          <p:cNvSpPr>
            <a:spLocks noChangeShapeType="1"/>
          </p:cNvSpPr>
          <p:nvPr/>
        </p:nvSpPr>
        <p:spPr bwMode="auto">
          <a:xfrm>
            <a:off x="4708525" y="2198688"/>
            <a:ext cx="760413"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377" name="Line 17"/>
          <p:cNvSpPr>
            <a:spLocks noChangeShapeType="1"/>
          </p:cNvSpPr>
          <p:nvPr/>
        </p:nvSpPr>
        <p:spPr bwMode="auto">
          <a:xfrm>
            <a:off x="6980238" y="2178050"/>
            <a:ext cx="696912"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78" name="Line 18"/>
          <p:cNvSpPr>
            <a:spLocks noChangeShapeType="1"/>
          </p:cNvSpPr>
          <p:nvPr/>
        </p:nvSpPr>
        <p:spPr bwMode="auto">
          <a:xfrm>
            <a:off x="7677150" y="2178050"/>
            <a:ext cx="1588" cy="32385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379" name="Line 19"/>
          <p:cNvSpPr>
            <a:spLocks noChangeShapeType="1"/>
          </p:cNvSpPr>
          <p:nvPr/>
        </p:nvSpPr>
        <p:spPr bwMode="auto">
          <a:xfrm>
            <a:off x="7485063" y="2476500"/>
            <a:ext cx="347662"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80" name="Line 20"/>
          <p:cNvSpPr>
            <a:spLocks noChangeShapeType="1"/>
          </p:cNvSpPr>
          <p:nvPr/>
        </p:nvSpPr>
        <p:spPr bwMode="auto">
          <a:xfrm>
            <a:off x="7575550" y="2524125"/>
            <a:ext cx="173038"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81" name="Line 21"/>
          <p:cNvSpPr>
            <a:spLocks noChangeShapeType="1"/>
          </p:cNvSpPr>
          <p:nvPr/>
        </p:nvSpPr>
        <p:spPr bwMode="auto">
          <a:xfrm>
            <a:off x="7653338" y="2571750"/>
            <a:ext cx="49212"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82" name="Rectangle 22"/>
          <p:cNvSpPr>
            <a:spLocks noChangeArrowheads="1"/>
          </p:cNvSpPr>
          <p:nvPr/>
        </p:nvSpPr>
        <p:spPr bwMode="auto">
          <a:xfrm>
            <a:off x="3360738" y="1979613"/>
            <a:ext cx="1387475"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2    8</a:t>
            </a:r>
          </a:p>
        </p:txBody>
      </p:sp>
      <p:sp>
        <p:nvSpPr>
          <p:cNvPr id="15383" name="Rectangle 23"/>
          <p:cNvSpPr>
            <a:spLocks noChangeArrowheads="1"/>
          </p:cNvSpPr>
          <p:nvPr/>
        </p:nvSpPr>
        <p:spPr bwMode="auto">
          <a:xfrm>
            <a:off x="5580063" y="1992313"/>
            <a:ext cx="1208087"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1    0</a:t>
            </a:r>
          </a:p>
        </p:txBody>
      </p:sp>
      <p:sp>
        <p:nvSpPr>
          <p:cNvPr id="15384" name="Line 24"/>
          <p:cNvSpPr>
            <a:spLocks noChangeShapeType="1"/>
          </p:cNvSpPr>
          <p:nvPr/>
        </p:nvSpPr>
        <p:spPr bwMode="auto">
          <a:xfrm flipV="1">
            <a:off x="1804988" y="2357438"/>
            <a:ext cx="1587" cy="309562"/>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385" name="Rectangle 25"/>
          <p:cNvSpPr>
            <a:spLocks noChangeArrowheads="1"/>
          </p:cNvSpPr>
          <p:nvPr/>
        </p:nvSpPr>
        <p:spPr bwMode="auto">
          <a:xfrm>
            <a:off x="1824038" y="2339975"/>
            <a:ext cx="333375"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a</a:t>
            </a:r>
          </a:p>
        </p:txBody>
      </p:sp>
      <p:sp>
        <p:nvSpPr>
          <p:cNvPr id="15386" name="Rectangle 26"/>
          <p:cNvSpPr>
            <a:spLocks noChangeArrowheads="1"/>
          </p:cNvSpPr>
          <p:nvPr/>
        </p:nvSpPr>
        <p:spPr bwMode="auto">
          <a:xfrm>
            <a:off x="1130300" y="2773363"/>
            <a:ext cx="1347788"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8    14</a:t>
            </a:r>
          </a:p>
        </p:txBody>
      </p:sp>
      <p:grpSp>
        <p:nvGrpSpPr>
          <p:cNvPr id="3" name="Group 27"/>
          <p:cNvGrpSpPr>
            <a:grpSpLocks/>
          </p:cNvGrpSpPr>
          <p:nvPr/>
        </p:nvGrpSpPr>
        <p:grpSpPr bwMode="auto">
          <a:xfrm>
            <a:off x="1063625" y="2790825"/>
            <a:ext cx="1643063" cy="342900"/>
            <a:chOff x="564" y="1487"/>
            <a:chExt cx="1035" cy="216"/>
          </a:xfrm>
        </p:grpSpPr>
        <p:sp>
          <p:nvSpPr>
            <p:cNvPr id="15388" name="Rectangle 28"/>
            <p:cNvSpPr>
              <a:spLocks noChangeArrowheads="1"/>
            </p:cNvSpPr>
            <p:nvPr/>
          </p:nvSpPr>
          <p:spPr bwMode="auto">
            <a:xfrm>
              <a:off x="564" y="1492"/>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389" name="Line 29"/>
            <p:cNvSpPr>
              <a:spLocks noChangeShapeType="1"/>
            </p:cNvSpPr>
            <p:nvPr/>
          </p:nvSpPr>
          <p:spPr bwMode="auto">
            <a:xfrm>
              <a:off x="890" y="1488"/>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90" name="Line 30"/>
            <p:cNvSpPr>
              <a:spLocks noChangeShapeType="1"/>
            </p:cNvSpPr>
            <p:nvPr/>
          </p:nvSpPr>
          <p:spPr bwMode="auto">
            <a:xfrm>
              <a:off x="1251" y="1487"/>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grpSp>
        <p:nvGrpSpPr>
          <p:cNvPr id="4" name="Group 31"/>
          <p:cNvGrpSpPr>
            <a:grpSpLocks/>
          </p:cNvGrpSpPr>
          <p:nvPr/>
        </p:nvGrpSpPr>
        <p:grpSpPr bwMode="auto">
          <a:xfrm>
            <a:off x="3292475" y="2786063"/>
            <a:ext cx="1643063" cy="342900"/>
            <a:chOff x="1968" y="1484"/>
            <a:chExt cx="1035" cy="216"/>
          </a:xfrm>
        </p:grpSpPr>
        <p:sp>
          <p:nvSpPr>
            <p:cNvPr id="15392" name="Rectangle 32"/>
            <p:cNvSpPr>
              <a:spLocks noChangeArrowheads="1"/>
            </p:cNvSpPr>
            <p:nvPr/>
          </p:nvSpPr>
          <p:spPr bwMode="auto">
            <a:xfrm>
              <a:off x="1968" y="1489"/>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393" name="Line 33"/>
            <p:cNvSpPr>
              <a:spLocks noChangeShapeType="1"/>
            </p:cNvSpPr>
            <p:nvPr/>
          </p:nvSpPr>
          <p:spPr bwMode="auto">
            <a:xfrm>
              <a:off x="2294" y="1485"/>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94" name="Line 34"/>
            <p:cNvSpPr>
              <a:spLocks noChangeShapeType="1"/>
            </p:cNvSpPr>
            <p:nvPr/>
          </p:nvSpPr>
          <p:spPr bwMode="auto">
            <a:xfrm>
              <a:off x="2655" y="1484"/>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grpSp>
        <p:nvGrpSpPr>
          <p:cNvPr id="5" name="Group 35"/>
          <p:cNvGrpSpPr>
            <a:grpSpLocks/>
          </p:cNvGrpSpPr>
          <p:nvPr/>
        </p:nvGrpSpPr>
        <p:grpSpPr bwMode="auto">
          <a:xfrm>
            <a:off x="5473700" y="2800350"/>
            <a:ext cx="1643063" cy="342900"/>
            <a:chOff x="3342" y="1493"/>
            <a:chExt cx="1035" cy="216"/>
          </a:xfrm>
        </p:grpSpPr>
        <p:sp>
          <p:nvSpPr>
            <p:cNvPr id="15396" name="Rectangle 36"/>
            <p:cNvSpPr>
              <a:spLocks noChangeArrowheads="1"/>
            </p:cNvSpPr>
            <p:nvPr/>
          </p:nvSpPr>
          <p:spPr bwMode="auto">
            <a:xfrm>
              <a:off x="3342" y="1498"/>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397" name="Line 37"/>
            <p:cNvSpPr>
              <a:spLocks noChangeShapeType="1"/>
            </p:cNvSpPr>
            <p:nvPr/>
          </p:nvSpPr>
          <p:spPr bwMode="auto">
            <a:xfrm>
              <a:off x="3668" y="1494"/>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398" name="Line 38"/>
            <p:cNvSpPr>
              <a:spLocks noChangeShapeType="1"/>
            </p:cNvSpPr>
            <p:nvPr/>
          </p:nvSpPr>
          <p:spPr bwMode="auto">
            <a:xfrm>
              <a:off x="4029" y="1493"/>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5399" name="Line 39"/>
          <p:cNvSpPr>
            <a:spLocks noChangeShapeType="1"/>
          </p:cNvSpPr>
          <p:nvPr/>
        </p:nvSpPr>
        <p:spPr bwMode="auto">
          <a:xfrm>
            <a:off x="2554288" y="2947988"/>
            <a:ext cx="758825"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00" name="Line 40"/>
          <p:cNvSpPr>
            <a:spLocks noChangeShapeType="1"/>
          </p:cNvSpPr>
          <p:nvPr/>
        </p:nvSpPr>
        <p:spPr bwMode="auto">
          <a:xfrm>
            <a:off x="4721225" y="2967038"/>
            <a:ext cx="758825"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01" name="Line 41"/>
          <p:cNvSpPr>
            <a:spLocks noChangeShapeType="1"/>
          </p:cNvSpPr>
          <p:nvPr/>
        </p:nvSpPr>
        <p:spPr bwMode="auto">
          <a:xfrm>
            <a:off x="7018338" y="2970213"/>
            <a:ext cx="696912"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02" name="Line 42"/>
          <p:cNvSpPr>
            <a:spLocks noChangeShapeType="1"/>
          </p:cNvSpPr>
          <p:nvPr/>
        </p:nvSpPr>
        <p:spPr bwMode="auto">
          <a:xfrm>
            <a:off x="7727950" y="2952750"/>
            <a:ext cx="0" cy="306388"/>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03" name="Line 43"/>
          <p:cNvSpPr>
            <a:spLocks noChangeShapeType="1"/>
          </p:cNvSpPr>
          <p:nvPr/>
        </p:nvSpPr>
        <p:spPr bwMode="auto">
          <a:xfrm>
            <a:off x="7546975" y="3268663"/>
            <a:ext cx="347663"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04" name="Line 44"/>
          <p:cNvSpPr>
            <a:spLocks noChangeShapeType="1"/>
          </p:cNvSpPr>
          <p:nvPr/>
        </p:nvSpPr>
        <p:spPr bwMode="auto">
          <a:xfrm>
            <a:off x="7637463" y="3316288"/>
            <a:ext cx="173037"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05" name="Line 45"/>
          <p:cNvSpPr>
            <a:spLocks noChangeShapeType="1"/>
          </p:cNvSpPr>
          <p:nvPr/>
        </p:nvSpPr>
        <p:spPr bwMode="auto">
          <a:xfrm>
            <a:off x="7715250" y="3363913"/>
            <a:ext cx="49213"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06" name="Rectangle 46"/>
          <p:cNvSpPr>
            <a:spLocks noChangeArrowheads="1"/>
          </p:cNvSpPr>
          <p:nvPr/>
        </p:nvSpPr>
        <p:spPr bwMode="auto">
          <a:xfrm>
            <a:off x="3321050" y="2762250"/>
            <a:ext cx="1182688"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-3  10</a:t>
            </a:r>
          </a:p>
        </p:txBody>
      </p:sp>
      <p:sp>
        <p:nvSpPr>
          <p:cNvPr id="15407" name="Rectangle 47"/>
          <p:cNvSpPr>
            <a:spLocks noChangeArrowheads="1"/>
          </p:cNvSpPr>
          <p:nvPr/>
        </p:nvSpPr>
        <p:spPr bwMode="auto">
          <a:xfrm>
            <a:off x="5475288" y="2771775"/>
            <a:ext cx="1338262"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10    6</a:t>
            </a:r>
          </a:p>
        </p:txBody>
      </p:sp>
      <p:sp>
        <p:nvSpPr>
          <p:cNvPr id="15408" name="Line 48"/>
          <p:cNvSpPr>
            <a:spLocks noChangeShapeType="1"/>
          </p:cNvSpPr>
          <p:nvPr/>
        </p:nvSpPr>
        <p:spPr bwMode="auto">
          <a:xfrm flipH="1" flipV="1">
            <a:off x="1846263" y="3143250"/>
            <a:ext cx="14287" cy="306388"/>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09" name="Rectangle 49"/>
          <p:cNvSpPr>
            <a:spLocks noChangeArrowheads="1"/>
          </p:cNvSpPr>
          <p:nvPr/>
        </p:nvSpPr>
        <p:spPr bwMode="auto">
          <a:xfrm>
            <a:off x="1887538" y="3135313"/>
            <a:ext cx="352425"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b</a:t>
            </a:r>
          </a:p>
        </p:txBody>
      </p:sp>
      <p:sp>
        <p:nvSpPr>
          <p:cNvPr id="15410" name="Rectangle 50"/>
          <p:cNvSpPr>
            <a:spLocks noChangeArrowheads="1"/>
          </p:cNvSpPr>
          <p:nvPr/>
        </p:nvSpPr>
        <p:spPr bwMode="auto">
          <a:xfrm>
            <a:off x="1114425" y="3524250"/>
            <a:ext cx="1441450"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11  14</a:t>
            </a:r>
          </a:p>
        </p:txBody>
      </p:sp>
      <p:grpSp>
        <p:nvGrpSpPr>
          <p:cNvPr id="6" name="Group 51"/>
          <p:cNvGrpSpPr>
            <a:grpSpLocks/>
          </p:cNvGrpSpPr>
          <p:nvPr/>
        </p:nvGrpSpPr>
        <p:grpSpPr bwMode="auto">
          <a:xfrm>
            <a:off x="1074738" y="3573463"/>
            <a:ext cx="1643062" cy="342900"/>
            <a:chOff x="571" y="1980"/>
            <a:chExt cx="1035" cy="216"/>
          </a:xfrm>
        </p:grpSpPr>
        <p:sp>
          <p:nvSpPr>
            <p:cNvPr id="15412" name="Rectangle 52"/>
            <p:cNvSpPr>
              <a:spLocks noChangeArrowheads="1"/>
            </p:cNvSpPr>
            <p:nvPr/>
          </p:nvSpPr>
          <p:spPr bwMode="auto">
            <a:xfrm>
              <a:off x="571" y="1985"/>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413" name="Line 53"/>
            <p:cNvSpPr>
              <a:spLocks noChangeShapeType="1"/>
            </p:cNvSpPr>
            <p:nvPr/>
          </p:nvSpPr>
          <p:spPr bwMode="auto">
            <a:xfrm>
              <a:off x="897" y="1981"/>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14" name="Line 54"/>
            <p:cNvSpPr>
              <a:spLocks noChangeShapeType="1"/>
            </p:cNvSpPr>
            <p:nvPr/>
          </p:nvSpPr>
          <p:spPr bwMode="auto">
            <a:xfrm>
              <a:off x="1258" y="1980"/>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5415" name="Line 55"/>
          <p:cNvSpPr>
            <a:spLocks noChangeShapeType="1"/>
          </p:cNvSpPr>
          <p:nvPr/>
        </p:nvSpPr>
        <p:spPr bwMode="auto">
          <a:xfrm flipH="1" flipV="1">
            <a:off x="1884363" y="3929063"/>
            <a:ext cx="1587" cy="320675"/>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16" name="Line 56"/>
          <p:cNvSpPr>
            <a:spLocks noChangeShapeType="1"/>
          </p:cNvSpPr>
          <p:nvPr/>
        </p:nvSpPr>
        <p:spPr bwMode="auto">
          <a:xfrm>
            <a:off x="2538413" y="3741738"/>
            <a:ext cx="696912"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17" name="Line 57"/>
          <p:cNvSpPr>
            <a:spLocks noChangeShapeType="1"/>
          </p:cNvSpPr>
          <p:nvPr/>
        </p:nvSpPr>
        <p:spPr bwMode="auto">
          <a:xfrm>
            <a:off x="3248025" y="3724275"/>
            <a:ext cx="0" cy="306388"/>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18" name="Line 58"/>
          <p:cNvSpPr>
            <a:spLocks noChangeShapeType="1"/>
          </p:cNvSpPr>
          <p:nvPr/>
        </p:nvSpPr>
        <p:spPr bwMode="auto">
          <a:xfrm>
            <a:off x="3065463" y="4040188"/>
            <a:ext cx="34925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19" name="Line 59"/>
          <p:cNvSpPr>
            <a:spLocks noChangeShapeType="1"/>
          </p:cNvSpPr>
          <p:nvPr/>
        </p:nvSpPr>
        <p:spPr bwMode="auto">
          <a:xfrm>
            <a:off x="3157538" y="4087813"/>
            <a:ext cx="173037"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20" name="Line 60"/>
          <p:cNvSpPr>
            <a:spLocks noChangeShapeType="1"/>
          </p:cNvSpPr>
          <p:nvPr/>
        </p:nvSpPr>
        <p:spPr bwMode="auto">
          <a:xfrm>
            <a:off x="3235325" y="4135438"/>
            <a:ext cx="49213"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21" name="Rectangle 61"/>
          <p:cNvSpPr>
            <a:spLocks noChangeArrowheads="1"/>
          </p:cNvSpPr>
          <p:nvPr/>
        </p:nvSpPr>
        <p:spPr bwMode="auto">
          <a:xfrm>
            <a:off x="1887538" y="3925888"/>
            <a:ext cx="336550"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latin typeface="Times New Roman" pitchFamily="18" charset="0"/>
                <a:ea typeface="新細明體" pitchFamily="18" charset="-120"/>
              </a:rPr>
              <a:t>d</a:t>
            </a:r>
          </a:p>
        </p:txBody>
      </p:sp>
      <p:sp>
        <p:nvSpPr>
          <p:cNvPr id="15422" name="Rectangle 62"/>
          <p:cNvSpPr>
            <a:spLocks noChangeArrowheads="1"/>
          </p:cNvSpPr>
          <p:nvPr/>
        </p:nvSpPr>
        <p:spPr bwMode="auto">
          <a:xfrm>
            <a:off x="4016375" y="3551238"/>
            <a:ext cx="3835400"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solidFill>
                  <a:srgbClr val="CC3300"/>
                </a:solidFill>
                <a:latin typeface="Courier New" pitchFamily="49" charset="0"/>
                <a:ea typeface="新細明體" pitchFamily="18" charset="-120"/>
              </a:rPr>
              <a:t>a-&gt;expon == b-&gt;expon</a:t>
            </a:r>
            <a:endParaRPr kumimoji="1" lang="en-US" altLang="zh-TW" sz="2000">
              <a:latin typeface="Courier New" pitchFamily="49" charset="0"/>
              <a:ea typeface="新細明體" pitchFamily="18" charset="-120"/>
            </a:endParaRPr>
          </a:p>
        </p:txBody>
      </p:sp>
      <p:sp>
        <p:nvSpPr>
          <p:cNvPr id="15423" name="Rectangle 63"/>
          <p:cNvSpPr>
            <a:spLocks noChangeArrowheads="1"/>
          </p:cNvSpPr>
          <p:nvPr/>
        </p:nvSpPr>
        <p:spPr bwMode="auto">
          <a:xfrm>
            <a:off x="1089025" y="4529138"/>
            <a:ext cx="1436688"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3    14</a:t>
            </a:r>
          </a:p>
        </p:txBody>
      </p:sp>
      <p:grpSp>
        <p:nvGrpSpPr>
          <p:cNvPr id="7" name="Group 64"/>
          <p:cNvGrpSpPr>
            <a:grpSpLocks/>
          </p:cNvGrpSpPr>
          <p:nvPr/>
        </p:nvGrpSpPr>
        <p:grpSpPr bwMode="auto">
          <a:xfrm>
            <a:off x="1047750" y="4540250"/>
            <a:ext cx="6035675" cy="346075"/>
            <a:chOff x="554" y="2589"/>
            <a:chExt cx="3802" cy="218"/>
          </a:xfrm>
        </p:grpSpPr>
        <p:sp>
          <p:nvSpPr>
            <p:cNvPr id="15425" name="Rectangle 65"/>
            <p:cNvSpPr>
              <a:spLocks noChangeArrowheads="1"/>
            </p:cNvSpPr>
            <p:nvPr/>
          </p:nvSpPr>
          <p:spPr bwMode="auto">
            <a:xfrm>
              <a:off x="554" y="2596"/>
              <a:ext cx="1036" cy="203"/>
            </a:xfrm>
            <a:prstGeom prst="rect">
              <a:avLst/>
            </a:prstGeom>
            <a:noFill/>
            <a:ln w="12700">
              <a:solidFill>
                <a:schemeClr val="tx1"/>
              </a:solidFill>
              <a:miter lim="800000"/>
              <a:headEnd/>
              <a:tailEnd/>
            </a:ln>
            <a:effectLst/>
          </p:spPr>
          <p:txBody>
            <a:bodyPr wrap="none" anchor="ctr"/>
            <a:lstStyle/>
            <a:p>
              <a:endParaRPr lang="en-US"/>
            </a:p>
          </p:txBody>
        </p:sp>
        <p:sp>
          <p:nvSpPr>
            <p:cNvPr id="15426" name="Line 66"/>
            <p:cNvSpPr>
              <a:spLocks noChangeShapeType="1"/>
            </p:cNvSpPr>
            <p:nvPr/>
          </p:nvSpPr>
          <p:spPr bwMode="auto">
            <a:xfrm>
              <a:off x="881" y="2592"/>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27" name="Line 67"/>
            <p:cNvSpPr>
              <a:spLocks noChangeShapeType="1"/>
            </p:cNvSpPr>
            <p:nvPr/>
          </p:nvSpPr>
          <p:spPr bwMode="auto">
            <a:xfrm>
              <a:off x="1241" y="2591"/>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28" name="Rectangle 68"/>
            <p:cNvSpPr>
              <a:spLocks noChangeArrowheads="1"/>
            </p:cNvSpPr>
            <p:nvPr/>
          </p:nvSpPr>
          <p:spPr bwMode="auto">
            <a:xfrm>
              <a:off x="1949" y="2594"/>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429" name="Line 69"/>
            <p:cNvSpPr>
              <a:spLocks noChangeShapeType="1"/>
            </p:cNvSpPr>
            <p:nvPr/>
          </p:nvSpPr>
          <p:spPr bwMode="auto">
            <a:xfrm>
              <a:off x="2275" y="2590"/>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30" name="Line 70"/>
            <p:cNvSpPr>
              <a:spLocks noChangeShapeType="1"/>
            </p:cNvSpPr>
            <p:nvPr/>
          </p:nvSpPr>
          <p:spPr bwMode="auto">
            <a:xfrm>
              <a:off x="2636" y="2589"/>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31" name="Rectangle 71"/>
            <p:cNvSpPr>
              <a:spLocks noChangeArrowheads="1"/>
            </p:cNvSpPr>
            <p:nvPr/>
          </p:nvSpPr>
          <p:spPr bwMode="auto">
            <a:xfrm>
              <a:off x="3321" y="2594"/>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432" name="Line 72"/>
            <p:cNvSpPr>
              <a:spLocks noChangeShapeType="1"/>
            </p:cNvSpPr>
            <p:nvPr/>
          </p:nvSpPr>
          <p:spPr bwMode="auto">
            <a:xfrm>
              <a:off x="3648" y="2590"/>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33" name="Line 73"/>
            <p:cNvSpPr>
              <a:spLocks noChangeShapeType="1"/>
            </p:cNvSpPr>
            <p:nvPr/>
          </p:nvSpPr>
          <p:spPr bwMode="auto">
            <a:xfrm>
              <a:off x="4008" y="2590"/>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5434" name="Line 74"/>
          <p:cNvSpPr>
            <a:spLocks noChangeShapeType="1"/>
          </p:cNvSpPr>
          <p:nvPr/>
        </p:nvSpPr>
        <p:spPr bwMode="auto">
          <a:xfrm>
            <a:off x="2538413" y="4724400"/>
            <a:ext cx="760412"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35" name="Line 75"/>
          <p:cNvSpPr>
            <a:spLocks noChangeShapeType="1"/>
          </p:cNvSpPr>
          <p:nvPr/>
        </p:nvSpPr>
        <p:spPr bwMode="auto">
          <a:xfrm>
            <a:off x="4691063" y="4733925"/>
            <a:ext cx="760412"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36" name="Line 76"/>
          <p:cNvSpPr>
            <a:spLocks noChangeShapeType="1"/>
          </p:cNvSpPr>
          <p:nvPr/>
        </p:nvSpPr>
        <p:spPr bwMode="auto">
          <a:xfrm>
            <a:off x="6962775" y="4713288"/>
            <a:ext cx="696913"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37" name="Line 77"/>
          <p:cNvSpPr>
            <a:spLocks noChangeShapeType="1"/>
          </p:cNvSpPr>
          <p:nvPr/>
        </p:nvSpPr>
        <p:spPr bwMode="auto">
          <a:xfrm>
            <a:off x="7659688" y="4713288"/>
            <a:ext cx="1587" cy="32385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38" name="Line 78"/>
          <p:cNvSpPr>
            <a:spLocks noChangeShapeType="1"/>
          </p:cNvSpPr>
          <p:nvPr/>
        </p:nvSpPr>
        <p:spPr bwMode="auto">
          <a:xfrm>
            <a:off x="7467600" y="5011738"/>
            <a:ext cx="34925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39" name="Line 79"/>
          <p:cNvSpPr>
            <a:spLocks noChangeShapeType="1"/>
          </p:cNvSpPr>
          <p:nvPr/>
        </p:nvSpPr>
        <p:spPr bwMode="auto">
          <a:xfrm>
            <a:off x="7558088" y="5059363"/>
            <a:ext cx="174625"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40" name="Line 80"/>
          <p:cNvSpPr>
            <a:spLocks noChangeShapeType="1"/>
          </p:cNvSpPr>
          <p:nvPr/>
        </p:nvSpPr>
        <p:spPr bwMode="auto">
          <a:xfrm>
            <a:off x="7635875" y="5106988"/>
            <a:ext cx="49213"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41" name="Rectangle 81"/>
          <p:cNvSpPr>
            <a:spLocks noChangeArrowheads="1"/>
          </p:cNvSpPr>
          <p:nvPr/>
        </p:nvSpPr>
        <p:spPr bwMode="auto">
          <a:xfrm>
            <a:off x="3343275" y="4514850"/>
            <a:ext cx="1387475"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2    8</a:t>
            </a:r>
          </a:p>
        </p:txBody>
      </p:sp>
      <p:sp>
        <p:nvSpPr>
          <p:cNvPr id="15442" name="Rectangle 82"/>
          <p:cNvSpPr>
            <a:spLocks noChangeArrowheads="1"/>
          </p:cNvSpPr>
          <p:nvPr/>
        </p:nvSpPr>
        <p:spPr bwMode="auto">
          <a:xfrm>
            <a:off x="5562600" y="4527550"/>
            <a:ext cx="1208088"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1    0</a:t>
            </a:r>
          </a:p>
        </p:txBody>
      </p:sp>
      <p:sp>
        <p:nvSpPr>
          <p:cNvPr id="15443" name="Line 83"/>
          <p:cNvSpPr>
            <a:spLocks noChangeShapeType="1"/>
          </p:cNvSpPr>
          <p:nvPr/>
        </p:nvSpPr>
        <p:spPr bwMode="auto">
          <a:xfrm flipV="1">
            <a:off x="4006850" y="4905375"/>
            <a:ext cx="1588" cy="309563"/>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44" name="Rectangle 84"/>
          <p:cNvSpPr>
            <a:spLocks noChangeArrowheads="1"/>
          </p:cNvSpPr>
          <p:nvPr/>
        </p:nvSpPr>
        <p:spPr bwMode="auto">
          <a:xfrm>
            <a:off x="4037013" y="4887913"/>
            <a:ext cx="334962"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a</a:t>
            </a:r>
          </a:p>
        </p:txBody>
      </p:sp>
      <p:sp>
        <p:nvSpPr>
          <p:cNvPr id="15445" name="Rectangle 85"/>
          <p:cNvSpPr>
            <a:spLocks noChangeArrowheads="1"/>
          </p:cNvSpPr>
          <p:nvPr/>
        </p:nvSpPr>
        <p:spPr bwMode="auto">
          <a:xfrm>
            <a:off x="1112838" y="5308600"/>
            <a:ext cx="1347787"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8    14</a:t>
            </a:r>
          </a:p>
        </p:txBody>
      </p:sp>
      <p:grpSp>
        <p:nvGrpSpPr>
          <p:cNvPr id="8" name="Group 86"/>
          <p:cNvGrpSpPr>
            <a:grpSpLocks/>
          </p:cNvGrpSpPr>
          <p:nvPr/>
        </p:nvGrpSpPr>
        <p:grpSpPr bwMode="auto">
          <a:xfrm>
            <a:off x="1046163" y="5326063"/>
            <a:ext cx="1643062" cy="342900"/>
            <a:chOff x="553" y="3084"/>
            <a:chExt cx="1035" cy="216"/>
          </a:xfrm>
        </p:grpSpPr>
        <p:sp>
          <p:nvSpPr>
            <p:cNvPr id="15447" name="Rectangle 87"/>
            <p:cNvSpPr>
              <a:spLocks noChangeArrowheads="1"/>
            </p:cNvSpPr>
            <p:nvPr/>
          </p:nvSpPr>
          <p:spPr bwMode="auto">
            <a:xfrm>
              <a:off x="553" y="3089"/>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448" name="Line 88"/>
            <p:cNvSpPr>
              <a:spLocks noChangeShapeType="1"/>
            </p:cNvSpPr>
            <p:nvPr/>
          </p:nvSpPr>
          <p:spPr bwMode="auto">
            <a:xfrm>
              <a:off x="880" y="3085"/>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49" name="Line 89"/>
            <p:cNvSpPr>
              <a:spLocks noChangeShapeType="1"/>
            </p:cNvSpPr>
            <p:nvPr/>
          </p:nvSpPr>
          <p:spPr bwMode="auto">
            <a:xfrm>
              <a:off x="1240" y="3084"/>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grpSp>
        <p:nvGrpSpPr>
          <p:cNvPr id="9" name="Group 90"/>
          <p:cNvGrpSpPr>
            <a:grpSpLocks/>
          </p:cNvGrpSpPr>
          <p:nvPr/>
        </p:nvGrpSpPr>
        <p:grpSpPr bwMode="auto">
          <a:xfrm>
            <a:off x="3275013" y="5321300"/>
            <a:ext cx="1643062" cy="342900"/>
            <a:chOff x="1957" y="3081"/>
            <a:chExt cx="1035" cy="216"/>
          </a:xfrm>
        </p:grpSpPr>
        <p:sp>
          <p:nvSpPr>
            <p:cNvPr id="15451" name="Rectangle 91"/>
            <p:cNvSpPr>
              <a:spLocks noChangeArrowheads="1"/>
            </p:cNvSpPr>
            <p:nvPr/>
          </p:nvSpPr>
          <p:spPr bwMode="auto">
            <a:xfrm>
              <a:off x="1957" y="3086"/>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452" name="Line 92"/>
            <p:cNvSpPr>
              <a:spLocks noChangeShapeType="1"/>
            </p:cNvSpPr>
            <p:nvPr/>
          </p:nvSpPr>
          <p:spPr bwMode="auto">
            <a:xfrm>
              <a:off x="2284" y="3082"/>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53" name="Line 93"/>
            <p:cNvSpPr>
              <a:spLocks noChangeShapeType="1"/>
            </p:cNvSpPr>
            <p:nvPr/>
          </p:nvSpPr>
          <p:spPr bwMode="auto">
            <a:xfrm>
              <a:off x="2644" y="3081"/>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grpSp>
        <p:nvGrpSpPr>
          <p:cNvPr id="10" name="Group 94"/>
          <p:cNvGrpSpPr>
            <a:grpSpLocks/>
          </p:cNvGrpSpPr>
          <p:nvPr/>
        </p:nvGrpSpPr>
        <p:grpSpPr bwMode="auto">
          <a:xfrm>
            <a:off x="5456238" y="5335588"/>
            <a:ext cx="1643062" cy="342900"/>
            <a:chOff x="3331" y="3090"/>
            <a:chExt cx="1035" cy="216"/>
          </a:xfrm>
        </p:grpSpPr>
        <p:sp>
          <p:nvSpPr>
            <p:cNvPr id="15455" name="Rectangle 95"/>
            <p:cNvSpPr>
              <a:spLocks noChangeArrowheads="1"/>
            </p:cNvSpPr>
            <p:nvPr/>
          </p:nvSpPr>
          <p:spPr bwMode="auto">
            <a:xfrm>
              <a:off x="3331" y="3095"/>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456" name="Line 96"/>
            <p:cNvSpPr>
              <a:spLocks noChangeShapeType="1"/>
            </p:cNvSpPr>
            <p:nvPr/>
          </p:nvSpPr>
          <p:spPr bwMode="auto">
            <a:xfrm>
              <a:off x="3657" y="3091"/>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57" name="Line 97"/>
            <p:cNvSpPr>
              <a:spLocks noChangeShapeType="1"/>
            </p:cNvSpPr>
            <p:nvPr/>
          </p:nvSpPr>
          <p:spPr bwMode="auto">
            <a:xfrm>
              <a:off x="4018" y="3090"/>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5458" name="Line 98"/>
          <p:cNvSpPr>
            <a:spLocks noChangeShapeType="1"/>
          </p:cNvSpPr>
          <p:nvPr/>
        </p:nvSpPr>
        <p:spPr bwMode="auto">
          <a:xfrm>
            <a:off x="2536825" y="5483225"/>
            <a:ext cx="760413"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59" name="Line 99"/>
          <p:cNvSpPr>
            <a:spLocks noChangeShapeType="1"/>
          </p:cNvSpPr>
          <p:nvPr/>
        </p:nvSpPr>
        <p:spPr bwMode="auto">
          <a:xfrm>
            <a:off x="4703763" y="5502275"/>
            <a:ext cx="760412"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60" name="Line 100"/>
          <p:cNvSpPr>
            <a:spLocks noChangeShapeType="1"/>
          </p:cNvSpPr>
          <p:nvPr/>
        </p:nvSpPr>
        <p:spPr bwMode="auto">
          <a:xfrm>
            <a:off x="7000875" y="5505450"/>
            <a:ext cx="696913"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61" name="Line 101"/>
          <p:cNvSpPr>
            <a:spLocks noChangeShapeType="1"/>
          </p:cNvSpPr>
          <p:nvPr/>
        </p:nvSpPr>
        <p:spPr bwMode="auto">
          <a:xfrm>
            <a:off x="7712075" y="5487988"/>
            <a:ext cx="0" cy="306387"/>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62" name="Line 102"/>
          <p:cNvSpPr>
            <a:spLocks noChangeShapeType="1"/>
          </p:cNvSpPr>
          <p:nvPr/>
        </p:nvSpPr>
        <p:spPr bwMode="auto">
          <a:xfrm>
            <a:off x="7529513" y="5803900"/>
            <a:ext cx="34925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63" name="Line 103"/>
          <p:cNvSpPr>
            <a:spLocks noChangeShapeType="1"/>
          </p:cNvSpPr>
          <p:nvPr/>
        </p:nvSpPr>
        <p:spPr bwMode="auto">
          <a:xfrm>
            <a:off x="7620000" y="5851525"/>
            <a:ext cx="174625"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64" name="Line 104"/>
          <p:cNvSpPr>
            <a:spLocks noChangeShapeType="1"/>
          </p:cNvSpPr>
          <p:nvPr/>
        </p:nvSpPr>
        <p:spPr bwMode="auto">
          <a:xfrm>
            <a:off x="7697788" y="5899150"/>
            <a:ext cx="49212"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65" name="Rectangle 105"/>
          <p:cNvSpPr>
            <a:spLocks noChangeArrowheads="1"/>
          </p:cNvSpPr>
          <p:nvPr/>
        </p:nvSpPr>
        <p:spPr bwMode="auto">
          <a:xfrm>
            <a:off x="3303588" y="5297488"/>
            <a:ext cx="1182687"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-3  10</a:t>
            </a:r>
          </a:p>
        </p:txBody>
      </p:sp>
      <p:sp>
        <p:nvSpPr>
          <p:cNvPr id="15466" name="Rectangle 106"/>
          <p:cNvSpPr>
            <a:spLocks noChangeArrowheads="1"/>
          </p:cNvSpPr>
          <p:nvPr/>
        </p:nvSpPr>
        <p:spPr bwMode="auto">
          <a:xfrm>
            <a:off x="5457825" y="5307013"/>
            <a:ext cx="1338263"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10    6</a:t>
            </a:r>
          </a:p>
        </p:txBody>
      </p:sp>
      <p:sp>
        <p:nvSpPr>
          <p:cNvPr id="15467" name="Line 107"/>
          <p:cNvSpPr>
            <a:spLocks noChangeShapeType="1"/>
          </p:cNvSpPr>
          <p:nvPr/>
        </p:nvSpPr>
        <p:spPr bwMode="auto">
          <a:xfrm flipH="1" flipV="1">
            <a:off x="4033838" y="5654675"/>
            <a:ext cx="14287" cy="306388"/>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68" name="Rectangle 108"/>
          <p:cNvSpPr>
            <a:spLocks noChangeArrowheads="1"/>
          </p:cNvSpPr>
          <p:nvPr/>
        </p:nvSpPr>
        <p:spPr bwMode="auto">
          <a:xfrm>
            <a:off x="4035425" y="5683250"/>
            <a:ext cx="352425"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b</a:t>
            </a:r>
          </a:p>
        </p:txBody>
      </p:sp>
      <p:sp>
        <p:nvSpPr>
          <p:cNvPr id="15469" name="Rectangle 109"/>
          <p:cNvSpPr>
            <a:spLocks noChangeArrowheads="1"/>
          </p:cNvSpPr>
          <p:nvPr/>
        </p:nvSpPr>
        <p:spPr bwMode="auto">
          <a:xfrm>
            <a:off x="1084263" y="5999163"/>
            <a:ext cx="1441450"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11  14</a:t>
            </a:r>
          </a:p>
        </p:txBody>
      </p:sp>
      <p:grpSp>
        <p:nvGrpSpPr>
          <p:cNvPr id="11" name="Group 110"/>
          <p:cNvGrpSpPr>
            <a:grpSpLocks/>
          </p:cNvGrpSpPr>
          <p:nvPr/>
        </p:nvGrpSpPr>
        <p:grpSpPr bwMode="auto">
          <a:xfrm>
            <a:off x="1044575" y="6048375"/>
            <a:ext cx="1643063" cy="342900"/>
            <a:chOff x="552" y="3539"/>
            <a:chExt cx="1035" cy="216"/>
          </a:xfrm>
        </p:grpSpPr>
        <p:sp>
          <p:nvSpPr>
            <p:cNvPr id="15471" name="Rectangle 111"/>
            <p:cNvSpPr>
              <a:spLocks noChangeArrowheads="1"/>
            </p:cNvSpPr>
            <p:nvPr/>
          </p:nvSpPr>
          <p:spPr bwMode="auto">
            <a:xfrm>
              <a:off x="552" y="3544"/>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472" name="Line 112"/>
            <p:cNvSpPr>
              <a:spLocks noChangeShapeType="1"/>
            </p:cNvSpPr>
            <p:nvPr/>
          </p:nvSpPr>
          <p:spPr bwMode="auto">
            <a:xfrm>
              <a:off x="879" y="3540"/>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73" name="Line 113"/>
            <p:cNvSpPr>
              <a:spLocks noChangeShapeType="1"/>
            </p:cNvSpPr>
            <p:nvPr/>
          </p:nvSpPr>
          <p:spPr bwMode="auto">
            <a:xfrm>
              <a:off x="1239" y="3539"/>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5474" name="Line 114"/>
          <p:cNvSpPr>
            <a:spLocks noChangeShapeType="1"/>
          </p:cNvSpPr>
          <p:nvPr/>
        </p:nvSpPr>
        <p:spPr bwMode="auto">
          <a:xfrm>
            <a:off x="2547938" y="6211888"/>
            <a:ext cx="715962" cy="635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75" name="Line 115"/>
          <p:cNvSpPr>
            <a:spLocks noChangeShapeType="1"/>
          </p:cNvSpPr>
          <p:nvPr/>
        </p:nvSpPr>
        <p:spPr bwMode="auto">
          <a:xfrm>
            <a:off x="5332413" y="6491288"/>
            <a:ext cx="34925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76" name="Line 116"/>
          <p:cNvSpPr>
            <a:spLocks noChangeShapeType="1"/>
          </p:cNvSpPr>
          <p:nvPr/>
        </p:nvSpPr>
        <p:spPr bwMode="auto">
          <a:xfrm>
            <a:off x="5424488" y="6538913"/>
            <a:ext cx="173037"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77" name="Line 117"/>
          <p:cNvSpPr>
            <a:spLocks noChangeShapeType="1"/>
          </p:cNvSpPr>
          <p:nvPr/>
        </p:nvSpPr>
        <p:spPr bwMode="auto">
          <a:xfrm>
            <a:off x="5500688" y="6586538"/>
            <a:ext cx="5080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78" name="Rectangle 118"/>
          <p:cNvSpPr>
            <a:spLocks noChangeArrowheads="1"/>
          </p:cNvSpPr>
          <p:nvPr/>
        </p:nvSpPr>
        <p:spPr bwMode="auto">
          <a:xfrm>
            <a:off x="3327400" y="5997575"/>
            <a:ext cx="1441450"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-3  10</a:t>
            </a:r>
          </a:p>
        </p:txBody>
      </p:sp>
      <p:grpSp>
        <p:nvGrpSpPr>
          <p:cNvPr id="12" name="Group 119"/>
          <p:cNvGrpSpPr>
            <a:grpSpLocks/>
          </p:cNvGrpSpPr>
          <p:nvPr/>
        </p:nvGrpSpPr>
        <p:grpSpPr bwMode="auto">
          <a:xfrm>
            <a:off x="3287713" y="6046788"/>
            <a:ext cx="1643062" cy="342900"/>
            <a:chOff x="1965" y="3538"/>
            <a:chExt cx="1035" cy="216"/>
          </a:xfrm>
        </p:grpSpPr>
        <p:sp>
          <p:nvSpPr>
            <p:cNvPr id="15480" name="Rectangle 120"/>
            <p:cNvSpPr>
              <a:spLocks noChangeArrowheads="1"/>
            </p:cNvSpPr>
            <p:nvPr/>
          </p:nvSpPr>
          <p:spPr bwMode="auto">
            <a:xfrm>
              <a:off x="1965" y="3543"/>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5481" name="Line 121"/>
            <p:cNvSpPr>
              <a:spLocks noChangeShapeType="1"/>
            </p:cNvSpPr>
            <p:nvPr/>
          </p:nvSpPr>
          <p:spPr bwMode="auto">
            <a:xfrm>
              <a:off x="2291" y="3539"/>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82" name="Line 122"/>
            <p:cNvSpPr>
              <a:spLocks noChangeShapeType="1"/>
            </p:cNvSpPr>
            <p:nvPr/>
          </p:nvSpPr>
          <p:spPr bwMode="auto">
            <a:xfrm>
              <a:off x="2652" y="3538"/>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5483" name="Line 123"/>
          <p:cNvSpPr>
            <a:spLocks noChangeShapeType="1"/>
          </p:cNvSpPr>
          <p:nvPr/>
        </p:nvSpPr>
        <p:spPr bwMode="auto">
          <a:xfrm flipH="1" flipV="1">
            <a:off x="4097338" y="6402388"/>
            <a:ext cx="1587" cy="320675"/>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484" name="Line 124"/>
          <p:cNvSpPr>
            <a:spLocks noChangeShapeType="1"/>
          </p:cNvSpPr>
          <p:nvPr/>
        </p:nvSpPr>
        <p:spPr bwMode="auto">
          <a:xfrm>
            <a:off x="4779963" y="6218238"/>
            <a:ext cx="696912"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5485" name="Line 125"/>
          <p:cNvSpPr>
            <a:spLocks noChangeShapeType="1"/>
          </p:cNvSpPr>
          <p:nvPr/>
        </p:nvSpPr>
        <p:spPr bwMode="auto">
          <a:xfrm>
            <a:off x="5491163" y="6200775"/>
            <a:ext cx="0" cy="306388"/>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5608" name="Rectangle 248"/>
          <p:cNvSpPr>
            <a:spLocks noChangeArrowheads="1"/>
          </p:cNvSpPr>
          <p:nvPr/>
        </p:nvSpPr>
        <p:spPr bwMode="auto">
          <a:xfrm>
            <a:off x="6019800" y="6096000"/>
            <a:ext cx="2362200" cy="366713"/>
          </a:xfrm>
          <a:prstGeom prst="rect">
            <a:avLst/>
          </a:prstGeom>
          <a:noFill/>
          <a:ln w="9525">
            <a:noFill/>
            <a:miter lim="800000"/>
            <a:headEnd/>
            <a:tailEnd/>
          </a:ln>
          <a:effectLst/>
        </p:spPr>
        <p:txBody>
          <a:bodyPr wrap="none">
            <a:spAutoFit/>
          </a:bodyPr>
          <a:lstStyle/>
          <a:p>
            <a:r>
              <a:rPr kumimoji="1" lang="en-US" altLang="zh-TW">
                <a:solidFill>
                  <a:srgbClr val="CC3300"/>
                </a:solidFill>
                <a:ea typeface="新細明體" pitchFamily="18" charset="-120"/>
              </a:rPr>
              <a:t>a-&gt;expon &lt; b-&gt;expon</a:t>
            </a:r>
            <a:endParaRPr kumimoji="1" lang="en-US">
              <a:solidFill>
                <a:srgbClr val="CC3300"/>
              </a:solidFill>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endParaRPr lang="en-US"/>
          </a:p>
        </p:txBody>
      </p:sp>
      <p:sp>
        <p:nvSpPr>
          <p:cNvPr id="16387" name="Rectangle 3"/>
          <p:cNvSpPr>
            <a:spLocks noGrp="1" noChangeArrowheads="1"/>
          </p:cNvSpPr>
          <p:nvPr>
            <p:ph type="body" idx="1"/>
          </p:nvPr>
        </p:nvSpPr>
        <p:spPr/>
        <p:txBody>
          <a:bodyPr/>
          <a:lstStyle/>
          <a:p>
            <a:endParaRPr lang="en-US"/>
          </a:p>
        </p:txBody>
      </p:sp>
      <p:sp>
        <p:nvSpPr>
          <p:cNvPr id="16388" name="Rectangle 4"/>
          <p:cNvSpPr>
            <a:spLocks noChangeArrowheads="1"/>
          </p:cNvSpPr>
          <p:nvPr/>
        </p:nvSpPr>
        <p:spPr bwMode="auto">
          <a:xfrm>
            <a:off x="1660525" y="2324100"/>
            <a:ext cx="1438275"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3    14</a:t>
            </a:r>
          </a:p>
        </p:txBody>
      </p:sp>
      <p:grpSp>
        <p:nvGrpSpPr>
          <p:cNvPr id="2" name="Group 5"/>
          <p:cNvGrpSpPr>
            <a:grpSpLocks/>
          </p:cNvGrpSpPr>
          <p:nvPr/>
        </p:nvGrpSpPr>
        <p:grpSpPr bwMode="auto">
          <a:xfrm>
            <a:off x="1620838" y="2335213"/>
            <a:ext cx="6035675" cy="346075"/>
            <a:chOff x="603" y="1471"/>
            <a:chExt cx="3802" cy="218"/>
          </a:xfrm>
        </p:grpSpPr>
        <p:sp>
          <p:nvSpPr>
            <p:cNvPr id="16390" name="Rectangle 6"/>
            <p:cNvSpPr>
              <a:spLocks noChangeArrowheads="1"/>
            </p:cNvSpPr>
            <p:nvPr/>
          </p:nvSpPr>
          <p:spPr bwMode="auto">
            <a:xfrm>
              <a:off x="603" y="1478"/>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6391" name="Line 7"/>
            <p:cNvSpPr>
              <a:spLocks noChangeShapeType="1"/>
            </p:cNvSpPr>
            <p:nvPr/>
          </p:nvSpPr>
          <p:spPr bwMode="auto">
            <a:xfrm>
              <a:off x="929" y="1474"/>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392" name="Line 8"/>
            <p:cNvSpPr>
              <a:spLocks noChangeShapeType="1"/>
            </p:cNvSpPr>
            <p:nvPr/>
          </p:nvSpPr>
          <p:spPr bwMode="auto">
            <a:xfrm>
              <a:off x="1290" y="1473"/>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393" name="Rectangle 9"/>
            <p:cNvSpPr>
              <a:spLocks noChangeArrowheads="1"/>
            </p:cNvSpPr>
            <p:nvPr/>
          </p:nvSpPr>
          <p:spPr bwMode="auto">
            <a:xfrm>
              <a:off x="1997" y="1476"/>
              <a:ext cx="1036" cy="203"/>
            </a:xfrm>
            <a:prstGeom prst="rect">
              <a:avLst/>
            </a:prstGeom>
            <a:noFill/>
            <a:ln w="12700">
              <a:solidFill>
                <a:schemeClr val="tx1"/>
              </a:solidFill>
              <a:miter lim="800000"/>
              <a:headEnd/>
              <a:tailEnd/>
            </a:ln>
            <a:effectLst/>
          </p:spPr>
          <p:txBody>
            <a:bodyPr wrap="none" anchor="ctr"/>
            <a:lstStyle/>
            <a:p>
              <a:endParaRPr lang="en-US"/>
            </a:p>
          </p:txBody>
        </p:sp>
        <p:sp>
          <p:nvSpPr>
            <p:cNvPr id="16394" name="Line 10"/>
            <p:cNvSpPr>
              <a:spLocks noChangeShapeType="1"/>
            </p:cNvSpPr>
            <p:nvPr/>
          </p:nvSpPr>
          <p:spPr bwMode="auto">
            <a:xfrm>
              <a:off x="2324" y="1472"/>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395" name="Line 11"/>
            <p:cNvSpPr>
              <a:spLocks noChangeShapeType="1"/>
            </p:cNvSpPr>
            <p:nvPr/>
          </p:nvSpPr>
          <p:spPr bwMode="auto">
            <a:xfrm>
              <a:off x="2684" y="1471"/>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396" name="Rectangle 12"/>
            <p:cNvSpPr>
              <a:spLocks noChangeArrowheads="1"/>
            </p:cNvSpPr>
            <p:nvPr/>
          </p:nvSpPr>
          <p:spPr bwMode="auto">
            <a:xfrm>
              <a:off x="3370" y="1476"/>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6397" name="Line 13"/>
            <p:cNvSpPr>
              <a:spLocks noChangeShapeType="1"/>
            </p:cNvSpPr>
            <p:nvPr/>
          </p:nvSpPr>
          <p:spPr bwMode="auto">
            <a:xfrm>
              <a:off x="3696" y="1472"/>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398" name="Line 14"/>
            <p:cNvSpPr>
              <a:spLocks noChangeShapeType="1"/>
            </p:cNvSpPr>
            <p:nvPr/>
          </p:nvSpPr>
          <p:spPr bwMode="auto">
            <a:xfrm>
              <a:off x="4057" y="1472"/>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6399" name="Line 15"/>
          <p:cNvSpPr>
            <a:spLocks noChangeShapeType="1"/>
          </p:cNvSpPr>
          <p:nvPr/>
        </p:nvSpPr>
        <p:spPr bwMode="auto">
          <a:xfrm>
            <a:off x="3111500" y="2519363"/>
            <a:ext cx="758825"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6400" name="Line 16"/>
          <p:cNvSpPr>
            <a:spLocks noChangeShapeType="1"/>
          </p:cNvSpPr>
          <p:nvPr/>
        </p:nvSpPr>
        <p:spPr bwMode="auto">
          <a:xfrm>
            <a:off x="5264150" y="2528888"/>
            <a:ext cx="760413"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6401" name="Line 17"/>
          <p:cNvSpPr>
            <a:spLocks noChangeShapeType="1"/>
          </p:cNvSpPr>
          <p:nvPr/>
        </p:nvSpPr>
        <p:spPr bwMode="auto">
          <a:xfrm>
            <a:off x="7535863" y="2508250"/>
            <a:ext cx="696912"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02" name="Line 18"/>
          <p:cNvSpPr>
            <a:spLocks noChangeShapeType="1"/>
          </p:cNvSpPr>
          <p:nvPr/>
        </p:nvSpPr>
        <p:spPr bwMode="auto">
          <a:xfrm>
            <a:off x="8232775" y="2508250"/>
            <a:ext cx="1588" cy="32385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6403" name="Line 19"/>
          <p:cNvSpPr>
            <a:spLocks noChangeShapeType="1"/>
          </p:cNvSpPr>
          <p:nvPr/>
        </p:nvSpPr>
        <p:spPr bwMode="auto">
          <a:xfrm>
            <a:off x="8039100" y="2806700"/>
            <a:ext cx="34925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04" name="Line 20"/>
          <p:cNvSpPr>
            <a:spLocks noChangeShapeType="1"/>
          </p:cNvSpPr>
          <p:nvPr/>
        </p:nvSpPr>
        <p:spPr bwMode="auto">
          <a:xfrm>
            <a:off x="8131175" y="2854325"/>
            <a:ext cx="173038"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05" name="Line 21"/>
          <p:cNvSpPr>
            <a:spLocks noChangeShapeType="1"/>
          </p:cNvSpPr>
          <p:nvPr/>
        </p:nvSpPr>
        <p:spPr bwMode="auto">
          <a:xfrm>
            <a:off x="8208963" y="2901950"/>
            <a:ext cx="49212"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06" name="Rectangle 22"/>
          <p:cNvSpPr>
            <a:spLocks noChangeArrowheads="1"/>
          </p:cNvSpPr>
          <p:nvPr/>
        </p:nvSpPr>
        <p:spPr bwMode="auto">
          <a:xfrm>
            <a:off x="3916363" y="2309813"/>
            <a:ext cx="1387475"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2    8</a:t>
            </a:r>
          </a:p>
        </p:txBody>
      </p:sp>
      <p:sp>
        <p:nvSpPr>
          <p:cNvPr id="16407" name="Rectangle 23"/>
          <p:cNvSpPr>
            <a:spLocks noChangeArrowheads="1"/>
          </p:cNvSpPr>
          <p:nvPr/>
        </p:nvSpPr>
        <p:spPr bwMode="auto">
          <a:xfrm>
            <a:off x="6135688" y="2322513"/>
            <a:ext cx="1208087"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1    0</a:t>
            </a:r>
          </a:p>
        </p:txBody>
      </p:sp>
      <p:sp>
        <p:nvSpPr>
          <p:cNvPr id="16408" name="Line 24"/>
          <p:cNvSpPr>
            <a:spLocks noChangeShapeType="1"/>
          </p:cNvSpPr>
          <p:nvPr/>
        </p:nvSpPr>
        <p:spPr bwMode="auto">
          <a:xfrm flipV="1">
            <a:off x="4579938" y="2700338"/>
            <a:ext cx="1587" cy="309562"/>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6409" name="Rectangle 25"/>
          <p:cNvSpPr>
            <a:spLocks noChangeArrowheads="1"/>
          </p:cNvSpPr>
          <p:nvPr/>
        </p:nvSpPr>
        <p:spPr bwMode="auto">
          <a:xfrm>
            <a:off x="4610100" y="2682875"/>
            <a:ext cx="333375"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a</a:t>
            </a:r>
          </a:p>
        </p:txBody>
      </p:sp>
      <p:sp>
        <p:nvSpPr>
          <p:cNvPr id="16410" name="Rectangle 26"/>
          <p:cNvSpPr>
            <a:spLocks noChangeArrowheads="1"/>
          </p:cNvSpPr>
          <p:nvPr/>
        </p:nvSpPr>
        <p:spPr bwMode="auto">
          <a:xfrm>
            <a:off x="1684338" y="3103563"/>
            <a:ext cx="1349375"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8    14</a:t>
            </a:r>
          </a:p>
        </p:txBody>
      </p:sp>
      <p:grpSp>
        <p:nvGrpSpPr>
          <p:cNvPr id="3" name="Group 27"/>
          <p:cNvGrpSpPr>
            <a:grpSpLocks/>
          </p:cNvGrpSpPr>
          <p:nvPr/>
        </p:nvGrpSpPr>
        <p:grpSpPr bwMode="auto">
          <a:xfrm>
            <a:off x="1619250" y="3121025"/>
            <a:ext cx="1643063" cy="342900"/>
            <a:chOff x="602" y="1966"/>
            <a:chExt cx="1035" cy="216"/>
          </a:xfrm>
        </p:grpSpPr>
        <p:sp>
          <p:nvSpPr>
            <p:cNvPr id="16412" name="Rectangle 28"/>
            <p:cNvSpPr>
              <a:spLocks noChangeArrowheads="1"/>
            </p:cNvSpPr>
            <p:nvPr/>
          </p:nvSpPr>
          <p:spPr bwMode="auto">
            <a:xfrm>
              <a:off x="602" y="1971"/>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6413" name="Line 29"/>
            <p:cNvSpPr>
              <a:spLocks noChangeShapeType="1"/>
            </p:cNvSpPr>
            <p:nvPr/>
          </p:nvSpPr>
          <p:spPr bwMode="auto">
            <a:xfrm>
              <a:off x="928" y="1967"/>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14" name="Line 30"/>
            <p:cNvSpPr>
              <a:spLocks noChangeShapeType="1"/>
            </p:cNvSpPr>
            <p:nvPr/>
          </p:nvSpPr>
          <p:spPr bwMode="auto">
            <a:xfrm>
              <a:off x="1289" y="1966"/>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grpSp>
        <p:nvGrpSpPr>
          <p:cNvPr id="4" name="Group 31"/>
          <p:cNvGrpSpPr>
            <a:grpSpLocks/>
          </p:cNvGrpSpPr>
          <p:nvPr/>
        </p:nvGrpSpPr>
        <p:grpSpPr bwMode="auto">
          <a:xfrm>
            <a:off x="3848100" y="3116263"/>
            <a:ext cx="1643063" cy="342900"/>
            <a:chOff x="2006" y="1963"/>
            <a:chExt cx="1035" cy="216"/>
          </a:xfrm>
        </p:grpSpPr>
        <p:sp>
          <p:nvSpPr>
            <p:cNvPr id="16416" name="Rectangle 32"/>
            <p:cNvSpPr>
              <a:spLocks noChangeArrowheads="1"/>
            </p:cNvSpPr>
            <p:nvPr/>
          </p:nvSpPr>
          <p:spPr bwMode="auto">
            <a:xfrm>
              <a:off x="2006" y="1968"/>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6417" name="Line 33"/>
            <p:cNvSpPr>
              <a:spLocks noChangeShapeType="1"/>
            </p:cNvSpPr>
            <p:nvPr/>
          </p:nvSpPr>
          <p:spPr bwMode="auto">
            <a:xfrm>
              <a:off x="2332" y="1964"/>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18" name="Line 34"/>
            <p:cNvSpPr>
              <a:spLocks noChangeShapeType="1"/>
            </p:cNvSpPr>
            <p:nvPr/>
          </p:nvSpPr>
          <p:spPr bwMode="auto">
            <a:xfrm>
              <a:off x="2693" y="1963"/>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grpSp>
        <p:nvGrpSpPr>
          <p:cNvPr id="5" name="Group 35"/>
          <p:cNvGrpSpPr>
            <a:grpSpLocks/>
          </p:cNvGrpSpPr>
          <p:nvPr/>
        </p:nvGrpSpPr>
        <p:grpSpPr bwMode="auto">
          <a:xfrm>
            <a:off x="6029325" y="3130550"/>
            <a:ext cx="1643063" cy="342900"/>
            <a:chOff x="3380" y="1972"/>
            <a:chExt cx="1035" cy="216"/>
          </a:xfrm>
        </p:grpSpPr>
        <p:sp>
          <p:nvSpPr>
            <p:cNvPr id="16420" name="Rectangle 36"/>
            <p:cNvSpPr>
              <a:spLocks noChangeArrowheads="1"/>
            </p:cNvSpPr>
            <p:nvPr/>
          </p:nvSpPr>
          <p:spPr bwMode="auto">
            <a:xfrm>
              <a:off x="3380" y="1977"/>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6421" name="Line 37"/>
            <p:cNvSpPr>
              <a:spLocks noChangeShapeType="1"/>
            </p:cNvSpPr>
            <p:nvPr/>
          </p:nvSpPr>
          <p:spPr bwMode="auto">
            <a:xfrm>
              <a:off x="3706" y="1973"/>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22" name="Line 38"/>
            <p:cNvSpPr>
              <a:spLocks noChangeShapeType="1"/>
            </p:cNvSpPr>
            <p:nvPr/>
          </p:nvSpPr>
          <p:spPr bwMode="auto">
            <a:xfrm>
              <a:off x="4067" y="1972"/>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6423" name="Line 39"/>
          <p:cNvSpPr>
            <a:spLocks noChangeShapeType="1"/>
          </p:cNvSpPr>
          <p:nvPr/>
        </p:nvSpPr>
        <p:spPr bwMode="auto">
          <a:xfrm>
            <a:off x="3108325" y="3278188"/>
            <a:ext cx="760413"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6424" name="Line 40"/>
          <p:cNvSpPr>
            <a:spLocks noChangeShapeType="1"/>
          </p:cNvSpPr>
          <p:nvPr/>
        </p:nvSpPr>
        <p:spPr bwMode="auto">
          <a:xfrm>
            <a:off x="5275263" y="3297238"/>
            <a:ext cx="760412"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6425" name="Line 41"/>
          <p:cNvSpPr>
            <a:spLocks noChangeShapeType="1"/>
          </p:cNvSpPr>
          <p:nvPr/>
        </p:nvSpPr>
        <p:spPr bwMode="auto">
          <a:xfrm>
            <a:off x="7573963" y="3300413"/>
            <a:ext cx="696912"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26" name="Line 42"/>
          <p:cNvSpPr>
            <a:spLocks noChangeShapeType="1"/>
          </p:cNvSpPr>
          <p:nvPr/>
        </p:nvSpPr>
        <p:spPr bwMode="auto">
          <a:xfrm>
            <a:off x="8283575" y="3282950"/>
            <a:ext cx="0" cy="306388"/>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6427" name="Line 43"/>
          <p:cNvSpPr>
            <a:spLocks noChangeShapeType="1"/>
          </p:cNvSpPr>
          <p:nvPr/>
        </p:nvSpPr>
        <p:spPr bwMode="auto">
          <a:xfrm>
            <a:off x="8101013" y="3598863"/>
            <a:ext cx="34925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28" name="Line 44"/>
          <p:cNvSpPr>
            <a:spLocks noChangeShapeType="1"/>
          </p:cNvSpPr>
          <p:nvPr/>
        </p:nvSpPr>
        <p:spPr bwMode="auto">
          <a:xfrm>
            <a:off x="8193088" y="3646488"/>
            <a:ext cx="173037"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29" name="Line 45"/>
          <p:cNvSpPr>
            <a:spLocks noChangeShapeType="1"/>
          </p:cNvSpPr>
          <p:nvPr/>
        </p:nvSpPr>
        <p:spPr bwMode="auto">
          <a:xfrm>
            <a:off x="8270875" y="3694113"/>
            <a:ext cx="49213"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30" name="Rectangle 46"/>
          <p:cNvSpPr>
            <a:spLocks noChangeArrowheads="1"/>
          </p:cNvSpPr>
          <p:nvPr/>
        </p:nvSpPr>
        <p:spPr bwMode="auto">
          <a:xfrm>
            <a:off x="3876675" y="3092450"/>
            <a:ext cx="1182688"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-3  10</a:t>
            </a:r>
          </a:p>
        </p:txBody>
      </p:sp>
      <p:sp>
        <p:nvSpPr>
          <p:cNvPr id="16431" name="Rectangle 47"/>
          <p:cNvSpPr>
            <a:spLocks noChangeArrowheads="1"/>
          </p:cNvSpPr>
          <p:nvPr/>
        </p:nvSpPr>
        <p:spPr bwMode="auto">
          <a:xfrm>
            <a:off x="6030913" y="3101975"/>
            <a:ext cx="1338262"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10    6</a:t>
            </a:r>
          </a:p>
        </p:txBody>
      </p:sp>
      <p:sp>
        <p:nvSpPr>
          <p:cNvPr id="16432" name="Line 48"/>
          <p:cNvSpPr>
            <a:spLocks noChangeShapeType="1"/>
          </p:cNvSpPr>
          <p:nvPr/>
        </p:nvSpPr>
        <p:spPr bwMode="auto">
          <a:xfrm flipH="1" flipV="1">
            <a:off x="6838950" y="3462338"/>
            <a:ext cx="14288" cy="306387"/>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6433" name="Rectangle 49"/>
          <p:cNvSpPr>
            <a:spLocks noChangeArrowheads="1"/>
          </p:cNvSpPr>
          <p:nvPr/>
        </p:nvSpPr>
        <p:spPr bwMode="auto">
          <a:xfrm>
            <a:off x="6867525" y="3443288"/>
            <a:ext cx="352425"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b</a:t>
            </a:r>
          </a:p>
        </p:txBody>
      </p:sp>
      <p:sp>
        <p:nvSpPr>
          <p:cNvPr id="16434" name="Rectangle 50"/>
          <p:cNvSpPr>
            <a:spLocks noChangeArrowheads="1"/>
          </p:cNvSpPr>
          <p:nvPr/>
        </p:nvSpPr>
        <p:spPr bwMode="auto">
          <a:xfrm>
            <a:off x="1657350" y="3794125"/>
            <a:ext cx="1441450"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11  14</a:t>
            </a:r>
          </a:p>
        </p:txBody>
      </p:sp>
      <p:grpSp>
        <p:nvGrpSpPr>
          <p:cNvPr id="6" name="Group 51"/>
          <p:cNvGrpSpPr>
            <a:grpSpLocks/>
          </p:cNvGrpSpPr>
          <p:nvPr/>
        </p:nvGrpSpPr>
        <p:grpSpPr bwMode="auto">
          <a:xfrm>
            <a:off x="1617663" y="3843338"/>
            <a:ext cx="1643062" cy="342900"/>
            <a:chOff x="601" y="2421"/>
            <a:chExt cx="1035" cy="216"/>
          </a:xfrm>
        </p:grpSpPr>
        <p:sp>
          <p:nvSpPr>
            <p:cNvPr id="16436" name="Rectangle 52"/>
            <p:cNvSpPr>
              <a:spLocks noChangeArrowheads="1"/>
            </p:cNvSpPr>
            <p:nvPr/>
          </p:nvSpPr>
          <p:spPr bwMode="auto">
            <a:xfrm>
              <a:off x="601" y="2426"/>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6437" name="Line 53"/>
            <p:cNvSpPr>
              <a:spLocks noChangeShapeType="1"/>
            </p:cNvSpPr>
            <p:nvPr/>
          </p:nvSpPr>
          <p:spPr bwMode="auto">
            <a:xfrm>
              <a:off x="927" y="2422"/>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38" name="Line 54"/>
            <p:cNvSpPr>
              <a:spLocks noChangeShapeType="1"/>
            </p:cNvSpPr>
            <p:nvPr/>
          </p:nvSpPr>
          <p:spPr bwMode="auto">
            <a:xfrm>
              <a:off x="1288" y="2421"/>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6439" name="Line 55"/>
          <p:cNvSpPr>
            <a:spLocks noChangeShapeType="1"/>
          </p:cNvSpPr>
          <p:nvPr/>
        </p:nvSpPr>
        <p:spPr bwMode="auto">
          <a:xfrm>
            <a:off x="3121025" y="4006850"/>
            <a:ext cx="715963" cy="635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6440" name="Rectangle 56"/>
          <p:cNvSpPr>
            <a:spLocks noChangeArrowheads="1"/>
          </p:cNvSpPr>
          <p:nvPr/>
        </p:nvSpPr>
        <p:spPr bwMode="auto">
          <a:xfrm>
            <a:off x="1643063" y="4500563"/>
            <a:ext cx="3652837"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solidFill>
                  <a:srgbClr val="CC3300"/>
                </a:solidFill>
                <a:latin typeface="Courier New" pitchFamily="49" charset="0"/>
                <a:ea typeface="新細明體" pitchFamily="18" charset="-120"/>
              </a:rPr>
              <a:t>a-&gt;expon &gt; b-&gt;expon</a:t>
            </a:r>
            <a:endParaRPr kumimoji="1" lang="en-US" altLang="zh-TW" sz="2000">
              <a:latin typeface="Courier New" pitchFamily="49" charset="0"/>
              <a:ea typeface="新細明體" pitchFamily="18" charset="-120"/>
            </a:endParaRPr>
          </a:p>
        </p:txBody>
      </p:sp>
      <p:sp>
        <p:nvSpPr>
          <p:cNvPr id="16441" name="Rectangle 57"/>
          <p:cNvSpPr>
            <a:spLocks noChangeArrowheads="1"/>
          </p:cNvSpPr>
          <p:nvPr/>
        </p:nvSpPr>
        <p:spPr bwMode="auto">
          <a:xfrm>
            <a:off x="3900488" y="3792538"/>
            <a:ext cx="1441450"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-3  10</a:t>
            </a:r>
          </a:p>
        </p:txBody>
      </p:sp>
      <p:grpSp>
        <p:nvGrpSpPr>
          <p:cNvPr id="7" name="Group 58"/>
          <p:cNvGrpSpPr>
            <a:grpSpLocks/>
          </p:cNvGrpSpPr>
          <p:nvPr/>
        </p:nvGrpSpPr>
        <p:grpSpPr bwMode="auto">
          <a:xfrm>
            <a:off x="3860800" y="3841750"/>
            <a:ext cx="1643063" cy="342900"/>
            <a:chOff x="2014" y="2420"/>
            <a:chExt cx="1035" cy="216"/>
          </a:xfrm>
        </p:grpSpPr>
        <p:sp>
          <p:nvSpPr>
            <p:cNvPr id="16443" name="Rectangle 59"/>
            <p:cNvSpPr>
              <a:spLocks noChangeArrowheads="1"/>
            </p:cNvSpPr>
            <p:nvPr/>
          </p:nvSpPr>
          <p:spPr bwMode="auto">
            <a:xfrm>
              <a:off x="2014" y="2425"/>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6444" name="Line 60"/>
            <p:cNvSpPr>
              <a:spLocks noChangeShapeType="1"/>
            </p:cNvSpPr>
            <p:nvPr/>
          </p:nvSpPr>
          <p:spPr bwMode="auto">
            <a:xfrm>
              <a:off x="2340" y="2421"/>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45" name="Line 61"/>
            <p:cNvSpPr>
              <a:spLocks noChangeShapeType="1"/>
            </p:cNvSpPr>
            <p:nvPr/>
          </p:nvSpPr>
          <p:spPr bwMode="auto">
            <a:xfrm>
              <a:off x="2701" y="2420"/>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6446" name="Line 62"/>
          <p:cNvSpPr>
            <a:spLocks noChangeShapeType="1"/>
          </p:cNvSpPr>
          <p:nvPr/>
        </p:nvSpPr>
        <p:spPr bwMode="auto">
          <a:xfrm>
            <a:off x="5345113" y="4024313"/>
            <a:ext cx="658812" cy="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6447" name="Line 63"/>
          <p:cNvSpPr>
            <a:spLocks noChangeShapeType="1"/>
          </p:cNvSpPr>
          <p:nvPr/>
        </p:nvSpPr>
        <p:spPr bwMode="auto">
          <a:xfrm>
            <a:off x="8070850" y="4295775"/>
            <a:ext cx="34925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48" name="Line 64"/>
          <p:cNvSpPr>
            <a:spLocks noChangeShapeType="1"/>
          </p:cNvSpPr>
          <p:nvPr/>
        </p:nvSpPr>
        <p:spPr bwMode="auto">
          <a:xfrm>
            <a:off x="8161338" y="4343400"/>
            <a:ext cx="174625"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49" name="Line 65"/>
          <p:cNvSpPr>
            <a:spLocks noChangeShapeType="1"/>
          </p:cNvSpPr>
          <p:nvPr/>
        </p:nvSpPr>
        <p:spPr bwMode="auto">
          <a:xfrm>
            <a:off x="8239125" y="4391025"/>
            <a:ext cx="50800"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50" name="Rectangle 66"/>
          <p:cNvSpPr>
            <a:spLocks noChangeArrowheads="1"/>
          </p:cNvSpPr>
          <p:nvPr/>
        </p:nvSpPr>
        <p:spPr bwMode="auto">
          <a:xfrm>
            <a:off x="6829425" y="4205288"/>
            <a:ext cx="336550" cy="457200"/>
          </a:xfrm>
          <a:prstGeom prst="rect">
            <a:avLst/>
          </a:prstGeom>
          <a:noFill/>
          <a:ln w="9525">
            <a:noFill/>
            <a:miter lim="800000"/>
            <a:headEnd/>
            <a:tailEnd/>
          </a:ln>
          <a:effectLst/>
        </p:spPr>
        <p:txBody>
          <a:bodyPr wrap="none" lIns="92075" tIns="46038" rIns="92075" bIns="46038">
            <a:spAutoFit/>
          </a:bodyPr>
          <a:lstStyle/>
          <a:p>
            <a:pPr defTabSz="762000"/>
            <a:r>
              <a:rPr kumimoji="1" lang="en-US" altLang="zh-TW" sz="2400">
                <a:latin typeface="Times New Roman" pitchFamily="18" charset="0"/>
                <a:ea typeface="新細明體" pitchFamily="18" charset="-120"/>
              </a:rPr>
              <a:t>d</a:t>
            </a:r>
          </a:p>
        </p:txBody>
      </p:sp>
      <p:sp>
        <p:nvSpPr>
          <p:cNvPr id="16451" name="Rectangle 67"/>
          <p:cNvSpPr>
            <a:spLocks noChangeArrowheads="1"/>
          </p:cNvSpPr>
          <p:nvPr/>
        </p:nvSpPr>
        <p:spPr bwMode="auto">
          <a:xfrm>
            <a:off x="6118225" y="3825875"/>
            <a:ext cx="1441450" cy="457200"/>
          </a:xfrm>
          <a:prstGeom prst="rect">
            <a:avLst/>
          </a:prstGeom>
          <a:noFill/>
          <a:ln w="9525">
            <a:noFill/>
            <a:miter lim="800000"/>
            <a:headEnd/>
            <a:tailEnd/>
          </a:ln>
          <a:effectLst/>
        </p:spPr>
        <p:txBody>
          <a:bodyPr lIns="92075" tIns="46038" rIns="92075" bIns="46038">
            <a:spAutoFit/>
          </a:bodyPr>
          <a:lstStyle/>
          <a:p>
            <a:pPr defTabSz="762000"/>
            <a:r>
              <a:rPr kumimoji="1" lang="en-US" altLang="zh-TW" sz="2400">
                <a:latin typeface="Times New Roman" pitchFamily="18" charset="0"/>
                <a:ea typeface="新細明體" pitchFamily="18" charset="-120"/>
              </a:rPr>
              <a:t>2    8</a:t>
            </a:r>
          </a:p>
        </p:txBody>
      </p:sp>
      <p:grpSp>
        <p:nvGrpSpPr>
          <p:cNvPr id="8" name="Group 68"/>
          <p:cNvGrpSpPr>
            <a:grpSpLocks/>
          </p:cNvGrpSpPr>
          <p:nvPr/>
        </p:nvGrpSpPr>
        <p:grpSpPr bwMode="auto">
          <a:xfrm>
            <a:off x="6026150" y="3851275"/>
            <a:ext cx="1643063" cy="342900"/>
            <a:chOff x="3378" y="2426"/>
            <a:chExt cx="1035" cy="216"/>
          </a:xfrm>
        </p:grpSpPr>
        <p:sp>
          <p:nvSpPr>
            <p:cNvPr id="16453" name="Rectangle 69"/>
            <p:cNvSpPr>
              <a:spLocks noChangeArrowheads="1"/>
            </p:cNvSpPr>
            <p:nvPr/>
          </p:nvSpPr>
          <p:spPr bwMode="auto">
            <a:xfrm>
              <a:off x="3378" y="2431"/>
              <a:ext cx="1035" cy="203"/>
            </a:xfrm>
            <a:prstGeom prst="rect">
              <a:avLst/>
            </a:prstGeom>
            <a:noFill/>
            <a:ln w="12700">
              <a:solidFill>
                <a:schemeClr val="tx1"/>
              </a:solidFill>
              <a:miter lim="800000"/>
              <a:headEnd/>
              <a:tailEnd/>
            </a:ln>
            <a:effectLst/>
          </p:spPr>
          <p:txBody>
            <a:bodyPr wrap="none" anchor="ctr"/>
            <a:lstStyle/>
            <a:p>
              <a:endParaRPr lang="en-US"/>
            </a:p>
          </p:txBody>
        </p:sp>
        <p:sp>
          <p:nvSpPr>
            <p:cNvPr id="16454" name="Line 70"/>
            <p:cNvSpPr>
              <a:spLocks noChangeShapeType="1"/>
            </p:cNvSpPr>
            <p:nvPr/>
          </p:nvSpPr>
          <p:spPr bwMode="auto">
            <a:xfrm>
              <a:off x="3704" y="2427"/>
              <a:ext cx="0" cy="211"/>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55" name="Line 71"/>
            <p:cNvSpPr>
              <a:spLocks noChangeShapeType="1"/>
            </p:cNvSpPr>
            <p:nvPr/>
          </p:nvSpPr>
          <p:spPr bwMode="auto">
            <a:xfrm>
              <a:off x="4065" y="2426"/>
              <a:ext cx="0" cy="216"/>
            </a:xfrm>
            <a:prstGeom prst="line">
              <a:avLst/>
            </a:prstGeom>
            <a:noFill/>
            <a:ln w="12700">
              <a:solidFill>
                <a:schemeClr val="tx1"/>
              </a:solidFill>
              <a:round/>
              <a:headEnd type="none" w="sm" len="sm"/>
              <a:tailEnd type="none" w="sm" len="sm"/>
            </a:ln>
            <a:effectLst/>
          </p:spPr>
          <p:txBody>
            <a:bodyPr wrap="none" anchor="ctr"/>
            <a:lstStyle/>
            <a:p>
              <a:endParaRPr lang="en-US"/>
            </a:p>
          </p:txBody>
        </p:sp>
      </p:grpSp>
      <p:sp>
        <p:nvSpPr>
          <p:cNvPr id="16456" name="Line 72"/>
          <p:cNvSpPr>
            <a:spLocks noChangeShapeType="1"/>
          </p:cNvSpPr>
          <p:nvPr/>
        </p:nvSpPr>
        <p:spPr bwMode="auto">
          <a:xfrm flipV="1">
            <a:off x="6835775" y="4206875"/>
            <a:ext cx="0" cy="374650"/>
          </a:xfrm>
          <a:prstGeom prst="line">
            <a:avLst/>
          </a:prstGeom>
          <a:noFill/>
          <a:ln w="12700">
            <a:solidFill>
              <a:schemeClr val="tx1"/>
            </a:solidFill>
            <a:round/>
            <a:headEnd type="none" w="sm" len="sm"/>
            <a:tailEnd type="stealth" w="med" len="lg"/>
          </a:ln>
          <a:effectLst/>
        </p:spPr>
        <p:txBody>
          <a:bodyPr wrap="none" anchor="ctr"/>
          <a:lstStyle/>
          <a:p>
            <a:endParaRPr lang="en-US"/>
          </a:p>
        </p:txBody>
      </p:sp>
      <p:sp>
        <p:nvSpPr>
          <p:cNvPr id="16457" name="Line 73"/>
          <p:cNvSpPr>
            <a:spLocks noChangeShapeType="1"/>
          </p:cNvSpPr>
          <p:nvPr/>
        </p:nvSpPr>
        <p:spPr bwMode="auto">
          <a:xfrm>
            <a:off x="7518400" y="4022725"/>
            <a:ext cx="696913" cy="0"/>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6458" name="Line 74"/>
          <p:cNvSpPr>
            <a:spLocks noChangeShapeType="1"/>
          </p:cNvSpPr>
          <p:nvPr/>
        </p:nvSpPr>
        <p:spPr bwMode="auto">
          <a:xfrm>
            <a:off x="8229600" y="4005263"/>
            <a:ext cx="0" cy="306387"/>
          </a:xfrm>
          <a:prstGeom prst="line">
            <a:avLst/>
          </a:prstGeom>
          <a:noFill/>
          <a:ln w="12700">
            <a:solidFill>
              <a:schemeClr val="tx1"/>
            </a:solidFill>
            <a:round/>
            <a:headEnd type="none" w="sm" len="sm"/>
            <a:tailEnd type="stealth" w="med" len="lg"/>
          </a:ln>
          <a:effectLst/>
        </p:spPr>
        <p:txBody>
          <a:bodyPr wrap="none" anchor="ctr"/>
          <a:lstStyle/>
          <a:p>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0"/>
          </a:xfrm>
        </p:spPr>
        <p:style>
          <a:lnRef idx="0">
            <a:schemeClr val="accent6"/>
          </a:lnRef>
          <a:fillRef idx="3">
            <a:schemeClr val="accent6"/>
          </a:fillRef>
          <a:effectRef idx="3">
            <a:schemeClr val="accent6"/>
          </a:effectRef>
          <a:fontRef idx="minor">
            <a:schemeClr val="lt1"/>
          </a:fontRef>
        </p:style>
        <p:txBody>
          <a:bodyPr>
            <a:normAutofit/>
          </a:bodyPr>
          <a:lstStyle/>
          <a:p>
            <a:r>
              <a:rPr lang="en-US" dirty="0" smtClean="0">
                <a:solidFill>
                  <a:srgbClr val="7030A0"/>
                </a:solidFill>
              </a:rPr>
              <a:t>                 THANK YOU</a:t>
            </a:r>
            <a:br>
              <a:rPr lang="en-US" dirty="0" smtClean="0">
                <a:solidFill>
                  <a:srgbClr val="7030A0"/>
                </a:solidFill>
              </a:rPr>
            </a:br>
            <a:r>
              <a:rPr lang="en-US" dirty="0" smtClean="0">
                <a:solidFill>
                  <a:srgbClr val="7030A0"/>
                </a:solidFill>
              </a:rPr>
              <a:t/>
            </a:r>
            <a:br>
              <a:rPr lang="en-US" dirty="0" smtClean="0">
                <a:solidFill>
                  <a:srgbClr val="7030A0"/>
                </a:solidFill>
              </a:rPr>
            </a:br>
            <a:r>
              <a:rPr lang="en-US" dirty="0" smtClean="0">
                <a:solidFill>
                  <a:srgbClr val="7030A0"/>
                </a:solidFill>
              </a:rPr>
              <a:t/>
            </a:r>
            <a:br>
              <a:rPr lang="en-US" dirty="0" smtClean="0">
                <a:solidFill>
                  <a:srgbClr val="7030A0"/>
                </a:solidFill>
              </a:rPr>
            </a:br>
            <a:r>
              <a:rPr lang="en-US" dirty="0" smtClean="0">
                <a:solidFill>
                  <a:srgbClr val="7030A0"/>
                </a:solidFill>
              </a:rPr>
              <a:t/>
            </a:r>
            <a:br>
              <a:rPr lang="en-US" dirty="0" smtClean="0">
                <a:solidFill>
                  <a:srgbClr val="7030A0"/>
                </a:solidFill>
              </a:rPr>
            </a:b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1001</TotalTime>
  <Words>2573</Words>
  <Application>Microsoft Office PowerPoint</Application>
  <PresentationFormat>On-screen Show (4:3)</PresentationFormat>
  <Paragraphs>609</Paragraphs>
  <Slides>56</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58" baseType="lpstr">
      <vt:lpstr>Flow</vt:lpstr>
      <vt:lpstr>方程式</vt:lpstr>
      <vt:lpstr>What are Linked Lists </vt:lpstr>
      <vt:lpstr>            Arrays Vs Linked Lists</vt:lpstr>
      <vt:lpstr>Types of lists</vt:lpstr>
      <vt:lpstr>Singly Linked List</vt:lpstr>
      <vt:lpstr>Schematic  representation</vt:lpstr>
      <vt:lpstr>Basic Operations on a list</vt:lpstr>
      <vt:lpstr>Creating a node</vt:lpstr>
      <vt:lpstr>Slide 8</vt:lpstr>
      <vt:lpstr>To be called from main() as:-</vt:lpstr>
      <vt:lpstr>Inserting the node in a SLL</vt:lpstr>
      <vt:lpstr>Insertion at the beginning</vt:lpstr>
      <vt:lpstr>Slide 12</vt:lpstr>
      <vt:lpstr>Slide 13</vt:lpstr>
      <vt:lpstr>Inserting at the end</vt:lpstr>
      <vt:lpstr>Slide 15</vt:lpstr>
      <vt:lpstr>Inserting after an element</vt:lpstr>
      <vt:lpstr>Slide 17</vt:lpstr>
      <vt:lpstr>Slide 18</vt:lpstr>
      <vt:lpstr>Deleting a node in SLL</vt:lpstr>
      <vt:lpstr>Deleting the first node</vt:lpstr>
      <vt:lpstr>Slide 21</vt:lpstr>
      <vt:lpstr>Deleting the last node</vt:lpstr>
      <vt:lpstr>Slide 23</vt:lpstr>
      <vt:lpstr>Deleting a particular node</vt:lpstr>
      <vt:lpstr>Slide 25</vt:lpstr>
      <vt:lpstr>Searching a SLL</vt:lpstr>
      <vt:lpstr>Slide 27</vt:lpstr>
      <vt:lpstr>Reversing a linked list</vt:lpstr>
      <vt:lpstr>Slide 29</vt:lpstr>
      <vt:lpstr>                    Code</vt:lpstr>
      <vt:lpstr>Slide 31</vt:lpstr>
      <vt:lpstr>Doubly  Linked  List</vt:lpstr>
      <vt:lpstr>Slide 33</vt:lpstr>
      <vt:lpstr>DLL’s compared to SLL’s</vt:lpstr>
      <vt:lpstr>Structure of DLL</vt:lpstr>
      <vt:lpstr>Inserting at beginning</vt:lpstr>
      <vt:lpstr>Slide 37</vt:lpstr>
      <vt:lpstr>Inserting at the end</vt:lpstr>
      <vt:lpstr>Slide 39</vt:lpstr>
      <vt:lpstr>Inserting after a node</vt:lpstr>
      <vt:lpstr>Slide 41</vt:lpstr>
      <vt:lpstr>Deleting a node</vt:lpstr>
      <vt:lpstr>Slide 43</vt:lpstr>
      <vt:lpstr>APPLICATIONS  OF   LINKED   LIST</vt:lpstr>
      <vt:lpstr>Slide 45</vt:lpstr>
      <vt:lpstr>Slide 46</vt:lpstr>
      <vt:lpstr>Slide 47</vt:lpstr>
      <vt:lpstr>Slide 48</vt:lpstr>
      <vt:lpstr>Slide 49</vt:lpstr>
      <vt:lpstr>Polynomials</vt:lpstr>
      <vt:lpstr>Slide 51</vt:lpstr>
      <vt:lpstr>Slide 52</vt:lpstr>
      <vt:lpstr>Example</vt:lpstr>
      <vt:lpstr>Adding Polynomials</vt:lpstr>
      <vt:lpstr>Slide 55</vt:lpstr>
      <vt:lpstr>                 THANK YOU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are Linked Lists </dc:title>
  <dc:creator>admin</dc:creator>
  <cp:lastModifiedBy>admin</cp:lastModifiedBy>
  <cp:revision>108</cp:revision>
  <dcterms:created xsi:type="dcterms:W3CDTF">2006-08-16T00:00:00Z</dcterms:created>
  <dcterms:modified xsi:type="dcterms:W3CDTF">2013-03-11T18:30:06Z</dcterms:modified>
</cp:coreProperties>
</file>